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48640"/>
            <a:ext cx="5303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/ CONTEXT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62179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核心技術：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Engineering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13232" y="2615184"/>
            <a:ext cx="507492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從「把所有資料塞進模型」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轉向「讓模型只看見剛好的資訊」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99248" y="2121408"/>
            <a:ext cx="1554480" cy="1554480"/>
          </a:xfrm>
          <a:prstGeom prst="ellipse">
            <a:avLst>
              <a:gd name="adj" fmla="val 8824"/>
            </a:avLst>
          </a:prstGeom>
          <a:solidFill>
            <a:srgbClr val="101C33"/>
          </a:solidFill>
          <a:ln w="27940">
            <a:solidFill>
              <a:srgbClr val="00E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4968" y="2148840"/>
            <a:ext cx="1463040" cy="1499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424928" y="1216152"/>
            <a:ext cx="2103120" cy="457200"/>
          </a:xfrm>
          <a:prstGeom prst="roundRect">
            <a:avLst>
              <a:gd name="adj" fmla="val 30000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0648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9904" y="2496312"/>
            <a:ext cx="1005840" cy="402336"/>
          </a:xfrm>
          <a:prstGeom prst="roundRect">
            <a:avLst>
              <a:gd name="adj" fmla="val 34091"/>
            </a:avLst>
          </a:prstGeom>
          <a:solidFill>
            <a:srgbClr val="15244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2523744"/>
            <a:ext cx="914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29800" y="2487168"/>
            <a:ext cx="1143000" cy="402336"/>
          </a:xfrm>
          <a:prstGeom prst="roundRect">
            <a:avLst>
              <a:gd name="adj" fmla="val 34091"/>
            </a:avLst>
          </a:prstGeom>
          <a:solidFill>
            <a:srgbClr val="15244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2514600"/>
            <a:ext cx="10515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26096" y="4261104"/>
            <a:ext cx="1783080" cy="402336"/>
          </a:xfrm>
          <a:prstGeom prst="roundRect">
            <a:avLst>
              <a:gd name="adj" fmla="val 34091"/>
            </a:avLst>
          </a:prstGeom>
          <a:solidFill>
            <a:srgbClr val="152443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71816" y="4288536"/>
            <a:ext cx="16916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99832" y="594360"/>
            <a:ext cx="1426464" cy="402336"/>
          </a:xfrm>
          <a:prstGeom prst="roundRect">
            <a:avLst>
              <a:gd name="adj" fmla="val 34091"/>
            </a:avLst>
          </a:prstGeom>
          <a:solidFill>
            <a:srgbClr val="152443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621792"/>
            <a:ext cx="133502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14032" y="2697480"/>
            <a:ext cx="54864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72016" y="2697480"/>
            <a:ext cx="530352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76488" y="3694176"/>
            <a:ext cx="0" cy="54864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94776" y="1664208"/>
            <a:ext cx="0" cy="41148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13232" y="5879592"/>
            <a:ext cx="2011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精簡教學版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核心觀念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一句話理解 Context Engineering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73152" cy="841248"/>
          </a:xfrm>
          <a:prstGeom prst="rect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600200"/>
            <a:ext cx="72420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的核心，不是讓模型知道更多，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而是讓模型看見「剛好足夠」的資訊。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7223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每次只處理當前輸入；Agent 負責決定哪些歷史、工具結果與記憶要進入 Prompt。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4892040"/>
            <a:ext cx="1371600" cy="475488"/>
          </a:xfrm>
          <a:prstGeom prst="roundRect">
            <a:avLst>
              <a:gd name="adj" fmla="val 28846"/>
            </a:avLst>
          </a:prstGeom>
          <a:solidFill>
            <a:srgbClr val="152443"/>
          </a:solidFill>
          <a:ln w="13970">
            <a:solidFill>
              <a:srgbClr val="2D3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19472"/>
            <a:ext cx="12801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外界資料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95728" y="5129784"/>
            <a:ext cx="1078992" cy="0"/>
          </a:xfrm>
          <a:prstGeom prst="line">
            <a:avLst/>
          </a:prstGeom>
          <a:noFill/>
          <a:ln w="2286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93008" y="4645152"/>
            <a:ext cx="2148840" cy="969264"/>
          </a:xfrm>
          <a:prstGeom prst="roundRect">
            <a:avLst>
              <a:gd name="adj" fmla="val 14151"/>
            </a:avLst>
          </a:prstGeom>
          <a:solidFill>
            <a:srgbClr val="101C33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4672584"/>
            <a:ext cx="2057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篩選 / 壓縮 / 讀記憶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5129784"/>
            <a:ext cx="1115568" cy="0"/>
          </a:xfrm>
          <a:prstGeom prst="line">
            <a:avLst/>
          </a:prstGeom>
          <a:noFill/>
          <a:ln w="2794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03136" y="4892040"/>
            <a:ext cx="1508760" cy="475488"/>
          </a:xfrm>
          <a:prstGeom prst="roundRect">
            <a:avLst>
              <a:gd name="adj" fmla="val 28846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4919472"/>
            <a:ext cx="14173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48472" y="5129784"/>
            <a:ext cx="1088136" cy="0"/>
          </a:xfrm>
          <a:prstGeom prst="line">
            <a:avLst/>
          </a:prstGeom>
          <a:noFill/>
          <a:ln w="2286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64040" y="4882896"/>
            <a:ext cx="1143000" cy="493776"/>
          </a:xfrm>
          <a:prstGeom prst="roundRect">
            <a:avLst>
              <a:gd name="adj" fmla="val 27778"/>
            </a:avLst>
          </a:prstGeom>
          <a:solidFill>
            <a:srgbClr val="15244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4910328"/>
            <a:ext cx="1051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問題起點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為什麼會爆掉：工具輸出會堆成山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5120640" cy="393192"/>
          </a:xfrm>
          <a:prstGeom prst="roundRect">
            <a:avLst/>
          </a:prstGeom>
          <a:solidFill>
            <a:srgbClr val="38BDF8">
              <a:alpha val="82000"/>
            </a:srgbClr>
          </a:solidFill>
          <a:ln w="889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874520"/>
            <a:ext cx="471830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人類初始任務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78408" y="2304288"/>
            <a:ext cx="4901184" cy="393192"/>
          </a:xfrm>
          <a:prstGeom prst="roundRect">
            <a:avLst/>
          </a:prstGeom>
          <a:solidFill>
            <a:srgbClr val="8B5CF6">
              <a:alpha val="82000"/>
            </a:srgbClr>
          </a:solidFill>
          <a:ln w="889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2350008"/>
            <a:ext cx="449884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模型使用工具的指令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88136" y="2779776"/>
            <a:ext cx="4681728" cy="393192"/>
          </a:xfrm>
          <a:prstGeom prst="roundRect">
            <a:avLst/>
          </a:prstGeom>
          <a:solidFill>
            <a:srgbClr val="F59E0B">
              <a:alpha val="95000"/>
            </a:srgbClr>
          </a:solidFill>
          <a:ln w="889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9304" y="2825496"/>
            <a:ext cx="42793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工具輸出 Observation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97864" y="3255264"/>
            <a:ext cx="4462272" cy="393192"/>
          </a:xfrm>
          <a:prstGeom prst="roundRect">
            <a:avLst/>
          </a:prstGeom>
          <a:solidFill>
            <a:srgbClr val="F59E0B">
              <a:alpha val="95000"/>
            </a:srgbClr>
          </a:solidFill>
          <a:ln w="889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3300984"/>
            <a:ext cx="40599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新的工具輸出 Observation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07592" y="3730752"/>
            <a:ext cx="4242816" cy="393192"/>
          </a:xfrm>
          <a:prstGeom prst="roundRect">
            <a:avLst/>
          </a:prstGeom>
          <a:solidFill>
            <a:srgbClr val="F59E0B">
              <a:alpha val="95000"/>
            </a:srgbClr>
          </a:solidFill>
          <a:ln w="889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776472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再一次工具輸出 Observation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17320" y="4206240"/>
            <a:ext cx="4023360" cy="393192"/>
          </a:xfrm>
          <a:prstGeom prst="roundRect">
            <a:avLst/>
          </a:prstGeom>
          <a:solidFill>
            <a:srgbClr val="F97373">
              <a:alpha val="95000"/>
            </a:srgbClr>
          </a:solidFill>
          <a:ln w="8890">
            <a:solidFill>
              <a:srgbClr val="F97373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18488" y="4251960"/>
            <a:ext cx="362102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累積歷史、假設與錯誤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5065776"/>
            <a:ext cx="44805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持續變長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33488" y="1627632"/>
            <a:ext cx="1207008" cy="438912"/>
          </a:xfrm>
          <a:prstGeom prst="roundRect">
            <a:avLst>
              <a:gd name="adj" fmla="val 31250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9208" y="1655064"/>
            <a:ext cx="111556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22592" y="2587752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51192" y="2487168"/>
            <a:ext cx="40690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 成本升高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22592" y="3200400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3099816"/>
            <a:ext cx="40690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重點被長篇輸出淹沒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022592" y="3813048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3712464"/>
            <a:ext cx="40690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 Context Window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022592" y="4425696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1192" y="4325112"/>
            <a:ext cx="40690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模型可能重做已完成步驟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Engineering 的形式化理解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核心函數 F：不要直接串接歷史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 Context Engineering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057400"/>
            <a:ext cx="1005840" cy="548640"/>
          </a:xfrm>
          <a:prstGeom prst="roundRect">
            <a:avLst>
              <a:gd name="adj" fmla="val 25000"/>
            </a:avLst>
          </a:prstGeom>
          <a:solidFill>
            <a:srgbClr val="15244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84832"/>
            <a:ext cx="9144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514600" y="2057400"/>
            <a:ext cx="1005840" cy="548640"/>
          </a:xfrm>
          <a:prstGeom prst="roundRect">
            <a:avLst>
              <a:gd name="adj" fmla="val 25000"/>
            </a:avLst>
          </a:prstGeom>
          <a:solidFill>
            <a:srgbClr val="15244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084832"/>
            <a:ext cx="9144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Iₜ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069080" y="2057400"/>
            <a:ext cx="1005840" cy="548640"/>
          </a:xfrm>
          <a:prstGeom prst="roundRect">
            <a:avLst>
              <a:gd name="adj" fmla="val 25000"/>
            </a:avLst>
          </a:prstGeom>
          <a:solidFill>
            <a:srgbClr val="152443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084832"/>
            <a:ext cx="9144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993392" y="2331720"/>
            <a:ext cx="493776" cy="0"/>
          </a:xfrm>
          <a:prstGeom prst="line">
            <a:avLst/>
          </a:prstGeom>
          <a:noFill/>
          <a:ln w="2032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47872" y="2331720"/>
            <a:ext cx="493776" cy="0"/>
          </a:xfrm>
          <a:prstGeom prst="line">
            <a:avLst/>
          </a:prstGeom>
          <a:noFill/>
          <a:ln w="2032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23160" y="2816352"/>
            <a:ext cx="1124712" cy="914400"/>
          </a:xfrm>
          <a:prstGeom prst="line">
            <a:avLst/>
          </a:prstGeom>
          <a:noFill/>
          <a:ln w="25400">
            <a:solidFill>
              <a:srgbClr val="F9737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51560" y="3840480"/>
            <a:ext cx="38862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Cₜ₊₁ = Cₜ + Iₜ + Oₜ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4370832"/>
            <a:ext cx="3337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歷史一直堆上去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14813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 Context Engineering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057400"/>
            <a:ext cx="1005840" cy="548640"/>
          </a:xfrm>
          <a:prstGeom prst="roundRect">
            <a:avLst>
              <a:gd name="adj" fmla="val 25000"/>
            </a:avLst>
          </a:prstGeom>
          <a:solidFill>
            <a:srgbClr val="15244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084832"/>
            <a:ext cx="9144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Cₜ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845552" y="2057400"/>
            <a:ext cx="1005840" cy="548640"/>
          </a:xfrm>
          <a:prstGeom prst="roundRect">
            <a:avLst>
              <a:gd name="adj" fmla="val 25000"/>
            </a:avLst>
          </a:prstGeom>
          <a:solidFill>
            <a:srgbClr val="15244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2084832"/>
            <a:ext cx="9144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Iₜ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070848" y="2057400"/>
            <a:ext cx="1005840" cy="548640"/>
          </a:xfrm>
          <a:prstGeom prst="roundRect">
            <a:avLst>
              <a:gd name="adj" fmla="val 25000"/>
            </a:avLst>
          </a:prstGeom>
          <a:solidFill>
            <a:srgbClr val="152443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2084832"/>
            <a:ext cx="91440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Oₜ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662672" y="2331720"/>
            <a:ext cx="155448" cy="0"/>
          </a:xfrm>
          <a:prstGeom prst="line">
            <a:avLst/>
          </a:prstGeom>
          <a:noFill/>
          <a:ln w="1778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87968" y="2331720"/>
            <a:ext cx="155448" cy="0"/>
          </a:xfrm>
          <a:prstGeom prst="line">
            <a:avLst/>
          </a:prstGeom>
          <a:noFill/>
          <a:ln w="1778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52360" y="3273552"/>
            <a:ext cx="1965960" cy="932688"/>
          </a:xfrm>
          <a:prstGeom prst="roundRect">
            <a:avLst>
              <a:gd name="adj" fmla="val 14706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300984"/>
            <a:ext cx="1874520" cy="8778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篩選 / 壓縮 / 存取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0" y="2670048"/>
            <a:ext cx="658368" cy="585216"/>
          </a:xfrm>
          <a:prstGeom prst="line">
            <a:avLst/>
          </a:prstGeom>
          <a:noFill/>
          <a:ln w="2159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55480" y="2670048"/>
            <a:ext cx="-795528" cy="585216"/>
          </a:xfrm>
          <a:prstGeom prst="line">
            <a:avLst/>
          </a:prstGeom>
          <a:noFill/>
          <a:ln w="2159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675120" y="4453128"/>
            <a:ext cx="384048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Cₜ₊₁ = F(Cₜ, Iₜ, Oₜ)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00800" y="4983480"/>
            <a:ext cx="4389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F 決定什麼留下、什麼外存、什麼丟掉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Context 當成資訊流來設計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三個槓桿：壓縮、記憶、過濾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182880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2D3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99232"/>
            <a:ext cx="17373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外界輸入 / 工具輸出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3255264"/>
            <a:ext cx="960120" cy="0"/>
          </a:xfrm>
          <a:prstGeom prst="line">
            <a:avLst/>
          </a:prstGeom>
          <a:noFill/>
          <a:ln w="2540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03320" y="2761488"/>
            <a:ext cx="1234440" cy="987552"/>
          </a:xfrm>
          <a:prstGeom prst="roundRect">
            <a:avLst>
              <a:gd name="adj" fmla="val 13889"/>
            </a:avLst>
          </a:prstGeom>
          <a:solidFill>
            <a:srgbClr val="101C3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788920"/>
            <a:ext cx="114300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過濾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01768" y="3255264"/>
            <a:ext cx="923544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61888" y="2770632"/>
            <a:ext cx="1417320" cy="969264"/>
          </a:xfrm>
          <a:prstGeom prst="roundRect">
            <a:avLst>
              <a:gd name="adj" fmla="val 14151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7608" y="2798064"/>
            <a:ext cx="1325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 LLM 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52360" y="3255264"/>
            <a:ext cx="941832" cy="0"/>
          </a:xfrm>
          <a:prstGeom prst="line">
            <a:avLst/>
          </a:prstGeom>
          <a:noFill/>
          <a:ln w="2794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30768" y="2871216"/>
            <a:ext cx="1097280" cy="749808"/>
          </a:xfrm>
          <a:prstGeom prst="roundRect">
            <a:avLst>
              <a:gd name="adj" fmla="val 18293"/>
            </a:avLst>
          </a:prstGeom>
          <a:solidFill>
            <a:srgbClr val="15244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2898648"/>
            <a:ext cx="100584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0" y="4617720"/>
            <a:ext cx="1993392" cy="786384"/>
          </a:xfrm>
          <a:prstGeom prst="roundRect">
            <a:avLst>
              <a:gd name="adj" fmla="val 17442"/>
            </a:avLst>
          </a:prstGeom>
          <a:solidFill>
            <a:srgbClr val="101C33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4645152"/>
            <a:ext cx="19019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 Memory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硬碟 / DB / log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3785616"/>
            <a:ext cx="0" cy="813816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98080" y="4617720"/>
            <a:ext cx="1280160" cy="-94183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1627632"/>
            <a:ext cx="1417320" cy="749808"/>
          </a:xfrm>
          <a:prstGeom prst="roundRect">
            <a:avLst>
              <a:gd name="adj" fmla="val 18293"/>
            </a:avLst>
          </a:prstGeom>
          <a:solidFill>
            <a:srgbClr val="101C3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655064"/>
            <a:ext cx="132588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Compress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23560" y="2743200"/>
            <a:ext cx="118872" cy="-347472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2377440"/>
            <a:ext cx="393192" cy="36576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41248" y="1591056"/>
            <a:ext cx="3246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目標不是「少」，是「足夠」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896112" y="4562856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4462272"/>
            <a:ext cx="306324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少掉雜訊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6112" y="4974336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4873752"/>
            <a:ext cx="306324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保留任務關鍵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96112" y="5385816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" y="5285232"/>
            <a:ext cx="306324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必要時可回讀原始資料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壓縮：省 Token，但不能抹掉關鍵任務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2423160" cy="502920"/>
          </a:xfrm>
          <a:prstGeom prst="roundRect">
            <a:avLst>
              <a:gd name="adj" fmla="val 27273"/>
            </a:avLst>
          </a:prstGeom>
          <a:solidFill>
            <a:srgbClr val="101C3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36192"/>
            <a:ext cx="2331720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Observation Masking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57984"/>
            <a:ext cx="23317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工具輸出太長時，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先換成佔位符或短摘要。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87552" y="3246120"/>
            <a:ext cx="1965960" cy="512064"/>
          </a:xfrm>
          <a:prstGeom prst="roundRect">
            <a:avLst>
              <a:gd name="adj" fmla="val 26786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273552"/>
            <a:ext cx="1874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「log 已儲存」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33088" y="1508760"/>
            <a:ext cx="2240280" cy="502920"/>
          </a:xfrm>
          <a:prstGeom prst="roundRect">
            <a:avLst>
              <a:gd name="adj" fmla="val 27273"/>
            </a:avLst>
          </a:prstGeom>
          <a:solidFill>
            <a:srgbClr val="101C33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1536192"/>
            <a:ext cx="2148840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33088" y="2157984"/>
            <a:ext cx="24231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當歷史累積到一定長度，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再做一次性摘要。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315968" y="3246120"/>
            <a:ext cx="1920240" cy="512064"/>
          </a:xfrm>
          <a:prstGeom prst="roundRect">
            <a:avLst>
              <a:gd name="adj" fmla="val 26786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長歷史 → 任務摘要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79792" y="1508760"/>
            <a:ext cx="1828800" cy="502920"/>
          </a:xfrm>
          <a:prstGeom prst="roundRect">
            <a:avLst>
              <a:gd name="adj" fmla="val 27273"/>
            </a:avLst>
          </a:prstGeom>
          <a:solidFill>
            <a:srgbClr val="F97373"/>
          </a:solidFill>
          <a:ln w="13970">
            <a:solidFill>
              <a:srgbClr val="F9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5512" y="1536192"/>
            <a:ext cx="1737360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兩個陷阱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24928" y="2432304"/>
            <a:ext cx="109728" cy="109728"/>
          </a:xfrm>
          <a:prstGeom prst="ellipse">
            <a:avLst/>
          </a:prstGeom>
          <a:solidFill>
            <a:srgbClr val="F973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2331720"/>
            <a:ext cx="3794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Trajectory Extension：省了輸入，卻多做步驟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24928" y="3108960"/>
            <a:ext cx="109728" cy="109728"/>
          </a:xfrm>
          <a:prstGeom prst="ellipse">
            <a:avLst/>
          </a:prstGeom>
          <a:solidFill>
            <a:srgbClr val="F973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3008376"/>
            <a:ext cx="3794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Collapse：摘要漏掉關鍵指令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5138928"/>
            <a:ext cx="10332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設計原則：壓縮輸出，不壓縮目標、限制、狀態與未完成事項。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P + 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Memory：Context 不等於 Prompt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10424160" cy="2423160"/>
          </a:xfrm>
          <a:prstGeom prst="roundRect">
            <a:avLst/>
          </a:prstGeom>
          <a:solidFill>
            <a:srgbClr val="101C33"/>
          </a:solidFill>
          <a:ln w="12700">
            <a:solidFill>
              <a:srgbClr val="2D3F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743200"/>
            <a:ext cx="3200400" cy="1280160"/>
          </a:xfrm>
          <a:prstGeom prst="roundRect">
            <a:avLst>
              <a:gd name="adj" fmla="val 10714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770632"/>
            <a:ext cx="3108960" cy="12252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Promptable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真正給 LLM 看的部分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28032" y="3072384"/>
            <a:ext cx="365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440680" y="2743200"/>
            <a:ext cx="3200400" cy="1280160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770632"/>
            <a:ext cx="3108960" cy="12252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Memory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存在硬碟 / DB / log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887968" y="3383280"/>
            <a:ext cx="1060704" cy="0"/>
          </a:xfrm>
          <a:prstGeom prst="line">
            <a:avLst/>
          </a:prstGeom>
          <a:noFill/>
          <a:ln w="2159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85248" y="2798064"/>
            <a:ext cx="960120" cy="1170432"/>
          </a:xfrm>
          <a:prstGeom prst="roundRect">
            <a:avLst>
              <a:gd name="adj" fmla="val 14286"/>
            </a:avLst>
          </a:prstGeom>
          <a:solidFill>
            <a:srgbClr val="152443"/>
          </a:solidFill>
          <a:ln w="13970">
            <a:solidFill>
              <a:srgbClr val="2D3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30968" y="2825496"/>
            <a:ext cx="86868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完整歷史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不一定都進 Prompt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5175504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5074920"/>
            <a:ext cx="982980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Save Memory：把值得保留的資訊存到 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5568696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5468112"/>
            <a:ext cx="982980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Load Memory：只把當下需要的片段載回 P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1560" y="5961888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861304"/>
            <a:ext cx="9829800" cy="374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是 P 的子集；Context 是整個系統狀態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任務導向摘要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摘要要為任務服務：ACON / SUPO 的啟示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1444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普通摘要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874520"/>
            <a:ext cx="100584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2D3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01952"/>
            <a:ext cx="9144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29968" y="2157984"/>
            <a:ext cx="731520" cy="0"/>
          </a:xfrm>
          <a:prstGeom prst="line">
            <a:avLst/>
          </a:prstGeom>
          <a:noFill/>
          <a:ln w="20320">
            <a:solidFill>
              <a:srgbClr val="2D3F6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1874520"/>
            <a:ext cx="114300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2D3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901952"/>
            <a:ext cx="105156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好讀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05072" y="2157984"/>
            <a:ext cx="731520" cy="0"/>
          </a:xfrm>
          <a:prstGeom prst="line">
            <a:avLst/>
          </a:prstGeom>
          <a:noFill/>
          <a:ln w="22860">
            <a:solidFill>
              <a:srgbClr val="F973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73168" y="1874520"/>
            <a:ext cx="1508760" cy="566928"/>
          </a:xfrm>
          <a:prstGeom prst="roundRect">
            <a:avLst>
              <a:gd name="adj" fmla="val 24194"/>
            </a:avLst>
          </a:prstGeom>
          <a:solidFill>
            <a:srgbClr val="F97373"/>
          </a:solidFill>
          <a:ln w="13970">
            <a:solidFill>
              <a:srgbClr val="F9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901952"/>
            <a:ext cx="141732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可能漏指令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任務導向摘要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3502152"/>
            <a:ext cx="1325880" cy="530352"/>
          </a:xfrm>
          <a:prstGeom prst="roundRect">
            <a:avLst>
              <a:gd name="adj" fmla="val 25862"/>
            </a:avLst>
          </a:prstGeom>
          <a:solidFill>
            <a:srgbClr val="101C3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529584"/>
            <a:ext cx="12344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失敗案例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31720" y="3767328"/>
            <a:ext cx="886968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46120" y="3502152"/>
            <a:ext cx="1325880" cy="530352"/>
          </a:xfrm>
          <a:prstGeom prst="roundRect">
            <a:avLst>
              <a:gd name="adj" fmla="val 25862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529584"/>
            <a:ext cx="12344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Feedback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17720" y="3767328"/>
            <a:ext cx="896112" cy="0"/>
          </a:xfrm>
          <a:prstGeom prst="line">
            <a:avLst/>
          </a:prstGeom>
          <a:noFill/>
          <a:ln w="2286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32120" y="3502152"/>
            <a:ext cx="1938528" cy="530352"/>
          </a:xfrm>
          <a:prstGeom prst="roundRect">
            <a:avLst>
              <a:gd name="adj" fmla="val 25862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529584"/>
            <a:ext cx="184708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更好的摘要策略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16368" y="3767328"/>
            <a:ext cx="914400" cy="0"/>
          </a:xfrm>
          <a:prstGeom prst="line">
            <a:avLst/>
          </a:prstGeom>
          <a:noFill/>
          <a:ln w="2286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58200" y="3502152"/>
            <a:ext cx="1920240" cy="530352"/>
          </a:xfrm>
          <a:prstGeom prst="roundRect">
            <a:avLst>
              <a:gd name="adj" fmla="val 25862"/>
            </a:avLst>
          </a:prstGeom>
          <a:solidFill>
            <a:srgbClr val="152443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529584"/>
            <a:ext cx="18288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任務準確率提升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4892040"/>
            <a:ext cx="996696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摘要模型不能只被要求「寫短一點」；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它要知道哪些資訊一漏掉就會造成任務失敗。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When to compress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什麼時候壓縮？不要只靠感覺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05840" y="3154680"/>
            <a:ext cx="9966960" cy="0"/>
          </a:xfrm>
          <a:prstGeom prst="line">
            <a:avLst/>
          </a:prstGeom>
          <a:noFill/>
          <a:ln w="15240">
            <a:solidFill>
              <a:srgbClr val="2D3F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423160"/>
            <a:ext cx="1298448" cy="502920"/>
          </a:xfrm>
          <a:prstGeom prst="roundRect">
            <a:avLst>
              <a:gd name="adj" fmla="val 27273"/>
            </a:avLst>
          </a:prstGeom>
          <a:solidFill>
            <a:srgbClr val="38BDF8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50592"/>
            <a:ext cx="1207008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硬規則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08760" y="2990088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38728"/>
            <a:ext cx="17190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超過上限就壓縮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2423160"/>
            <a:ext cx="1298448" cy="502920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450592"/>
            <a:ext cx="1207008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Memory Flush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99008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538728"/>
            <a:ext cx="17190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系統強制模型整理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423160"/>
            <a:ext cx="1298448" cy="502920"/>
          </a:xfrm>
          <a:prstGeom prst="roundRect">
            <a:avLst>
              <a:gd name="adj" fmla="val 27273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450592"/>
            <a:ext cx="1207008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Fold Tool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20840" y="2990088"/>
            <a:ext cx="329184" cy="329184"/>
          </a:xfrm>
          <a:prstGeom prst="ellipse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538728"/>
            <a:ext cx="17190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選定範圍＋留下 sticky note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69680" y="2423160"/>
            <a:ext cx="1298448" cy="502920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450592"/>
            <a:ext cx="1207008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訓練後自主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0" y="29900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3538728"/>
            <a:ext cx="17190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模型學會何時折疊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97280" y="4736592"/>
            <a:ext cx="73152" cy="841248"/>
          </a:xfrm>
          <a:prstGeom prst="rect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4709160"/>
            <a:ext cx="934516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模型可能不喜歡「記憶被抹掉」；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穩定壓縮往往需要工具設計與訓練。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自主壓縮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Sub-agent：把子任務變成可丟棄的工作記錄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1508760" cy="658368"/>
          </a:xfrm>
          <a:prstGeom prst="roundRect">
            <a:avLst>
              <a:gd name="adj" fmla="val 20833"/>
            </a:avLst>
          </a:prstGeom>
          <a:solidFill>
            <a:srgbClr val="101C33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93392"/>
            <a:ext cx="1417320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Main Agent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50592" y="2286000"/>
            <a:ext cx="1069848" cy="0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737360"/>
            <a:ext cx="1828800" cy="1115568"/>
          </a:xfrm>
          <a:prstGeom prst="roundRect">
            <a:avLst>
              <a:gd name="adj" fmla="val 12295"/>
            </a:avLst>
          </a:prstGeom>
          <a:solidFill>
            <a:srgbClr val="15244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64792"/>
            <a:ext cx="1737360" cy="1060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Sub-agent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搜尋 / 驗證 / 操作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68112" y="2286000"/>
            <a:ext cx="1024128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1874520"/>
            <a:ext cx="1371600" cy="804672"/>
          </a:xfrm>
          <a:prstGeom prst="roundRect">
            <a:avLst>
              <a:gd name="adj" fmla="val 17045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01952"/>
            <a:ext cx="12801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return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只回傳結果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6583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Sub-agent 的過程被折疊，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主線 Context 只保留回傳結果。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75320" y="1463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length 變化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02752" y="5074920"/>
            <a:ext cx="2743200" cy="0"/>
          </a:xfrm>
          <a:prstGeom prst="line">
            <a:avLst/>
          </a:prstGeom>
          <a:noFill/>
          <a:ln w="12700">
            <a:solidFill>
              <a:srgbClr val="2D3F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1828800"/>
            <a:ext cx="0" cy="3246120"/>
          </a:xfrm>
          <a:prstGeom prst="line">
            <a:avLst/>
          </a:prstGeom>
          <a:noFill/>
          <a:ln w="12700">
            <a:solidFill>
              <a:srgbClr val="2D3F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4800600"/>
            <a:ext cx="365760" cy="-457200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759952" y="4343400"/>
            <a:ext cx="365760" cy="-594360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125712" y="3749040"/>
            <a:ext cx="128016" cy="841248"/>
          </a:xfrm>
          <a:prstGeom prst="line">
            <a:avLst/>
          </a:prstGeom>
          <a:noFill/>
          <a:ln w="25400">
            <a:solidFill>
              <a:srgbClr val="F97373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253728" y="4590288"/>
            <a:ext cx="393192" cy="-521208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646920" y="4069080"/>
            <a:ext cx="365760" cy="-640080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012680" y="3429000"/>
            <a:ext cx="155448" cy="978408"/>
          </a:xfrm>
          <a:prstGeom prst="line">
            <a:avLst/>
          </a:prstGeom>
          <a:noFill/>
          <a:ln w="25400">
            <a:solidFill>
              <a:srgbClr val="F97373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168128" y="4407408"/>
            <a:ext cx="393192" cy="-585216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0561320" y="3822192"/>
            <a:ext cx="365760" cy="-804672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8641080" y="534924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return 後下降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Filtering / On-demand Loading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過濾：不要讓垃圾資料先進 Context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1719072"/>
            <a:ext cx="3108960" cy="1097280"/>
          </a:xfrm>
          <a:prstGeom prst="trapezoi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02536"/>
            <a:ext cx="279806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大型檔案 / Repo / Tool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10800000">
            <a:off x="1234440" y="2907792"/>
            <a:ext cx="2377440" cy="960120"/>
          </a:xfrm>
          <a:prstGeom prst="trapezoid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3172968"/>
            <a:ext cx="1280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智慧 read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44752" y="4069080"/>
            <a:ext cx="1965960" cy="530352"/>
          </a:xfrm>
          <a:prstGeom prst="roundRect">
            <a:avLst>
              <a:gd name="adj" fmla="val 25862"/>
            </a:avLst>
          </a:prstGeom>
          <a:solidFill>
            <a:srgbClr val="152443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4096512"/>
            <a:ext cx="18745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只取相關段落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23160" y="3877056"/>
            <a:ext cx="0" cy="164592"/>
          </a:xfrm>
          <a:prstGeom prst="line">
            <a:avLst/>
          </a:prstGeom>
          <a:noFill/>
          <a:ln w="2286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1856232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55648"/>
            <a:ext cx="5989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Observation 是 Context 變長的主因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322576"/>
            <a:ext cx="5989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讀檔工具要能依任務挑段落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17720" y="2990088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89504"/>
            <a:ext cx="5989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memory_search 找位置，memory_get 只拿行段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17720" y="3557016"/>
            <a:ext cx="109728" cy="109728"/>
          </a:xfrm>
          <a:prstGeom prst="ellipse">
            <a:avLst/>
          </a:prstGeom>
          <a:solidFill>
            <a:srgbClr val="00E5B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456432"/>
            <a:ext cx="5989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工具與 skill 說明採「按需加載」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4892040"/>
            <a:ext cx="61264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核心問題不是「模型能不能讀很多」，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而是「它讀到的是不是此刻要用的」。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由人設計 → 模型輔助設計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Agentic Context Engineering：讓模型改寫工作手冊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2240280" cy="914400"/>
          </a:xfrm>
          <a:prstGeom prst="roundRect">
            <a:avLst>
              <a:gd name="adj" fmla="val 15000"/>
            </a:avLst>
          </a:prstGeom>
          <a:solidFill>
            <a:srgbClr val="101C3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76272"/>
            <a:ext cx="214884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Cheatsheet / Playbook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82112" y="2606040"/>
            <a:ext cx="87782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96512" y="2148840"/>
            <a:ext cx="1965960" cy="914400"/>
          </a:xfrm>
          <a:prstGeom prst="roundRect">
            <a:avLst>
              <a:gd name="adj" fmla="val 15000"/>
            </a:avLst>
          </a:prstGeom>
          <a:solidFill>
            <a:srgbClr val="15244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42232" y="2176272"/>
            <a:ext cx="187452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檢查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策略是否有效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44768" y="2606040"/>
            <a:ext cx="85953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40880" y="2148840"/>
            <a:ext cx="1828800" cy="914400"/>
          </a:xfrm>
          <a:prstGeom prst="roundRect">
            <a:avLst>
              <a:gd name="adj" fmla="val 15000"/>
            </a:avLst>
          </a:prstGeom>
          <a:solidFill>
            <a:srgbClr val="152443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76272"/>
            <a:ext cx="173736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產生修改指令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不是整本重寫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42832" y="2606040"/>
            <a:ext cx="886968" cy="0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75520" y="2148840"/>
            <a:ext cx="1572768" cy="914400"/>
          </a:xfrm>
          <a:prstGeom prst="roundRect">
            <a:avLst>
              <a:gd name="adj" fmla="val 15000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2176272"/>
            <a:ext cx="1481328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Contextₜ₊₁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更新版手冊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0" y="4279392"/>
            <a:ext cx="5669280" cy="777240"/>
          </a:xfrm>
          <a:prstGeom prst="roundRect">
            <a:avLst/>
          </a:prstGeom>
          <a:solidFill>
            <a:srgbClr val="101C33"/>
          </a:solidFill>
          <a:ln w="12700">
            <a:solidFill>
              <a:srgbClr val="F973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4462272"/>
            <a:ext cx="5285232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System Prompt 是固定核心：身份、權限、安全限制不可被隨意改寫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24128" y="5349240"/>
            <a:ext cx="101498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prompt engineering 走向「用模型做 context engineering」；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模型不只執行任務，也協助維護自己未來會用到的操作手冊。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可實作方向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放到自己的專案：Agent 原型設計規格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10698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適用於：遊戲開發助理、研究助理、系務流程 Agent、Unity 專案維護。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" y="1965960"/>
            <a:ext cx="384048" cy="384048"/>
          </a:xfrm>
          <a:prstGeom prst="ellipse">
            <a:avLst>
              <a:gd name="adj" fmla="val 35714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93392"/>
            <a:ext cx="29260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工具輸出存檔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749040" y="1938528"/>
            <a:ext cx="6949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 log 存到外部，只在 Prompt 放路徑與摘要。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1248" y="2679192"/>
            <a:ext cx="384048" cy="384048"/>
          </a:xfrm>
          <a:prstGeom prst="ellipse">
            <a:avLst>
              <a:gd name="adj" fmla="val 35714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706624"/>
            <a:ext cx="29260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記憶分層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49040" y="2651760"/>
            <a:ext cx="6949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放當下可用資訊；M 放長期資料、決策與證據。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1248" y="3392424"/>
            <a:ext cx="384048" cy="384048"/>
          </a:xfrm>
          <a:prstGeom prst="ellipse">
            <a:avLst>
              <a:gd name="adj" fmla="val 35714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419856"/>
            <a:ext cx="29260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364992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按需讀取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749040" y="3364992"/>
            <a:ext cx="6949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 / memory_get 必須支援行段、關鍵詞與任務目的。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1248" y="4105656"/>
            <a:ext cx="384048" cy="384048"/>
          </a:xfrm>
          <a:prstGeom prst="ellipse">
            <a:avLst>
              <a:gd name="adj" fmla="val 35714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133088"/>
            <a:ext cx="29260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Sub-agent 分工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749040" y="4078224"/>
            <a:ext cx="6949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搜尋、驗證、修 Bug 可交給子 Agent，主線只收結果。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41248" y="4818888"/>
            <a:ext cx="384048" cy="384048"/>
          </a:xfrm>
          <a:prstGeom prst="ellipse">
            <a:avLst>
              <a:gd name="adj" fmla="val 35714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846320"/>
            <a:ext cx="292608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4791456"/>
            <a:ext cx="2286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摘要守則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749040" y="4791456"/>
            <a:ext cx="6949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每次摘要固定保留：目標、限制、已完成、未完成、風險。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23960" y="137160"/>
            <a:ext cx="2971800" cy="2971800"/>
          </a:xfrm>
          <a:prstGeom prst="arc">
            <a:avLst/>
          </a:prstGeom>
          <a:solidFill>
            <a:srgbClr val="00E5B0">
              <a:alpha val="0"/>
            </a:srgbClr>
          </a:solidFill>
          <a:ln w="12700">
            <a:solidFill>
              <a:srgbClr val="00E5B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137160" y="5166360"/>
            <a:ext cx="1508760" cy="1508760"/>
          </a:xfrm>
          <a:prstGeom prst="arc">
            <a:avLst/>
          </a:prstGeom>
          <a:solidFill>
            <a:srgbClr val="8B5CF6">
              <a:alpha val="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931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Checklist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最後：判斷一個 Agent 好不好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1408176"/>
            <a:ext cx="102412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不是看它一次能吃多少 Token，而是看它能不能管理資訊生命週期。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230368" y="3264408"/>
            <a:ext cx="1426464" cy="877824"/>
          </a:xfrm>
          <a:prstGeom prst="ellipse">
            <a:avLst>
              <a:gd name="adj" fmla="val 15625"/>
            </a:avLst>
          </a:prstGeom>
          <a:solidFill>
            <a:srgbClr val="00E5B0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3291840"/>
            <a:ext cx="133502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11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 Agent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27632" y="2157984"/>
            <a:ext cx="146304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73352" y="2185416"/>
            <a:ext cx="1371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該看才看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30368" y="2057400"/>
            <a:ext cx="146304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084832"/>
            <a:ext cx="1371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該忘就忘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23960" y="2157984"/>
            <a:ext cx="146304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2185416"/>
            <a:ext cx="1371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該存就存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62656" y="5084064"/>
            <a:ext cx="146304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8376" y="5111496"/>
            <a:ext cx="1371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該查能查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16368" y="5084064"/>
            <a:ext cx="1463040" cy="566928"/>
          </a:xfrm>
          <a:prstGeom prst="roundRect">
            <a:avLst>
              <a:gd name="adj" fmla="val 24194"/>
            </a:avLst>
          </a:prstGeom>
          <a:solidFill>
            <a:srgbClr val="152443"/>
          </a:solidFill>
          <a:ln w="13970">
            <a:solidFill>
              <a:srgbClr val="00E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5111496"/>
            <a:ext cx="137160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摘要可驗證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07792" y="2432304"/>
            <a:ext cx="6080760" cy="2880360"/>
          </a:xfrm>
          <a:prstGeom prst="arc">
            <a:avLst/>
          </a:prstGeom>
          <a:solidFill>
            <a:srgbClr val="2D3F63">
              <a:alpha val="0"/>
            </a:srgbClr>
          </a:solidFill>
          <a:ln w="12700">
            <a:solidFill>
              <a:srgbClr val="2D3F63">
                <a:alpha val="9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3840480" y="1938528"/>
            <a:ext cx="4206240" cy="3703320"/>
          </a:xfrm>
          <a:prstGeom prst="arc">
            <a:avLst/>
          </a:prstGeom>
          <a:solidFill>
            <a:srgbClr val="2D3F63">
              <a:alpha val="0"/>
            </a:srgbClr>
          </a:solidFill>
          <a:ln w="12700">
            <a:solidFill>
              <a:srgbClr val="2D3F63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97880"/>
            <a:ext cx="10332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E5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Context Engineering = Agent 的記憶治理、注意力治理、成本治理。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2D3F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48309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整理自 HackMD @shaoeChen｜李宏毅 機器學習 2026：AI Agent (1/3)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37392" y="64648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B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核心技術：Context Engineering</dc:title>
  <dc:subject>AI Agent Context Engineering</dc:subject>
  <dc:creator>OpenAI / ChatGPT</dc:creator>
  <cp:lastModifiedBy>OpenAI / ChatGPT</cp:lastModifiedBy>
  <cp:revision>1</cp:revision>
  <dcterms:created xsi:type="dcterms:W3CDTF">2026-08-06T01:37:14Z</dcterms:created>
  <dcterms:modified xsi:type="dcterms:W3CDTF">2026-08-06T01:37:14Z</dcterms:modified>
</cp:coreProperties>
</file>