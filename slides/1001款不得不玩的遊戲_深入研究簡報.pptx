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遊戲數</c:v>
                </c:pt>
              </c:strCache>
            </c:strRef>
          </c:tx>
          <c:spPr>
            <a:solidFill>
              <a:srgbClr val="0787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72033"/>
                    </a:solidFill>
                    <a:latin typeface="Noto Sans CJK T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1970s</c:v>
                  </c:pt>
                  <c:pt idx="1">
                    <c:v>1980s</c:v>
                  </c:pt>
                  <c:pt idx="2">
                    <c:v>1990s</c:v>
                  </c:pt>
                  <c:pt idx="3">
                    <c:v>2000s</c:v>
                  </c:pt>
                  <c:pt idx="4">
                    <c:v>2010s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</c:v>
                </c:pt>
                <c:pt idx="1">
                  <c:v>168</c:v>
                </c:pt>
                <c:pt idx="2">
                  <c:v>252</c:v>
                </c:pt>
                <c:pt idx="3">
                  <c:v>544</c:v>
                </c:pt>
                <c:pt idx="4">
                  <c:v>27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72033"/>
                  </a:solidFill>
                  <a:latin typeface="Noto Sans CJK T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72033"/>
                </a:solidFill>
                <a:latin typeface="Noto Sans CJK T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575"/>
                </a:solidFill>
                <a:latin typeface="Noto Sans CJK TC"/>
              </a:defRPr>
            </a:pPr>
            <a:endParaRPr lang="en-US"/>
          </a:p>
        </c:txPr>
        <c:crossAx val="209473455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平台類別</c:v>
                </c:pt>
              </c:strCache>
            </c:strRef>
          </c:tx>
          <c:spPr>
            <a:solidFill>
              <a:srgbClr val="E77A2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20" u="none">
                    <a:solidFill>
                      <a:srgbClr val="172033"/>
                    </a:solidFill>
                    <a:latin typeface="Noto Sans CJK T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街機</c:v>
                  </c:pt>
                  <c:pt idx="1">
                    <c:v>電腦</c:v>
                  </c:pt>
                  <c:pt idx="2">
                    <c:v>家用主機</c:v>
                  </c:pt>
                  <c:pt idx="3">
                    <c:v>掌機</c:v>
                  </c:pt>
                  <c:pt idx="4">
                    <c:v>行動／網頁</c:v>
                  </c:pt>
                  <c:pt idx="5">
                    <c:v>多平台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115</c:v>
                </c:pt>
                <c:pt idx="1">
                  <c:v>187</c:v>
                </c:pt>
                <c:pt idx="2">
                  <c:v>183</c:v>
                </c:pt>
                <c:pt idx="3">
                  <c:v>83</c:v>
                </c:pt>
                <c:pt idx="4">
                  <c:v>24</c:v>
                </c:pt>
                <c:pt idx="5">
                  <c:v>409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20" u="none">
                  <a:solidFill>
                    <a:srgbClr val="172033"/>
                  </a:solidFill>
                  <a:latin typeface="Noto Sans CJK T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20" b="0" i="0" u="none" strike="noStrike">
                <a:solidFill>
                  <a:srgbClr val="172033"/>
                </a:solidFill>
                <a:latin typeface="Noto Sans CJK T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50"/>
          <c:min val="0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C6575"/>
                </a:solidFill>
                <a:latin typeface="Noto Sans CJK TC"/>
              </a:defRPr>
            </a:pPr>
            <a:endParaRPr lang="en-US"/>
          </a:p>
        </c:txPr>
        <c:crossAx val="209473455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類型數量</c:v>
                </c:pt>
              </c:strCache>
            </c:strRef>
          </c:tx>
          <c:spPr>
            <a:solidFill>
              <a:srgbClr val="0787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90" u="none">
                    <a:solidFill>
                      <a:srgbClr val="172033"/>
                    </a:solidFill>
                    <a:latin typeface="Noto Sans CJK T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射擊</c:v>
                  </c:pt>
                  <c:pt idx="1">
                    <c:v>平台動作</c:v>
                  </c:pt>
                  <c:pt idx="2">
                    <c:v>角色扮演</c:v>
                  </c:pt>
                  <c:pt idx="3">
                    <c:v>動作冒險</c:v>
                  </c:pt>
                  <c:pt idx="4">
                    <c:v>策略</c:v>
                  </c:pt>
                  <c:pt idx="5">
                    <c:v>競速</c:v>
                  </c:pt>
                  <c:pt idx="6">
                    <c:v>益智</c:v>
                  </c:pt>
                  <c:pt idx="7">
                    <c:v>動作／街機</c:v>
                  </c:pt>
                  <c:pt idx="8">
                    <c:v>其他已分類</c:v>
                  </c:pt>
                  <c:pt idx="9">
                    <c:v>待分類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137</c:v>
                </c:pt>
                <c:pt idx="1">
                  <c:v>87</c:v>
                </c:pt>
                <c:pt idx="2">
                  <c:v>86</c:v>
                </c:pt>
                <c:pt idx="3">
                  <c:v>77</c:v>
                </c:pt>
                <c:pt idx="4">
                  <c:v>69</c:v>
                </c:pt>
                <c:pt idx="5">
                  <c:v>56</c:v>
                </c:pt>
                <c:pt idx="6">
                  <c:v>52</c:v>
                </c:pt>
                <c:pt idx="7">
                  <c:v>50</c:v>
                </c:pt>
                <c:pt idx="8">
                  <c:v>192</c:v>
                </c:pt>
                <c:pt idx="9">
                  <c:v>195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90" u="none">
                  <a:solidFill>
                    <a:srgbClr val="172033"/>
                  </a:solidFill>
                  <a:latin typeface="Noto Sans CJK T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40" b="0" i="0" u="none" strike="noStrike">
                <a:solidFill>
                  <a:srgbClr val="172033"/>
                </a:solidFill>
                <a:latin typeface="Noto Sans CJK T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20"/>
          <c:min val="0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C6575"/>
                </a:solidFill>
                <a:latin typeface="Noto Sans CJK TC"/>
              </a:defRPr>
            </a:pPr>
            <a:endParaRPr lang="en-US"/>
          </a:p>
        </c:txPr>
        <c:crossAx val="2094734554"/>
        <c:crosses val="autoZero"/>
        <c:crossBetween val="between"/>
        <c:majorUnit val="5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開場重點：這不是將1001款遊戲逐一介紹，而是把它們當成可被整理、比較、拆解的遊戲史資料庫。後續可用於課程、研究與系所特色溝通。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此頁可用來對學生或老師說明：它不是單純的「遊戲推薦」或「懷舊清單」，而是一個可做成課程與研究資料庫的母體。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提醒使用者：資料表中的類型與研究簡介是快速建立研究索引的二次標註，不等同於原書逐字內容。正式論文或課程教材需再查證。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可說明：如果要做課程，1970–1990年代適合教「遊戲語法的發明」，2000年代適合教「現代遊戲產業與類型融合」。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可引導學生思考：為什麼街機遊戲通常短回合、高壓、強回饋；PC遊戲更能承載複雜系統；多平台時代則重視可移植的核心循環。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此頁的教學建議：類型不是分類遊戲的終點，而是理解玩家行為與設計語法的入口。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此頁可以作為一堂課的總架構：用歷史時期去安排週次，讓學生不只是玩遊戲，而是理解它們的設計語法在什麼時間點被發明或被固定。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用法：每款遊戲一頁。學生先用五個問題拆解，之後再補圖片、影片、實機紀錄與設計心得。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此頁可用於設計課第一週。目的不是把1001款全部講完，而是先建立六種設計語法。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這張適合用在畢業專題討論。問學生：作品的核心循環能否走向關係、記憶與情感，而不是只有操作反應。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這頁是和使用者博論方向最直接相關的轉換：用歷史遊戲找情感設計原型，再連接到LLM agent、記憶、關係與敘事。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這頁可直接變成研究選樣邏輯。它不是說這34款都有AI，而是它們提供情感設計、玩家歸因、關係記憶、壓力調節的案例。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可向使用者說明：這四個題目都不用先做大型系統，能從實機錄影、玩家訪談、狀態分析、簡單Unity原型做起。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課程設計重點：讓學生做得出來。不要要求完整復刻，要求最小核心循環與一個情感變因。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此頁重點：避免「1001款都想做」導致研究失焦。先建立小而精的樣本，逐步擴充。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此頁用來對應使用者系務需求：把資料庫轉成課程特色、畢專流程、招生說明，而不是只是一本書的摘要。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此頁很重要：避免將1001清單視為絕對權威。它適合做歷史母體，但必須補台灣與近十年的重要變化。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結尾重點：本簡報可以再衍生為三套可交付資料：課程案例庫、人工情感研究個案、Unity復刻教案。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cinematic_museum_gallery_style_scene_with_dark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713232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4B4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GAME CANON × DESIGN RESEARCH × AFFECTIVE AI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658368" y="1234440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1001款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不得不玩的遊戲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694944" y="276148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4B4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深入研究導讀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713232" y="3657600"/>
            <a:ext cx="416052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D9E4F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把經典遊戲清單轉成：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D9E4F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課程案例庫、研究選樣、AI情感設計素材庫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713232" y="4800600"/>
            <a:ext cx="2743200" cy="0"/>
          </a:xfrm>
          <a:prstGeom prst="line">
            <a:avLst/>
          </a:prstGeom>
          <a:noFill/>
          <a:ln w="25400">
            <a:solidFill>
              <a:srgbClr val="15BD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13232" y="501091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AFC2D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研究母體：2013版公開名單＋自建研究表</a:t>
            </a:r>
            <a:endParaRPr lang="en-US" sz="1020" dirty="0"/>
          </a:p>
        </p:txBody>
      </p:sp>
      <p:sp>
        <p:nvSpPr>
          <p:cNvPr id="9" name="Text 6"/>
          <p:cNvSpPr/>
          <p:nvPr/>
        </p:nvSpPr>
        <p:spPr>
          <a:xfrm>
            <a:off x="713232" y="532180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AFC2D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適用：遊戲設計課、畢專發想、博士論文人工情感案例篩選</a:t>
            </a:r>
            <a:endParaRPr lang="en-US" sz="1020" dirty="0"/>
          </a:p>
        </p:txBody>
      </p:sp>
      <p:sp>
        <p:nvSpPr>
          <p:cNvPr id="11" name="Shape 7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6350">
            <a:solidFill>
              <a:srgbClr val="2B3B59">
                <a:alpha val="8500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30352" y="6519672"/>
            <a:ext cx="9692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C9D3E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Generated visual background; research deck based on workbook and public bibliographic sources</a:t>
            </a:r>
            <a:endParaRPr lang="en-US" sz="670" dirty="0"/>
          </a:p>
        </p:txBody>
      </p:sp>
      <p:sp>
        <p:nvSpPr>
          <p:cNvPr id="13" name="Text 9"/>
          <p:cNvSpPr/>
          <p:nvPr/>
        </p:nvSpPr>
        <p:spPr>
          <a:xfrm>
            <a:off x="11018520" y="649224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9D3E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744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先建立正確讀法：不是排行榜，是設計基因庫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50392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BBD2E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把「必玩」轉譯成「可拆解、可教、可研究」</a:t>
            </a:r>
            <a:endParaRPr lang="en-US" sz="1120" dirty="0"/>
          </a:p>
        </p:txBody>
      </p:sp>
      <p:sp>
        <p:nvSpPr>
          <p:cNvPr id="4" name="Shape 2"/>
          <p:cNvSpPr/>
          <p:nvPr/>
        </p:nvSpPr>
        <p:spPr>
          <a:xfrm>
            <a:off x="576072" y="1170432"/>
            <a:ext cx="1417320" cy="0"/>
          </a:xfrm>
          <a:prstGeom prst="line">
            <a:avLst/>
          </a:prstGeom>
          <a:noFill/>
          <a:ln w="27940">
            <a:solidFill>
              <a:srgbClr val="F4B4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2763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B4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1971–2013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77240" y="206654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BBD2E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遊戲史時間跨度</a:t>
            </a:r>
            <a:endParaRPr lang="en-US" sz="980" dirty="0"/>
          </a:p>
        </p:txBody>
      </p:sp>
      <p:sp>
        <p:nvSpPr>
          <p:cNvPr id="7" name="Text 5"/>
          <p:cNvSpPr/>
          <p:nvPr/>
        </p:nvSpPr>
        <p:spPr>
          <a:xfrm>
            <a:off x="3703320" y="162763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5BDE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703320" y="20665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BBD2E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款經典案例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5806440" y="162763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4A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34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806440" y="206654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BBD2E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人工情感優先樣本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822960" y="2862072"/>
            <a:ext cx="9875520" cy="0"/>
          </a:xfrm>
          <a:prstGeom prst="line">
            <a:avLst/>
          </a:prstGeom>
          <a:noFill/>
          <a:ln w="12700">
            <a:solidFill>
              <a:srgbClr val="283A5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31012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B4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看歷史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331720" y="3328416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80" dirty="0">
                <a:solidFill>
                  <a:srgbClr val="D8E1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類型、平台、操作介面如何被一代代遊戲固定成語法。</a:t>
            </a:r>
            <a:endParaRPr lang="en-US" sz="1680" dirty="0"/>
          </a:p>
        </p:txBody>
      </p:sp>
      <p:sp>
        <p:nvSpPr>
          <p:cNvPr id="14" name="Text 12"/>
          <p:cNvSpPr/>
          <p:nvPr/>
        </p:nvSpPr>
        <p:spPr>
          <a:xfrm>
            <a:off x="868680" y="4059936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BDE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看方法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331720" y="4078224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80" dirty="0">
                <a:solidFill>
                  <a:srgbClr val="D8E1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每款遊戲拆成玩家動詞、核心循環、回饋、情緒與影響。</a:t>
            </a:r>
            <a:endParaRPr lang="en-US" sz="1680" dirty="0"/>
          </a:p>
        </p:txBody>
      </p:sp>
      <p:sp>
        <p:nvSpPr>
          <p:cNvPr id="16" name="Text 14"/>
          <p:cNvSpPr/>
          <p:nvPr/>
        </p:nvSpPr>
        <p:spPr>
          <a:xfrm>
            <a:off x="868680" y="4809744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4A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看未來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2331720" y="482803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80" dirty="0">
                <a:solidFill>
                  <a:srgbClr val="D8E1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用AI與人工情感重新閱讀經典：NPC、關係、道德、共感。</a:t>
            </a:r>
            <a:endParaRPr lang="en-US" sz="1680" dirty="0"/>
          </a:p>
        </p:txBody>
      </p:sp>
      <p:sp>
        <p:nvSpPr>
          <p:cNvPr id="18" name="Text 16"/>
          <p:cNvSpPr/>
          <p:nvPr/>
        </p:nvSpPr>
        <p:spPr>
          <a:xfrm>
            <a:off x="868680" y="570585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9B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一句話結論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920240" y="557784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這本書最有價值的地方，是把「遊戲好玩」變成「設計可分析」的歷史樣本。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76072" y="6190488"/>
            <a:ext cx="11064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94A7B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書籍定位參考：WorldCat 與 Wikipedia 對本書描述；資料表為本次二次整理。</a:t>
            </a:r>
            <a:endParaRPr lang="en-US" sz="650" dirty="0"/>
          </a:p>
        </p:txBody>
      </p:sp>
      <p:sp>
        <p:nvSpPr>
          <p:cNvPr id="22" name="Shape 19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6350">
            <a:solidFill>
              <a:srgbClr val="2B3B59">
                <a:alpha val="85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30352" y="6519672"/>
            <a:ext cx="9692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C9D3E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《1001 Video Games You Must Play Before You Die》研究表｜2013版名單二次整理</a:t>
            </a:r>
            <a:endParaRPr lang="en-US" sz="670" dirty="0"/>
          </a:p>
        </p:txBody>
      </p:sp>
      <p:sp>
        <p:nvSpPr>
          <p:cNvPr id="24" name="Text 21"/>
          <p:cNvSpPr/>
          <p:nvPr/>
        </p:nvSpPr>
        <p:spPr>
          <a:xfrm>
            <a:off x="11018520" y="649224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9D3E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744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研究表如何產生：從清單到可用資料庫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50392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C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不是只整理名稱，而是補成設計分析欄位與研究欄位</a:t>
            </a:r>
            <a:endParaRPr lang="en-US" sz="1120" dirty="0"/>
          </a:p>
        </p:txBody>
      </p:sp>
      <p:sp>
        <p:nvSpPr>
          <p:cNvPr id="4" name="Shape 2"/>
          <p:cNvSpPr/>
          <p:nvPr/>
        </p:nvSpPr>
        <p:spPr>
          <a:xfrm>
            <a:off x="576072" y="1170432"/>
            <a:ext cx="1417320" cy="0"/>
          </a:xfrm>
          <a:prstGeom prst="line">
            <a:avLst/>
          </a:prstGeom>
          <a:noFill/>
          <a:ln w="27940">
            <a:solidFill>
              <a:srgbClr val="0787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50876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787B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13232" y="194767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5C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遊戲條目</a:t>
            </a:r>
            <a:endParaRPr lang="en-US" sz="980" dirty="0"/>
          </a:p>
        </p:txBody>
      </p:sp>
      <p:sp>
        <p:nvSpPr>
          <p:cNvPr id="7" name="Text 5"/>
          <p:cNvSpPr/>
          <p:nvPr/>
        </p:nvSpPr>
        <p:spPr>
          <a:xfrm>
            <a:off x="2331720" y="150876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787B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39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331720" y="194767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5C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研究欄位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3950208" y="150876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787B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950208" y="194767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5C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工作表頁籤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5568696" y="15087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787B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756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568696" y="19476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5C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高信心初步分類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2423160" y="3584448"/>
            <a:ext cx="658368" cy="0"/>
          </a:xfrm>
          <a:prstGeom prst="line">
            <a:avLst/>
          </a:prstGeom>
          <a:noFill/>
          <a:ln w="20320">
            <a:solidFill>
              <a:srgbClr val="0787B2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754880" y="3584448"/>
            <a:ext cx="658368" cy="0"/>
          </a:xfrm>
          <a:prstGeom prst="line">
            <a:avLst/>
          </a:prstGeom>
          <a:noFill/>
          <a:ln w="20320">
            <a:solidFill>
              <a:srgbClr val="0787B2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086600" y="3584448"/>
            <a:ext cx="658368" cy="0"/>
          </a:xfrm>
          <a:prstGeom prst="line">
            <a:avLst/>
          </a:prstGeom>
          <a:noFill/>
          <a:ln w="20320">
            <a:solidFill>
              <a:srgbClr val="0787B2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713232" y="3310128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B4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01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80160" y="329184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7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公開名單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280160" y="3611880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5C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名稱、年份、平台、公司欄</a:t>
            </a:r>
            <a:endParaRPr lang="en-US" sz="1070" dirty="0"/>
          </a:p>
        </p:txBody>
      </p:sp>
      <p:sp>
        <p:nvSpPr>
          <p:cNvPr id="19" name="Text 17"/>
          <p:cNvSpPr/>
          <p:nvPr/>
        </p:nvSpPr>
        <p:spPr>
          <a:xfrm>
            <a:off x="3044952" y="3310128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B4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02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611880" y="329184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7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結構化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3611880" y="3611880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5C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年代、平台類別、初步類型</a:t>
            </a:r>
            <a:endParaRPr lang="en-US" sz="1070" dirty="0"/>
          </a:p>
        </p:txBody>
      </p:sp>
      <p:sp>
        <p:nvSpPr>
          <p:cNvPr id="22" name="Text 20"/>
          <p:cNvSpPr/>
          <p:nvPr/>
        </p:nvSpPr>
        <p:spPr>
          <a:xfrm>
            <a:off x="5376672" y="3310128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B4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943600" y="329184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7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設計標註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5943600" y="3611880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5C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核心循環、回饋、情緒目標</a:t>
            </a:r>
            <a:endParaRPr lang="en-US" sz="1070" dirty="0"/>
          </a:p>
        </p:txBody>
      </p:sp>
      <p:sp>
        <p:nvSpPr>
          <p:cNvPr id="25" name="Text 23"/>
          <p:cNvSpPr/>
          <p:nvPr/>
        </p:nvSpPr>
        <p:spPr>
          <a:xfrm>
            <a:off x="7708392" y="3310128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B4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275320" y="329184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7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研究輸出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8275320" y="3611880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5C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教學案例、情感AI樣本、復刻清單</a:t>
            </a:r>
            <a:endParaRPr lang="en-US" sz="1070" dirty="0"/>
          </a:p>
        </p:txBody>
      </p:sp>
      <p:sp>
        <p:nvSpPr>
          <p:cNvPr id="28" name="Shape 26"/>
          <p:cNvSpPr/>
          <p:nvPr/>
        </p:nvSpPr>
        <p:spPr>
          <a:xfrm>
            <a:off x="713232" y="5166360"/>
            <a:ext cx="10789920" cy="0"/>
          </a:xfrm>
          <a:prstGeom prst="line">
            <a:avLst/>
          </a:prstGeom>
          <a:noFill/>
          <a:ln w="12700">
            <a:solidFill>
              <a:srgbClr val="D5D0C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3232" y="53949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使用原則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920240" y="5340096"/>
            <a:ext cx="8732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把資料表視為「研究起點」：初步分類先幫助篩選，正式分析仍需查證、實機遊玩與二次文獻。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576072" y="6190488"/>
            <a:ext cx="11064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77706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資料來源：前一版研究表（1001款不得不玩的遊戲_研究表_2013版.xlsx）。</a:t>
            </a:r>
            <a:endParaRPr lang="en-US" sz="650" dirty="0"/>
          </a:p>
        </p:txBody>
      </p:sp>
      <p:sp>
        <p:nvSpPr>
          <p:cNvPr id="33" name="Shape 30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6350">
            <a:solidFill>
              <a:srgbClr val="D9D4C8">
                <a:alpha val="8500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30352" y="6519672"/>
            <a:ext cx="9692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5A627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《1001 Video Games You Must Play Before You Die》研究表｜2013版名單二次整理</a:t>
            </a:r>
            <a:endParaRPr lang="en-US" sz="670" dirty="0"/>
          </a:p>
        </p:txBody>
      </p:sp>
      <p:sp>
        <p:nvSpPr>
          <p:cNvPr id="35" name="Text 32"/>
          <p:cNvSpPr/>
          <p:nvPr/>
        </p:nvSpPr>
        <p:spPr>
          <a:xfrm>
            <a:off x="11018520" y="649224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A627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744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第一個發現：2000年代佔一半以上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50392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C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這反映出3D成熟、網路化、AAA製作、獨立遊戲與平台多樣化同時爆發</a:t>
            </a:r>
            <a:endParaRPr lang="en-US" sz="1120" dirty="0"/>
          </a:p>
        </p:txBody>
      </p:sp>
      <p:sp>
        <p:nvSpPr>
          <p:cNvPr id="4" name="Shape 2"/>
          <p:cNvSpPr/>
          <p:nvPr/>
        </p:nvSpPr>
        <p:spPr>
          <a:xfrm>
            <a:off x="576072" y="1170432"/>
            <a:ext cx="1417320" cy="0"/>
          </a:xfrm>
          <a:prstGeom prst="line">
            <a:avLst/>
          </a:prstGeom>
          <a:noFill/>
          <a:ln w="27940">
            <a:solidFill>
              <a:srgbClr val="0787B2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777240" y="1389888"/>
          <a:ext cx="6995160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458200" y="15544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B4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544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8458200" y="19933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5C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2000年代條目</a:t>
            </a:r>
            <a:endParaRPr lang="en-US" sz="980" dirty="0"/>
          </a:p>
        </p:txBody>
      </p:sp>
      <p:sp>
        <p:nvSpPr>
          <p:cNvPr id="8" name="Text 5"/>
          <p:cNvSpPr/>
          <p:nvPr/>
        </p:nvSpPr>
        <p:spPr>
          <a:xfrm>
            <a:off x="8458200" y="261518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B4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54.3%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8458200" y="305409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5C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佔全部比例</a:t>
            </a:r>
            <a:endParaRPr lang="en-US" sz="980" dirty="0"/>
          </a:p>
        </p:txBody>
      </p:sp>
      <p:sp>
        <p:nvSpPr>
          <p:cNvPr id="10" name="Text 7"/>
          <p:cNvSpPr/>
          <p:nvPr/>
        </p:nvSpPr>
        <p:spPr>
          <a:xfrm>
            <a:off x="8458200" y="376732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787B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8458200" y="4206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5C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1970年代條目</a:t>
            </a:r>
            <a:endParaRPr lang="en-US" sz="980" dirty="0"/>
          </a:p>
        </p:txBody>
      </p:sp>
      <p:sp>
        <p:nvSpPr>
          <p:cNvPr id="12" name="Text 9"/>
          <p:cNvSpPr/>
          <p:nvPr/>
        </p:nvSpPr>
        <p:spPr>
          <a:xfrm>
            <a:off x="8183880" y="498348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7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解讀：1970年代數量少，但原型密度高；2000年代數量多，適合看商業化、跨平台與類型混合。</a:t>
            </a:r>
            <a:endParaRPr lang="en-US" sz="1220" dirty="0"/>
          </a:p>
        </p:txBody>
      </p:sp>
      <p:sp>
        <p:nvSpPr>
          <p:cNvPr id="13" name="Text 10"/>
          <p:cNvSpPr/>
          <p:nvPr/>
        </p:nvSpPr>
        <p:spPr>
          <a:xfrm>
            <a:off x="576072" y="6190488"/>
            <a:ext cx="11064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77706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統計來源：本次研究表，1001款遊戲，年份範圍1971–2013。</a:t>
            </a:r>
            <a:endParaRPr lang="en-US" sz="650" dirty="0"/>
          </a:p>
        </p:txBody>
      </p:sp>
      <p:sp>
        <p:nvSpPr>
          <p:cNvPr id="15" name="Shape 11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6350">
            <a:solidFill>
              <a:srgbClr val="D9D4C8">
                <a:alpha val="8500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30352" y="6519672"/>
            <a:ext cx="9692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5A627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《1001 Video Games You Must Play Before You Die》研究表｜2013版名單二次整理</a:t>
            </a:r>
            <a:endParaRPr lang="en-US" sz="670" dirty="0"/>
          </a:p>
        </p:txBody>
      </p:sp>
      <p:sp>
        <p:nvSpPr>
          <p:cNvPr id="17" name="Text 13"/>
          <p:cNvSpPr/>
          <p:nvPr/>
        </p:nvSpPr>
        <p:spPr>
          <a:xfrm>
            <a:off x="11018520" y="649224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A627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dark_tech_themed_digital_illustration_con_dark.png">    </p:cNvPr>
          <p:cNvPicPr>
            <a:picLocks noChangeAspect="1"/>
          </p:cNvPicPr>
          <p:nvPr/>
        </p:nvPicPr>
        <p:blipFill>
          <a:blip r:embed="rId1"/>
          <a:srcRect l="26437" r="26437" t="0" b="0"/>
          <a:stretch/>
        </p:blipFill>
        <p:spPr>
          <a:xfrm>
            <a:off x="6446520" y="0"/>
            <a:ext cx="574243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384048"/>
            <a:ext cx="5577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第二個發現：平台不只是硬體，是玩法限制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585216" y="850392"/>
            <a:ext cx="5166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C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從街機、電腦、家用主機到多平台，設計重心一路改變</a:t>
            </a:r>
            <a:endParaRPr lang="en-US" sz="1120" dirty="0"/>
          </a:p>
        </p:txBody>
      </p:sp>
      <p:sp>
        <p:nvSpPr>
          <p:cNvPr id="5" name="Shape 2"/>
          <p:cNvSpPr/>
          <p:nvPr/>
        </p:nvSpPr>
        <p:spPr>
          <a:xfrm>
            <a:off x="576072" y="1170432"/>
            <a:ext cx="1417320" cy="0"/>
          </a:xfrm>
          <a:prstGeom prst="line">
            <a:avLst/>
          </a:prstGeom>
          <a:noFill/>
          <a:ln w="27940">
            <a:solidFill>
              <a:srgbClr val="0787B2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713232" y="1417320"/>
          <a:ext cx="5440680" cy="409651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/>
          <p:nvPr/>
        </p:nvSpPr>
        <p:spPr>
          <a:xfrm>
            <a:off x="7040880" y="117043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多平台 409 款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7086600" y="1755648"/>
            <a:ext cx="41148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DEAF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意味著「同一套設計」要面對不同操作、螢幕距離、遊玩時段與商業模型。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7086600" y="297180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B4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教學切入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7086600" y="3310128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DDEAF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同一款遊戲放到街機、家機、PC、掌機時，核心循環不變，但節奏、UI與回饋會變。</a:t>
            </a:r>
            <a:endParaRPr lang="en-US" sz="1420" dirty="0"/>
          </a:p>
        </p:txBody>
      </p:sp>
      <p:sp>
        <p:nvSpPr>
          <p:cNvPr id="11" name="Text 7"/>
          <p:cNvSpPr/>
          <p:nvPr/>
        </p:nvSpPr>
        <p:spPr>
          <a:xfrm>
            <a:off x="576072" y="6190488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77706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統計來源：本次研究表；平台分類為二次整理。</a:t>
            </a:r>
            <a:endParaRPr lang="en-US" sz="650" dirty="0"/>
          </a:p>
        </p:txBody>
      </p:sp>
      <p:sp>
        <p:nvSpPr>
          <p:cNvPr id="13" name="Shape 8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6350">
            <a:solidFill>
              <a:srgbClr val="D9D4C8">
                <a:alpha val="85000"/>
              </a:srgbClr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30352" y="6519672"/>
            <a:ext cx="5577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5A627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《1001 Video Games You Must Play Before You Die》研究表｜2013版名單二次整理</a:t>
            </a:r>
            <a:endParaRPr lang="en-US" sz="670" dirty="0"/>
          </a:p>
        </p:txBody>
      </p:sp>
      <p:sp>
        <p:nvSpPr>
          <p:cNvPr id="15" name="Text 10"/>
          <p:cNvSpPr/>
          <p:nvPr/>
        </p:nvSpPr>
        <p:spPr>
          <a:xfrm>
            <a:off x="11018520" y="649224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A627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744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第三個發現：類型分布其實是在看「玩家動詞」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50392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C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射擊、跳躍、探索、養成、管理、解謎，都可以回到玩家每分鐘做什麼</a:t>
            </a:r>
            <a:endParaRPr lang="en-US" sz="1120" dirty="0"/>
          </a:p>
        </p:txBody>
      </p:sp>
      <p:sp>
        <p:nvSpPr>
          <p:cNvPr id="4" name="Shape 2"/>
          <p:cNvSpPr/>
          <p:nvPr/>
        </p:nvSpPr>
        <p:spPr>
          <a:xfrm>
            <a:off x="576072" y="1170432"/>
            <a:ext cx="1417320" cy="0"/>
          </a:xfrm>
          <a:prstGeom prst="line">
            <a:avLst/>
          </a:prstGeom>
          <a:noFill/>
          <a:ln w="27940">
            <a:solidFill>
              <a:srgbClr val="0787B2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658368" y="1261872"/>
          <a:ext cx="74066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366760" y="133502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怎麼教比較好？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394192" y="1938528"/>
            <a:ext cx="2377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0787B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不要先背類型</a:t>
            </a:r>
            <a:endParaRPr lang="en-US" sz="1320" dirty="0"/>
          </a:p>
        </p:txBody>
      </p:sp>
      <p:sp>
        <p:nvSpPr>
          <p:cNvPr id="8" name="Text 5"/>
          <p:cNvSpPr/>
          <p:nvPr/>
        </p:nvSpPr>
        <p:spPr>
          <a:xfrm>
            <a:off x="8394192" y="22402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7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先問玩家動詞：射擊、跳躍、選擇、建造、照顧。</a:t>
            </a:r>
            <a:endParaRPr lang="en-US" sz="1220" dirty="0"/>
          </a:p>
        </p:txBody>
      </p:sp>
      <p:sp>
        <p:nvSpPr>
          <p:cNvPr id="9" name="Text 6"/>
          <p:cNvSpPr/>
          <p:nvPr/>
        </p:nvSpPr>
        <p:spPr>
          <a:xfrm>
            <a:off x="8394192" y="2898648"/>
            <a:ext cx="2377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F4B4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不要只看題材</a:t>
            </a:r>
            <a:endParaRPr lang="en-US" sz="1320" dirty="0"/>
          </a:p>
        </p:txBody>
      </p:sp>
      <p:sp>
        <p:nvSpPr>
          <p:cNvPr id="10" name="Text 7"/>
          <p:cNvSpPr/>
          <p:nvPr/>
        </p:nvSpPr>
        <p:spPr>
          <a:xfrm>
            <a:off x="8394192" y="32004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7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同樣是科幻，可能是射擊、策略、RPG或敘事遊戲。</a:t>
            </a:r>
            <a:endParaRPr lang="en-US" sz="1220" dirty="0"/>
          </a:p>
        </p:txBody>
      </p:sp>
      <p:sp>
        <p:nvSpPr>
          <p:cNvPr id="11" name="Text 8"/>
          <p:cNvSpPr/>
          <p:nvPr/>
        </p:nvSpPr>
        <p:spPr>
          <a:xfrm>
            <a:off x="8394192" y="3858768"/>
            <a:ext cx="2377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D94A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留下待分類</a:t>
            </a:r>
            <a:endParaRPr lang="en-US" sz="1320" dirty="0"/>
          </a:p>
        </p:txBody>
      </p:sp>
      <p:sp>
        <p:nvSpPr>
          <p:cNvPr id="12" name="Text 9"/>
          <p:cNvSpPr/>
          <p:nvPr/>
        </p:nvSpPr>
        <p:spPr>
          <a:xfrm>
            <a:off x="8394192" y="41605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7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195款待分類，是後續查證與課堂研究題目。</a:t>
            </a:r>
            <a:endParaRPr lang="en-US" sz="1220" dirty="0"/>
          </a:p>
        </p:txBody>
      </p:sp>
      <p:sp>
        <p:nvSpPr>
          <p:cNvPr id="13" name="Text 10"/>
          <p:cNvSpPr/>
          <p:nvPr/>
        </p:nvSpPr>
        <p:spPr>
          <a:xfrm>
            <a:off x="576072" y="6190488"/>
            <a:ext cx="11064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77706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統計來源：本次研究表；類型為快速研究標註，正式引用前需再查證。</a:t>
            </a:r>
            <a:endParaRPr lang="en-US" sz="650" dirty="0"/>
          </a:p>
        </p:txBody>
      </p:sp>
      <p:sp>
        <p:nvSpPr>
          <p:cNvPr id="15" name="Shape 11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6350">
            <a:solidFill>
              <a:srgbClr val="D9D4C8">
                <a:alpha val="8500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30352" y="6519672"/>
            <a:ext cx="9692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5A627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《1001 Video Games You Must Play Before You Die》研究表｜2013版名單二次整理</a:t>
            </a:r>
            <a:endParaRPr lang="en-US" sz="670" dirty="0"/>
          </a:p>
        </p:txBody>
      </p:sp>
      <p:sp>
        <p:nvSpPr>
          <p:cNvPr id="17" name="Text 13"/>
          <p:cNvSpPr/>
          <p:nvPr/>
        </p:nvSpPr>
        <p:spPr>
          <a:xfrm>
            <a:off x="11018520" y="649224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A627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744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五個時期，看遊戲設計語法如何長出來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50392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C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把1001款壓縮成容易教、容易記的歷史脈絡</a:t>
            </a:r>
            <a:endParaRPr lang="en-US" sz="1120" dirty="0"/>
          </a:p>
        </p:txBody>
      </p:sp>
      <p:sp>
        <p:nvSpPr>
          <p:cNvPr id="4" name="Shape 2"/>
          <p:cNvSpPr/>
          <p:nvPr/>
        </p:nvSpPr>
        <p:spPr>
          <a:xfrm>
            <a:off x="576072" y="1170432"/>
            <a:ext cx="1417320" cy="0"/>
          </a:xfrm>
          <a:prstGeom prst="line">
            <a:avLst/>
          </a:prstGeom>
          <a:noFill/>
          <a:ln w="27940">
            <a:solidFill>
              <a:srgbClr val="0787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743200"/>
            <a:ext cx="10058400" cy="0"/>
          </a:xfrm>
          <a:prstGeom prst="line">
            <a:avLst/>
          </a:prstGeom>
          <a:noFill/>
          <a:ln w="25400">
            <a:solidFill>
              <a:srgbClr val="0787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52728" y="2523744"/>
            <a:ext cx="0" cy="475488"/>
          </a:xfrm>
          <a:prstGeom prst="line">
            <a:avLst/>
          </a:prstGeom>
          <a:noFill/>
          <a:ln w="12700">
            <a:solidFill>
              <a:srgbClr val="0787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520440" y="2523744"/>
            <a:ext cx="0" cy="475488"/>
          </a:xfrm>
          <a:prstGeom prst="line">
            <a:avLst/>
          </a:prstGeom>
          <a:noFill/>
          <a:ln w="12700">
            <a:solidFill>
              <a:srgbClr val="0787B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788152" y="2523744"/>
            <a:ext cx="0" cy="475488"/>
          </a:xfrm>
          <a:prstGeom prst="line">
            <a:avLst/>
          </a:prstGeom>
          <a:noFill/>
          <a:ln w="12700">
            <a:solidFill>
              <a:srgbClr val="0787B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55864" y="2523744"/>
            <a:ext cx="0" cy="475488"/>
          </a:xfrm>
          <a:prstGeom prst="line">
            <a:avLst/>
          </a:prstGeom>
          <a:noFill/>
          <a:ln w="12700">
            <a:solidFill>
              <a:srgbClr val="0787B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23576" y="2523744"/>
            <a:ext cx="0" cy="475488"/>
          </a:xfrm>
          <a:prstGeom prst="line">
            <a:avLst/>
          </a:prstGeom>
          <a:noFill/>
          <a:ln w="12700">
            <a:solidFill>
              <a:srgbClr val="0787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197510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787B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1970s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12648" y="32186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規則原型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3776" y="3602736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dirty="0">
                <a:solidFill>
                  <a:srgbClr val="5C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分數、碰撞、回合、風險</a:t>
            </a:r>
            <a:endParaRPr lang="en-US" sz="1060" dirty="0"/>
          </a:p>
        </p:txBody>
      </p:sp>
      <p:sp>
        <p:nvSpPr>
          <p:cNvPr id="14" name="Text 12"/>
          <p:cNvSpPr/>
          <p:nvPr/>
        </p:nvSpPr>
        <p:spPr>
          <a:xfrm>
            <a:off x="493776" y="4389120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7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Pong／Space Invaders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2926080" y="197510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787B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1980s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2880360" y="32186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類型成形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761488" y="3602736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dirty="0">
                <a:solidFill>
                  <a:srgbClr val="5C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角色、關卡、平台、RPG、解謎</a:t>
            </a:r>
            <a:endParaRPr lang="en-US" sz="1060" dirty="0"/>
          </a:p>
        </p:txBody>
      </p:sp>
      <p:sp>
        <p:nvSpPr>
          <p:cNvPr id="18" name="Text 16"/>
          <p:cNvSpPr/>
          <p:nvPr/>
        </p:nvSpPr>
        <p:spPr>
          <a:xfrm>
            <a:off x="2761488" y="4389120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7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Pac-Man／Mario／Zelda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5193792" y="197510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77A2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1990s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5148072" y="32186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空間革命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029200" y="3602736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dirty="0">
                <a:solidFill>
                  <a:srgbClr val="5C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3D攝影機、沉浸敘事、系統複雜化</a:t>
            </a:r>
            <a:endParaRPr lang="en-US" sz="1060" dirty="0"/>
          </a:p>
        </p:txBody>
      </p:sp>
      <p:sp>
        <p:nvSpPr>
          <p:cNvPr id="22" name="Text 20"/>
          <p:cNvSpPr/>
          <p:nvPr/>
        </p:nvSpPr>
        <p:spPr>
          <a:xfrm>
            <a:off x="5029200" y="4389120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7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Doom／Myst／Mario 64</a:t>
            </a:r>
            <a:endParaRPr lang="en-US" sz="1020" dirty="0"/>
          </a:p>
        </p:txBody>
      </p:sp>
      <p:sp>
        <p:nvSpPr>
          <p:cNvPr id="23" name="Text 21"/>
          <p:cNvSpPr/>
          <p:nvPr/>
        </p:nvSpPr>
        <p:spPr>
          <a:xfrm>
            <a:off x="7461504" y="197510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77A2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2000s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7415784" y="32186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主流擴張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296912" y="3602736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dirty="0">
                <a:solidFill>
                  <a:srgbClr val="5C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開放世界、線上社群、AAA敘事</a:t>
            </a:r>
            <a:endParaRPr lang="en-US" sz="1060" dirty="0"/>
          </a:p>
        </p:txBody>
      </p:sp>
      <p:sp>
        <p:nvSpPr>
          <p:cNvPr id="26" name="Text 24"/>
          <p:cNvSpPr/>
          <p:nvPr/>
        </p:nvSpPr>
        <p:spPr>
          <a:xfrm>
            <a:off x="7296912" y="4389120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7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GTA III／WoW／Portal</a:t>
            </a:r>
            <a:endParaRPr lang="en-US" sz="1020" dirty="0"/>
          </a:p>
        </p:txBody>
      </p:sp>
      <p:sp>
        <p:nvSpPr>
          <p:cNvPr id="27" name="Text 25"/>
          <p:cNvSpPr/>
          <p:nvPr/>
        </p:nvSpPr>
        <p:spPr>
          <a:xfrm>
            <a:off x="9729216" y="197510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94A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2010–13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683496" y="32186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獨立與共感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564624" y="3602736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dirty="0">
                <a:solidFill>
                  <a:srgbClr val="5C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沙盒創作、失敗美學、非語言情感</a:t>
            </a:r>
            <a:endParaRPr lang="en-US" sz="1060" dirty="0"/>
          </a:p>
        </p:txBody>
      </p:sp>
      <p:sp>
        <p:nvSpPr>
          <p:cNvPr id="30" name="Text 28"/>
          <p:cNvSpPr/>
          <p:nvPr/>
        </p:nvSpPr>
        <p:spPr>
          <a:xfrm>
            <a:off x="9564624" y="4389120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7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Minecraft／Journey／Dark Souls</a:t>
            </a:r>
            <a:endParaRPr lang="en-US" sz="1020" dirty="0"/>
          </a:p>
        </p:txBody>
      </p:sp>
      <p:sp>
        <p:nvSpPr>
          <p:cNvPr id="31" name="Text 29"/>
          <p:cNvSpPr/>
          <p:nvPr/>
        </p:nvSpPr>
        <p:spPr>
          <a:xfrm>
            <a:off x="749808" y="553212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B4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課堂用法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1828800" y="5504688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每個時期挑 2–3 款實機體驗，再要求學生用同一套欄位拆解：玩家動詞、核心循環、情緒曲線與影響。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576072" y="6190488"/>
            <a:ext cx="11064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77706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時期劃分為本次研究解讀，用於教學與研究導入。</a:t>
            </a:r>
            <a:endParaRPr lang="en-US" sz="650" dirty="0"/>
          </a:p>
        </p:txBody>
      </p:sp>
      <p:sp>
        <p:nvSpPr>
          <p:cNvPr id="35" name="Shape 32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6350">
            <a:solidFill>
              <a:srgbClr val="D9D4C8">
                <a:alpha val="8500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30352" y="6519672"/>
            <a:ext cx="9692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5A627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《1001 Video Games You Must Play Before You Die》研究表｜2013版名單二次整理</a:t>
            </a:r>
            <a:endParaRPr lang="en-US" sz="670" dirty="0"/>
          </a:p>
        </p:txBody>
      </p:sp>
      <p:sp>
        <p:nvSpPr>
          <p:cNvPr id="37" name="Text 34"/>
          <p:cNvSpPr/>
          <p:nvPr/>
        </p:nvSpPr>
        <p:spPr>
          <a:xfrm>
            <a:off x="11018520" y="649224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A627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dramatic_polished_digital_concept_art_infogra_dark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384048"/>
            <a:ext cx="10744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每款遊戲都用五個問題拆解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585216" y="850392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BBD2E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這套問題可以直接變成課堂報告、畢專前期分析或研究編碼表</a:t>
            </a:r>
            <a:endParaRPr lang="en-US" sz="1120" dirty="0"/>
          </a:p>
        </p:txBody>
      </p:sp>
      <p:sp>
        <p:nvSpPr>
          <p:cNvPr id="5" name="Shape 2"/>
          <p:cNvSpPr/>
          <p:nvPr/>
        </p:nvSpPr>
        <p:spPr>
          <a:xfrm>
            <a:off x="576072" y="1170432"/>
            <a:ext cx="1417320" cy="0"/>
          </a:xfrm>
          <a:prstGeom prst="line">
            <a:avLst/>
          </a:prstGeom>
          <a:noFill/>
          <a:ln w="27940">
            <a:solidFill>
              <a:srgbClr val="F4B43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60020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B4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五問拆解法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77240" y="2194560"/>
            <a:ext cx="256032" cy="256032"/>
          </a:xfrm>
          <a:prstGeom prst="rect">
            <a:avLst/>
          </a:prstGeom>
          <a:solidFill>
            <a:srgbClr val="F4B43A"/>
          </a:solidFill>
          <a:ln>
            <a:solidFill>
              <a:srgbClr val="F4B4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02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143000" y="221284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玩家動詞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2505456" y="2212848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70" dirty="0">
                <a:solidFill>
                  <a:srgbClr val="DDEAF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玩家反覆做什麼？</a:t>
            </a:r>
            <a:endParaRPr lang="en-US" sz="1370" dirty="0"/>
          </a:p>
        </p:txBody>
      </p:sp>
      <p:sp>
        <p:nvSpPr>
          <p:cNvPr id="10" name="Text 7"/>
          <p:cNvSpPr/>
          <p:nvPr/>
        </p:nvSpPr>
        <p:spPr>
          <a:xfrm>
            <a:off x="777240" y="2798064"/>
            <a:ext cx="256032" cy="256032"/>
          </a:xfrm>
          <a:prstGeom prst="rect">
            <a:avLst/>
          </a:prstGeom>
          <a:solidFill>
            <a:srgbClr val="F4B43A"/>
          </a:solidFill>
          <a:ln>
            <a:solidFill>
              <a:srgbClr val="F4B4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02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43000" y="2816352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核心循環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2505456" y="2816352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70" dirty="0">
                <a:solidFill>
                  <a:srgbClr val="DDEAF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行動、回饋、獎勵如何循環？</a:t>
            </a:r>
            <a:endParaRPr lang="en-US" sz="1370" dirty="0"/>
          </a:p>
        </p:txBody>
      </p:sp>
      <p:sp>
        <p:nvSpPr>
          <p:cNvPr id="13" name="Text 10"/>
          <p:cNvSpPr/>
          <p:nvPr/>
        </p:nvSpPr>
        <p:spPr>
          <a:xfrm>
            <a:off x="777240" y="3401568"/>
            <a:ext cx="256032" cy="256032"/>
          </a:xfrm>
          <a:prstGeom prst="rect">
            <a:avLst/>
          </a:prstGeom>
          <a:solidFill>
            <a:srgbClr val="F4B43A"/>
          </a:solidFill>
          <a:ln>
            <a:solidFill>
              <a:srgbClr val="F4B4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02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143000" y="3419856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壓力來源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2505456" y="3419856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70" dirty="0">
                <a:solidFill>
                  <a:srgbClr val="DDEAF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難度、時間、資源、敵人如何製造張力？</a:t>
            </a:r>
            <a:endParaRPr lang="en-US" sz="1370" dirty="0"/>
          </a:p>
        </p:txBody>
      </p:sp>
      <p:sp>
        <p:nvSpPr>
          <p:cNvPr id="16" name="Text 13"/>
          <p:cNvSpPr/>
          <p:nvPr/>
        </p:nvSpPr>
        <p:spPr>
          <a:xfrm>
            <a:off x="777240" y="4005072"/>
            <a:ext cx="256032" cy="256032"/>
          </a:xfrm>
          <a:prstGeom prst="rect">
            <a:avLst/>
          </a:prstGeom>
          <a:solidFill>
            <a:srgbClr val="F4B43A"/>
          </a:solidFill>
          <a:ln>
            <a:solidFill>
              <a:srgbClr val="F4B4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02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143000" y="402336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情緒目標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2505456" y="402336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70" dirty="0">
                <a:solidFill>
                  <a:srgbClr val="DDEAF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想讓玩家感到爽快、恐懼、好奇或共感？</a:t>
            </a:r>
            <a:endParaRPr lang="en-US" sz="1370" dirty="0"/>
          </a:p>
        </p:txBody>
      </p:sp>
      <p:sp>
        <p:nvSpPr>
          <p:cNvPr id="19" name="Text 16"/>
          <p:cNvSpPr/>
          <p:nvPr/>
        </p:nvSpPr>
        <p:spPr>
          <a:xfrm>
            <a:off x="777240" y="4608576"/>
            <a:ext cx="256032" cy="256032"/>
          </a:xfrm>
          <a:prstGeom prst="rect">
            <a:avLst/>
          </a:prstGeom>
          <a:solidFill>
            <a:srgbClr val="F4B43A"/>
          </a:solidFill>
          <a:ln>
            <a:solidFill>
              <a:srgbClr val="F4B4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02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143000" y="4626864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歷史影響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2505456" y="4626864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70" dirty="0">
                <a:solidFill>
                  <a:srgbClr val="DDEAF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它發明、強化或改寫了什麼設計語法？</a:t>
            </a:r>
            <a:endParaRPr lang="en-US" sz="1370" dirty="0"/>
          </a:p>
        </p:txBody>
      </p:sp>
      <p:sp>
        <p:nvSpPr>
          <p:cNvPr id="22" name="Text 19"/>
          <p:cNvSpPr/>
          <p:nvPr/>
        </p:nvSpPr>
        <p:spPr>
          <a:xfrm>
            <a:off x="6766560" y="52852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BDE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最重要的轉換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6766560" y="562356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從「遊戲好不好玩」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變成「它如何製造好玩」。</a:t>
            </a:r>
            <a:endParaRPr lang="en-US" sz="1900" dirty="0"/>
          </a:p>
        </p:txBody>
      </p:sp>
      <p:sp>
        <p:nvSpPr>
          <p:cNvPr id="24" name="Text 21"/>
          <p:cNvSpPr/>
          <p:nvPr/>
        </p:nvSpPr>
        <p:spPr>
          <a:xfrm>
            <a:off x="576072" y="6190488"/>
            <a:ext cx="11064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94A7B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方法來源：本次研究表的設計欄位與遊戲設計拆解框架。</a:t>
            </a:r>
            <a:endParaRPr lang="en-US" sz="650" dirty="0"/>
          </a:p>
        </p:txBody>
      </p:sp>
      <p:sp>
        <p:nvSpPr>
          <p:cNvPr id="26" name="Shape 22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6350">
            <a:solidFill>
              <a:srgbClr val="2B3B59">
                <a:alpha val="85000"/>
              </a:srgbClr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530352" y="6519672"/>
            <a:ext cx="9692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C9D3E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《1001 Video Games You Must Play Before You Die》研究表｜2013版名單二次整理</a:t>
            </a:r>
            <a:endParaRPr lang="en-US" sz="670" dirty="0"/>
          </a:p>
        </p:txBody>
      </p:sp>
      <p:sp>
        <p:nvSpPr>
          <p:cNvPr id="28" name="Text 24"/>
          <p:cNvSpPr/>
          <p:nvPr/>
        </p:nvSpPr>
        <p:spPr>
          <a:xfrm>
            <a:off x="11018520" y="649224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9D3E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744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把1001款濃縮成六組「必講錨點」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50392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C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先用錨點建立共同語言，再讓學生延伸到相似作品</a:t>
            </a:r>
            <a:endParaRPr lang="en-US" sz="1120" dirty="0"/>
          </a:p>
        </p:txBody>
      </p:sp>
      <p:sp>
        <p:nvSpPr>
          <p:cNvPr id="4" name="Shape 2"/>
          <p:cNvSpPr/>
          <p:nvPr/>
        </p:nvSpPr>
        <p:spPr>
          <a:xfrm>
            <a:off x="576072" y="1170432"/>
            <a:ext cx="1417320" cy="0"/>
          </a:xfrm>
          <a:prstGeom prst="line">
            <a:avLst/>
          </a:prstGeom>
          <a:noFill/>
          <a:ln w="27940">
            <a:solidFill>
              <a:srgbClr val="0787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463040"/>
            <a:ext cx="0" cy="1024128"/>
          </a:xfrm>
          <a:prstGeom prst="line">
            <a:avLst/>
          </a:prstGeom>
          <a:noFill/>
          <a:ln w="38100">
            <a:solidFill>
              <a:srgbClr val="0787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41732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b="1" dirty="0">
                <a:solidFill>
                  <a:srgbClr val="17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分數與壓力</a:t>
            </a:r>
            <a:endParaRPr lang="en-US" sz="1620" dirty="0"/>
          </a:p>
        </p:txBody>
      </p:sp>
      <p:sp>
        <p:nvSpPr>
          <p:cNvPr id="7" name="Text 5"/>
          <p:cNvSpPr/>
          <p:nvPr/>
        </p:nvSpPr>
        <p:spPr>
          <a:xfrm>
            <a:off x="914400" y="1764792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0787B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Pong／Space Invaders／Pac-Man</a:t>
            </a:r>
            <a:endParaRPr lang="en-US" sz="1280" dirty="0"/>
          </a:p>
        </p:txBody>
      </p:sp>
      <p:sp>
        <p:nvSpPr>
          <p:cNvPr id="8" name="Text 6"/>
          <p:cNvSpPr/>
          <p:nvPr/>
        </p:nvSpPr>
        <p:spPr>
          <a:xfrm>
            <a:off x="914400" y="2103120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5C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即時回饋、追逐、失誤成本、節奏壓迫。</a:t>
            </a:r>
            <a:endParaRPr lang="en-US" sz="1230" dirty="0"/>
          </a:p>
        </p:txBody>
      </p:sp>
      <p:sp>
        <p:nvSpPr>
          <p:cNvPr id="9" name="Shape 7"/>
          <p:cNvSpPr/>
          <p:nvPr/>
        </p:nvSpPr>
        <p:spPr>
          <a:xfrm>
            <a:off x="6281928" y="1463040"/>
            <a:ext cx="0" cy="1024128"/>
          </a:xfrm>
          <a:prstGeom prst="line">
            <a:avLst/>
          </a:prstGeom>
          <a:noFill/>
          <a:ln w="38100">
            <a:solidFill>
              <a:srgbClr val="F4B4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b="1" dirty="0">
                <a:solidFill>
                  <a:srgbClr val="17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關卡與探索</a:t>
            </a:r>
            <a:endParaRPr lang="en-US" sz="1620" dirty="0"/>
          </a:p>
        </p:txBody>
      </p:sp>
      <p:sp>
        <p:nvSpPr>
          <p:cNvPr id="11" name="Text 9"/>
          <p:cNvSpPr/>
          <p:nvPr/>
        </p:nvSpPr>
        <p:spPr>
          <a:xfrm>
            <a:off x="6446520" y="1764792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4B4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Super Mario Bros.／Zelda</a:t>
            </a:r>
            <a:endParaRPr lang="en-US" sz="1280" dirty="0"/>
          </a:p>
        </p:txBody>
      </p:sp>
      <p:sp>
        <p:nvSpPr>
          <p:cNvPr id="12" name="Text 10"/>
          <p:cNvSpPr/>
          <p:nvPr/>
        </p:nvSpPr>
        <p:spPr>
          <a:xfrm>
            <a:off x="6446520" y="2103120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5C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用關卡教操作，用世界結構引導好奇心。</a:t>
            </a:r>
            <a:endParaRPr lang="en-US" sz="1230" dirty="0"/>
          </a:p>
        </p:txBody>
      </p:sp>
      <p:sp>
        <p:nvSpPr>
          <p:cNvPr id="13" name="Shape 11"/>
          <p:cNvSpPr/>
          <p:nvPr/>
        </p:nvSpPr>
        <p:spPr>
          <a:xfrm>
            <a:off x="749808" y="2962656"/>
            <a:ext cx="0" cy="1024128"/>
          </a:xfrm>
          <a:prstGeom prst="line">
            <a:avLst/>
          </a:prstGeom>
          <a:noFill/>
          <a:ln w="38100">
            <a:solidFill>
              <a:srgbClr val="54B3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91693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b="1" dirty="0">
                <a:solidFill>
                  <a:srgbClr val="17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規則與系統</a:t>
            </a:r>
            <a:endParaRPr lang="en-US" sz="1620" dirty="0"/>
          </a:p>
        </p:txBody>
      </p:sp>
      <p:sp>
        <p:nvSpPr>
          <p:cNvPr id="15" name="Text 13"/>
          <p:cNvSpPr/>
          <p:nvPr/>
        </p:nvSpPr>
        <p:spPr>
          <a:xfrm>
            <a:off x="914400" y="3264408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54B3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Tetris／SimCity</a:t>
            </a:r>
            <a:endParaRPr lang="en-US" sz="1280" dirty="0"/>
          </a:p>
        </p:txBody>
      </p:sp>
      <p:sp>
        <p:nvSpPr>
          <p:cNvPr id="16" name="Text 14"/>
          <p:cNvSpPr/>
          <p:nvPr/>
        </p:nvSpPr>
        <p:spPr>
          <a:xfrm>
            <a:off x="914400" y="3602736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5C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極簡規則與複雜涌現，是兩種系統設計極端。</a:t>
            </a:r>
            <a:endParaRPr lang="en-US" sz="1230" dirty="0"/>
          </a:p>
        </p:txBody>
      </p:sp>
      <p:sp>
        <p:nvSpPr>
          <p:cNvPr id="17" name="Shape 15"/>
          <p:cNvSpPr/>
          <p:nvPr/>
        </p:nvSpPr>
        <p:spPr>
          <a:xfrm>
            <a:off x="6281928" y="2962656"/>
            <a:ext cx="0" cy="1024128"/>
          </a:xfrm>
          <a:prstGeom prst="line">
            <a:avLst/>
          </a:prstGeom>
          <a:noFill/>
          <a:ln w="38100">
            <a:solidFill>
              <a:srgbClr val="E77A2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291693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b="1" dirty="0">
                <a:solidFill>
                  <a:srgbClr val="17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3D與沉浸</a:t>
            </a:r>
            <a:endParaRPr lang="en-US" sz="1620" dirty="0"/>
          </a:p>
        </p:txBody>
      </p:sp>
      <p:sp>
        <p:nvSpPr>
          <p:cNvPr id="19" name="Text 17"/>
          <p:cNvSpPr/>
          <p:nvPr/>
        </p:nvSpPr>
        <p:spPr>
          <a:xfrm>
            <a:off x="6446520" y="3264408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E77A2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Doom／Myst／Mario 64／Half-Life</a:t>
            </a:r>
            <a:endParaRPr lang="en-US" sz="1280" dirty="0"/>
          </a:p>
        </p:txBody>
      </p:sp>
      <p:sp>
        <p:nvSpPr>
          <p:cNvPr id="20" name="Text 18"/>
          <p:cNvSpPr/>
          <p:nvPr/>
        </p:nvSpPr>
        <p:spPr>
          <a:xfrm>
            <a:off x="6446520" y="3602736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5C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空間、鏡頭、連續敘事改變玩家如何理解世界。</a:t>
            </a:r>
            <a:endParaRPr lang="en-US" sz="1230" dirty="0"/>
          </a:p>
        </p:txBody>
      </p:sp>
      <p:sp>
        <p:nvSpPr>
          <p:cNvPr id="21" name="Shape 19"/>
          <p:cNvSpPr/>
          <p:nvPr/>
        </p:nvSpPr>
        <p:spPr>
          <a:xfrm>
            <a:off x="749808" y="4462272"/>
            <a:ext cx="0" cy="1024128"/>
          </a:xfrm>
          <a:prstGeom prst="line">
            <a:avLst/>
          </a:prstGeom>
          <a:noFill/>
          <a:ln w="38100">
            <a:solidFill>
              <a:srgbClr val="D94A8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41655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b="1" dirty="0">
                <a:solidFill>
                  <a:srgbClr val="17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生活與社群</a:t>
            </a:r>
            <a:endParaRPr lang="en-US" sz="1620" dirty="0"/>
          </a:p>
        </p:txBody>
      </p:sp>
      <p:sp>
        <p:nvSpPr>
          <p:cNvPr id="23" name="Text 21"/>
          <p:cNvSpPr/>
          <p:nvPr/>
        </p:nvSpPr>
        <p:spPr>
          <a:xfrm>
            <a:off x="914400" y="4764024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D94A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The Sims／GTA III／World of Warcraft</a:t>
            </a:r>
            <a:endParaRPr lang="en-US" sz="1280" dirty="0"/>
          </a:p>
        </p:txBody>
      </p:sp>
      <p:sp>
        <p:nvSpPr>
          <p:cNvPr id="24" name="Text 22"/>
          <p:cNvSpPr/>
          <p:nvPr/>
        </p:nvSpPr>
        <p:spPr>
          <a:xfrm>
            <a:off x="914400" y="5102352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5C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玩家不只通關，也在系統裡生活、扮演與社交。</a:t>
            </a:r>
            <a:endParaRPr lang="en-US" sz="1230" dirty="0"/>
          </a:p>
        </p:txBody>
      </p:sp>
      <p:sp>
        <p:nvSpPr>
          <p:cNvPr id="25" name="Shape 23"/>
          <p:cNvSpPr/>
          <p:nvPr/>
        </p:nvSpPr>
        <p:spPr>
          <a:xfrm>
            <a:off x="6281928" y="4462272"/>
            <a:ext cx="0" cy="1024128"/>
          </a:xfrm>
          <a:prstGeom prst="line">
            <a:avLst/>
          </a:prstGeom>
          <a:noFill/>
          <a:ln w="38100">
            <a:solidFill>
              <a:srgbClr val="D95C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46520" y="441655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b="1" dirty="0">
                <a:solidFill>
                  <a:srgbClr val="17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創作與共感</a:t>
            </a:r>
            <a:endParaRPr lang="en-US" sz="1620" dirty="0"/>
          </a:p>
        </p:txBody>
      </p:sp>
      <p:sp>
        <p:nvSpPr>
          <p:cNvPr id="27" name="Text 25"/>
          <p:cNvSpPr/>
          <p:nvPr/>
        </p:nvSpPr>
        <p:spPr>
          <a:xfrm>
            <a:off x="6446520" y="4764024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D95C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Minecraft／Journey／The Walking Dead</a:t>
            </a:r>
            <a:endParaRPr lang="en-US" sz="1280" dirty="0"/>
          </a:p>
        </p:txBody>
      </p:sp>
      <p:sp>
        <p:nvSpPr>
          <p:cNvPr id="28" name="Text 26"/>
          <p:cNvSpPr/>
          <p:nvPr/>
        </p:nvSpPr>
        <p:spPr>
          <a:xfrm>
            <a:off x="6446520" y="5102352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5C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從「打敗遊戲」轉向「共同創作、選擇與情感記憶」。</a:t>
            </a:r>
            <a:endParaRPr lang="en-US" sz="1230" dirty="0"/>
          </a:p>
        </p:txBody>
      </p:sp>
      <p:sp>
        <p:nvSpPr>
          <p:cNvPr id="29" name="Text 27"/>
          <p:cNvSpPr/>
          <p:nvPr/>
        </p:nvSpPr>
        <p:spPr>
          <a:xfrm>
            <a:off x="960120" y="576072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這六組不是唯一答案，而是課堂導入的「最小核心」。之後可讓學生從1001清單中各自補一款類似或反例。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576072" y="6190488"/>
            <a:ext cx="11064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77706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案例選擇：本次研究表＋遊戲史常見教學錨點。</a:t>
            </a:r>
            <a:endParaRPr lang="en-US" sz="650" dirty="0"/>
          </a:p>
        </p:txBody>
      </p:sp>
      <p:sp>
        <p:nvSpPr>
          <p:cNvPr id="32" name="Shape 29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6350">
            <a:solidFill>
              <a:srgbClr val="D9D4C8">
                <a:alpha val="8500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30352" y="6519672"/>
            <a:ext cx="9692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5A627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《1001 Video Games You Must Play Before You Die》研究表｜2013版名單二次整理</a:t>
            </a:r>
            <a:endParaRPr lang="en-US" sz="670" dirty="0"/>
          </a:p>
        </p:txBody>
      </p:sp>
      <p:sp>
        <p:nvSpPr>
          <p:cNvPr id="34" name="Text 31"/>
          <p:cNvSpPr/>
          <p:nvPr/>
        </p:nvSpPr>
        <p:spPr>
          <a:xfrm>
            <a:off x="11018520" y="649224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A627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744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核心循環的演化：從反射，到生活，再到共創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50392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C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同樣是「玩」，玩家投入的心理結構愈來愈複雜</a:t>
            </a:r>
            <a:endParaRPr lang="en-US" sz="1120" dirty="0"/>
          </a:p>
        </p:txBody>
      </p:sp>
      <p:sp>
        <p:nvSpPr>
          <p:cNvPr id="4" name="Shape 2"/>
          <p:cNvSpPr/>
          <p:nvPr/>
        </p:nvSpPr>
        <p:spPr>
          <a:xfrm>
            <a:off x="576072" y="1170432"/>
            <a:ext cx="1417320" cy="0"/>
          </a:xfrm>
          <a:prstGeom prst="line">
            <a:avLst/>
          </a:prstGeom>
          <a:noFill/>
          <a:ln w="27940">
            <a:solidFill>
              <a:srgbClr val="0787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12848" y="3054096"/>
            <a:ext cx="786384" cy="0"/>
          </a:xfrm>
          <a:prstGeom prst="line">
            <a:avLst/>
          </a:prstGeom>
          <a:noFill/>
          <a:ln w="25400">
            <a:solidFill>
              <a:srgbClr val="0787B2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480560" y="3054096"/>
            <a:ext cx="786384" cy="0"/>
          </a:xfrm>
          <a:prstGeom prst="line">
            <a:avLst/>
          </a:prstGeom>
          <a:noFill/>
          <a:ln w="25400">
            <a:solidFill>
              <a:srgbClr val="0787B2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748272" y="3054096"/>
            <a:ext cx="786384" cy="0"/>
          </a:xfrm>
          <a:prstGeom prst="line">
            <a:avLst/>
          </a:prstGeom>
          <a:noFill/>
          <a:ln w="25400">
            <a:solidFill>
              <a:srgbClr val="0787B2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9015984" y="3054096"/>
            <a:ext cx="786384" cy="0"/>
          </a:xfrm>
          <a:prstGeom prst="line">
            <a:avLst/>
          </a:prstGeom>
          <a:noFill/>
          <a:ln w="25400">
            <a:solidFill>
              <a:srgbClr val="0787B2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1097280" y="2578608"/>
            <a:ext cx="384048" cy="384048"/>
          </a:xfrm>
          <a:prstGeom prst="rect">
            <a:avLst/>
          </a:prstGeom>
          <a:solidFill>
            <a:srgbClr val="0787B2"/>
          </a:solidFill>
          <a:ln>
            <a:solidFill>
              <a:srgbClr val="0787B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3232" y="334670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反射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530352" y="376732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看見→反應→得分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84632" y="443484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0787B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Pong</a:t>
            </a:r>
            <a:endParaRPr lang="en-US" sz="1120" dirty="0"/>
          </a:p>
        </p:txBody>
      </p:sp>
      <p:sp>
        <p:nvSpPr>
          <p:cNvPr id="13" name="Text 11"/>
          <p:cNvSpPr/>
          <p:nvPr/>
        </p:nvSpPr>
        <p:spPr>
          <a:xfrm>
            <a:off x="3364992" y="2578608"/>
            <a:ext cx="384048" cy="384048"/>
          </a:xfrm>
          <a:prstGeom prst="rect">
            <a:avLst/>
          </a:prstGeom>
          <a:solidFill>
            <a:srgbClr val="0787B2"/>
          </a:solidFill>
          <a:ln>
            <a:solidFill>
              <a:srgbClr val="0787B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980944" y="334670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精熟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2798064" y="376732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練習→掌握→突破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752344" y="443484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0787B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Tetris／Mario</a:t>
            </a:r>
            <a:endParaRPr lang="en-US" sz="1120" dirty="0"/>
          </a:p>
        </p:txBody>
      </p:sp>
      <p:sp>
        <p:nvSpPr>
          <p:cNvPr id="17" name="Text 15"/>
          <p:cNvSpPr/>
          <p:nvPr/>
        </p:nvSpPr>
        <p:spPr>
          <a:xfrm>
            <a:off x="5632704" y="2578608"/>
            <a:ext cx="384048" cy="384048"/>
          </a:xfrm>
          <a:prstGeom prst="rect">
            <a:avLst/>
          </a:prstGeom>
          <a:solidFill>
            <a:srgbClr val="E77A2F"/>
          </a:solidFill>
          <a:ln>
            <a:solidFill>
              <a:srgbClr val="E77A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248656" y="334670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沉浸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5065776" y="376732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移動→探索→理解空間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020056" y="443484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E77A2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Doom／Mario 64</a:t>
            </a:r>
            <a:endParaRPr lang="en-US" sz="1120" dirty="0"/>
          </a:p>
        </p:txBody>
      </p:sp>
      <p:sp>
        <p:nvSpPr>
          <p:cNvPr id="21" name="Text 19"/>
          <p:cNvSpPr/>
          <p:nvPr/>
        </p:nvSpPr>
        <p:spPr>
          <a:xfrm>
            <a:off x="7900416" y="2578608"/>
            <a:ext cx="384048" cy="384048"/>
          </a:xfrm>
          <a:prstGeom prst="rect">
            <a:avLst/>
          </a:prstGeom>
          <a:solidFill>
            <a:srgbClr val="F4B43A"/>
          </a:solidFill>
          <a:ln>
            <a:solidFill>
              <a:srgbClr val="F4B4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516368" y="334670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生活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7333488" y="376732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需求→選擇→社會結果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287768" y="443484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4B4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The Sims／WoW</a:t>
            </a:r>
            <a:endParaRPr lang="en-US" sz="1120" dirty="0"/>
          </a:p>
        </p:txBody>
      </p:sp>
      <p:sp>
        <p:nvSpPr>
          <p:cNvPr id="25" name="Text 23"/>
          <p:cNvSpPr/>
          <p:nvPr/>
        </p:nvSpPr>
        <p:spPr>
          <a:xfrm>
            <a:off x="10168128" y="2578608"/>
            <a:ext cx="384048" cy="384048"/>
          </a:xfrm>
          <a:prstGeom prst="rect">
            <a:avLst/>
          </a:prstGeom>
          <a:solidFill>
            <a:srgbClr val="D94A8C"/>
          </a:solidFill>
          <a:ln>
            <a:solidFill>
              <a:srgbClr val="D94A8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784080" y="334670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共創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9601200" y="376732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建造→分享→情感記憶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555480" y="443484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D94A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Minecraft／Journey</a:t>
            </a:r>
            <a:endParaRPr lang="en-US" sz="1120" dirty="0"/>
          </a:p>
        </p:txBody>
      </p:sp>
      <p:sp>
        <p:nvSpPr>
          <p:cNvPr id="29" name="Text 27"/>
          <p:cNvSpPr/>
          <p:nvPr/>
        </p:nvSpPr>
        <p:spPr>
          <a:xfrm>
            <a:off x="914400" y="5413248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B4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給學生的關鍵問題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2743200" y="5376672"/>
            <a:ext cx="7726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b="1" dirty="0">
                <a:solidFill>
                  <a:srgbClr val="17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你的畢專作品停在哪一層？只是讓玩家反應，還是讓玩家形成記憶、關係與自我表達？</a:t>
            </a:r>
            <a:endParaRPr lang="en-US" sz="1620" dirty="0"/>
          </a:p>
        </p:txBody>
      </p:sp>
      <p:sp>
        <p:nvSpPr>
          <p:cNvPr id="31" name="Text 29"/>
          <p:cNvSpPr/>
          <p:nvPr/>
        </p:nvSpPr>
        <p:spPr>
          <a:xfrm>
            <a:off x="576072" y="6190488"/>
            <a:ext cx="11064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77706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演化模型：本簡報依1001款條目與設計欄位歸納。</a:t>
            </a:r>
            <a:endParaRPr lang="en-US" sz="650" dirty="0"/>
          </a:p>
        </p:txBody>
      </p:sp>
      <p:sp>
        <p:nvSpPr>
          <p:cNvPr id="33" name="Shape 30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6350">
            <a:solidFill>
              <a:srgbClr val="D9D4C8">
                <a:alpha val="8500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30352" y="6519672"/>
            <a:ext cx="9692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5A627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《1001 Video Games You Must Play Before You Die》研究表｜2013版名單二次整理</a:t>
            </a:r>
            <a:endParaRPr lang="en-US" sz="670" dirty="0"/>
          </a:p>
        </p:txBody>
      </p:sp>
      <p:sp>
        <p:nvSpPr>
          <p:cNvPr id="35" name="Text 32"/>
          <p:cNvSpPr/>
          <p:nvPr/>
        </p:nvSpPr>
        <p:spPr>
          <a:xfrm>
            <a:off x="11018520" y="649224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A627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inematic_sci_fi_concept_art_scene_showing_a_con_dark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384048"/>
            <a:ext cx="10744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用人工情感重新讀1001款：不是找「真正有情緒」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585216" y="850392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BBD2E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研究重點是玩家如何相信、歸因、回應、記住角色與世界</a:t>
            </a:r>
            <a:endParaRPr lang="en-US" sz="1120" dirty="0"/>
          </a:p>
        </p:txBody>
      </p:sp>
      <p:sp>
        <p:nvSpPr>
          <p:cNvPr id="5" name="Shape 2"/>
          <p:cNvSpPr/>
          <p:nvPr/>
        </p:nvSpPr>
        <p:spPr>
          <a:xfrm>
            <a:off x="576072" y="1170432"/>
            <a:ext cx="1417320" cy="0"/>
          </a:xfrm>
          <a:prstGeom prst="line">
            <a:avLst/>
          </a:prstGeom>
          <a:noFill/>
          <a:ln w="27940">
            <a:solidFill>
              <a:srgbClr val="F4B43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94944" y="148132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B4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人工情感研究的四個切口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77240" y="2039112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5BDE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心智歸因</a:t>
            </a:r>
            <a:endParaRPr lang="en-US" sz="1520" dirty="0"/>
          </a:p>
        </p:txBody>
      </p:sp>
      <p:sp>
        <p:nvSpPr>
          <p:cNvPr id="8" name="Text 5"/>
          <p:cNvSpPr/>
          <p:nvPr/>
        </p:nvSpPr>
        <p:spPr>
          <a:xfrm>
            <a:off x="2176272" y="204825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DCE8F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玩家是否把意圖、個性或情緒投射給NPC？</a:t>
            </a:r>
            <a:endParaRPr lang="en-US" sz="1380" dirty="0"/>
          </a:p>
        </p:txBody>
      </p:sp>
      <p:sp>
        <p:nvSpPr>
          <p:cNvPr id="9" name="Text 6"/>
          <p:cNvSpPr/>
          <p:nvPr/>
        </p:nvSpPr>
        <p:spPr>
          <a:xfrm>
            <a:off x="777240" y="2743200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F4B4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記憶與關係</a:t>
            </a:r>
            <a:endParaRPr lang="en-US" sz="1520" dirty="0"/>
          </a:p>
        </p:txBody>
      </p:sp>
      <p:sp>
        <p:nvSpPr>
          <p:cNvPr id="10" name="Text 7"/>
          <p:cNvSpPr/>
          <p:nvPr/>
        </p:nvSpPr>
        <p:spPr>
          <a:xfrm>
            <a:off x="2176272" y="2752344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DCE8F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系統是否記住互動，讓關係產生累積感？</a:t>
            </a:r>
            <a:endParaRPr lang="en-US" sz="1380" dirty="0"/>
          </a:p>
        </p:txBody>
      </p:sp>
      <p:sp>
        <p:nvSpPr>
          <p:cNvPr id="11" name="Text 8"/>
          <p:cNvSpPr/>
          <p:nvPr/>
        </p:nvSpPr>
        <p:spPr>
          <a:xfrm>
            <a:off x="777240" y="3447288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D94A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情緒回饋</a:t>
            </a:r>
            <a:endParaRPr lang="en-US" sz="1520" dirty="0"/>
          </a:p>
        </p:txBody>
      </p:sp>
      <p:sp>
        <p:nvSpPr>
          <p:cNvPr id="12" name="Text 9"/>
          <p:cNvSpPr/>
          <p:nvPr/>
        </p:nvSpPr>
        <p:spPr>
          <a:xfrm>
            <a:off x="2176272" y="345643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DCE8F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表情、語音、動畫、UI如何回應玩家行為？</a:t>
            </a:r>
            <a:endParaRPr lang="en-US" sz="1380" dirty="0"/>
          </a:p>
        </p:txBody>
      </p:sp>
      <p:sp>
        <p:nvSpPr>
          <p:cNvPr id="13" name="Text 10"/>
          <p:cNvSpPr/>
          <p:nvPr/>
        </p:nvSpPr>
        <p:spPr>
          <a:xfrm>
            <a:off x="777240" y="4151376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54B3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道德後果</a:t>
            </a:r>
            <a:endParaRPr lang="en-US" sz="1520" dirty="0"/>
          </a:p>
        </p:txBody>
      </p:sp>
      <p:sp>
        <p:nvSpPr>
          <p:cNvPr id="14" name="Text 11"/>
          <p:cNvSpPr/>
          <p:nvPr/>
        </p:nvSpPr>
        <p:spPr>
          <a:xfrm>
            <a:off x="2176272" y="4160520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DCE8F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選擇是否造成愧疚、責任、依附或後悔？</a:t>
            </a:r>
            <a:endParaRPr lang="en-US" sz="1380" dirty="0"/>
          </a:p>
        </p:txBody>
      </p:sp>
      <p:sp>
        <p:nvSpPr>
          <p:cNvPr id="15" name="Text 12"/>
          <p:cNvSpPr/>
          <p:nvPr/>
        </p:nvSpPr>
        <p:spPr>
          <a:xfrm>
            <a:off x="7452360" y="495604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BDE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和當代AI的連結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452360" y="528523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DCE8F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Generative Agents 類研究讓「記憶、反思、規劃」變成可實作架構；經典遊戲則提供玩家情感設計的比較樣本。</a:t>
            </a:r>
            <a:endParaRPr lang="en-US" sz="1260" dirty="0"/>
          </a:p>
        </p:txBody>
      </p:sp>
      <p:sp>
        <p:nvSpPr>
          <p:cNvPr id="17" name="Text 14"/>
          <p:cNvSpPr/>
          <p:nvPr/>
        </p:nvSpPr>
        <p:spPr>
          <a:xfrm>
            <a:off x="576072" y="6190488"/>
            <a:ext cx="11064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94A7B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參考：Park et al., Generative Agents, UIST 2023／arXiv 2023。</a:t>
            </a:r>
            <a:endParaRPr lang="en-US" sz="650" dirty="0"/>
          </a:p>
        </p:txBody>
      </p:sp>
      <p:sp>
        <p:nvSpPr>
          <p:cNvPr id="19" name="Shape 15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6350">
            <a:solidFill>
              <a:srgbClr val="2B3B59">
                <a:alpha val="8500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30352" y="6519672"/>
            <a:ext cx="9692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C9D3E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《1001 Video Games You Must Play Before You Die》研究表｜2013版名單二次整理</a:t>
            </a:r>
            <a:endParaRPr lang="en-US" sz="670" dirty="0"/>
          </a:p>
        </p:txBody>
      </p:sp>
      <p:sp>
        <p:nvSpPr>
          <p:cNvPr id="21" name="Text 17"/>
          <p:cNvSpPr/>
          <p:nvPr/>
        </p:nvSpPr>
        <p:spPr>
          <a:xfrm>
            <a:off x="11018520" y="649224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9D3E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11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C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744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34款人工情感優先樣本，可收斂成五條研究線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50392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C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先不求大而全，而是建立可比較、可實作、可寫論文的案例群</a:t>
            </a:r>
            <a:endParaRPr lang="en-US" sz="1120" dirty="0"/>
          </a:p>
        </p:txBody>
      </p:sp>
      <p:sp>
        <p:nvSpPr>
          <p:cNvPr id="4" name="Shape 2"/>
          <p:cNvSpPr/>
          <p:nvPr/>
        </p:nvSpPr>
        <p:spPr>
          <a:xfrm>
            <a:off x="576072" y="1170432"/>
            <a:ext cx="1417320" cy="0"/>
          </a:xfrm>
          <a:prstGeom prst="line">
            <a:avLst/>
          </a:prstGeom>
          <a:noFill/>
          <a:ln w="27940">
            <a:solidFill>
              <a:srgbClr val="0787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27632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94A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34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23957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C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優先樣本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606040" y="2130552"/>
            <a:ext cx="1005840" cy="0"/>
          </a:xfrm>
          <a:prstGeom prst="line">
            <a:avLst/>
          </a:prstGeom>
          <a:noFill/>
          <a:ln w="25400">
            <a:solidFill>
              <a:srgbClr val="D94A8C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3794760" y="1307592"/>
            <a:ext cx="329184" cy="329184"/>
          </a:xfrm>
          <a:prstGeom prst="rect">
            <a:avLst/>
          </a:prstGeom>
          <a:solidFill>
            <a:srgbClr val="0787B2"/>
          </a:solidFill>
          <a:ln>
            <a:solidFill>
              <a:srgbClr val="0787B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51960" y="1325880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17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社交／自主代理</a:t>
            </a:r>
            <a:endParaRPr lang="en-US" sz="1420" dirty="0"/>
          </a:p>
        </p:txBody>
      </p:sp>
      <p:sp>
        <p:nvSpPr>
          <p:cNvPr id="10" name="Text 8"/>
          <p:cNvSpPr/>
          <p:nvPr/>
        </p:nvSpPr>
        <p:spPr>
          <a:xfrm>
            <a:off x="6172200" y="132588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C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The Sims、Animal Crossing、Black &amp; White、Nintendogs</a:t>
            </a:r>
            <a:endParaRPr lang="en-US" sz="1180" dirty="0"/>
          </a:p>
        </p:txBody>
      </p:sp>
      <p:sp>
        <p:nvSpPr>
          <p:cNvPr id="11" name="Text 9"/>
          <p:cNvSpPr/>
          <p:nvPr/>
        </p:nvSpPr>
        <p:spPr>
          <a:xfrm>
            <a:off x="3794760" y="2157984"/>
            <a:ext cx="329184" cy="329184"/>
          </a:xfrm>
          <a:prstGeom prst="rect">
            <a:avLst/>
          </a:prstGeom>
          <a:solidFill>
            <a:srgbClr val="F4B43A"/>
          </a:solidFill>
          <a:ln>
            <a:solidFill>
              <a:srgbClr val="F4B4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51960" y="217627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17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對話／關係狀態</a:t>
            </a:r>
            <a:endParaRPr lang="en-US" sz="1420" dirty="0"/>
          </a:p>
        </p:txBody>
      </p:sp>
      <p:sp>
        <p:nvSpPr>
          <p:cNvPr id="13" name="Text 11"/>
          <p:cNvSpPr/>
          <p:nvPr/>
        </p:nvSpPr>
        <p:spPr>
          <a:xfrm>
            <a:off x="6172200" y="217627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C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Façade、Seaman、Mass Effect、Persona</a:t>
            </a:r>
            <a:endParaRPr lang="en-US" sz="1180" dirty="0"/>
          </a:p>
        </p:txBody>
      </p:sp>
      <p:sp>
        <p:nvSpPr>
          <p:cNvPr id="14" name="Text 12"/>
          <p:cNvSpPr/>
          <p:nvPr/>
        </p:nvSpPr>
        <p:spPr>
          <a:xfrm>
            <a:off x="3794760" y="3008376"/>
            <a:ext cx="329184" cy="329184"/>
          </a:xfrm>
          <a:prstGeom prst="rect">
            <a:avLst/>
          </a:prstGeom>
          <a:solidFill>
            <a:srgbClr val="D94A8C"/>
          </a:solidFill>
          <a:ln>
            <a:solidFill>
              <a:srgbClr val="D94A8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251960" y="3026664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17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道德／後果回饋</a:t>
            </a:r>
            <a:endParaRPr lang="en-US" sz="1420" dirty="0"/>
          </a:p>
        </p:txBody>
      </p:sp>
      <p:sp>
        <p:nvSpPr>
          <p:cNvPr id="16" name="Text 14"/>
          <p:cNvSpPr/>
          <p:nvPr/>
        </p:nvSpPr>
        <p:spPr>
          <a:xfrm>
            <a:off x="6172200" y="302666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C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Fable、Heavy Rain、The Walking Dead、BioShock</a:t>
            </a:r>
            <a:endParaRPr lang="en-US" sz="1180" dirty="0"/>
          </a:p>
        </p:txBody>
      </p:sp>
      <p:sp>
        <p:nvSpPr>
          <p:cNvPr id="17" name="Text 15"/>
          <p:cNvSpPr/>
          <p:nvPr/>
        </p:nvSpPr>
        <p:spPr>
          <a:xfrm>
            <a:off x="3794760" y="3858768"/>
            <a:ext cx="329184" cy="329184"/>
          </a:xfrm>
          <a:prstGeom prst="rect">
            <a:avLst/>
          </a:prstGeom>
          <a:solidFill>
            <a:srgbClr val="54B37A"/>
          </a:solidFill>
          <a:ln>
            <a:solidFill>
              <a:srgbClr val="54B37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251960" y="3877056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17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非語言共感／氛圍</a:t>
            </a:r>
            <a:endParaRPr lang="en-US" sz="1420" dirty="0"/>
          </a:p>
        </p:txBody>
      </p:sp>
      <p:sp>
        <p:nvSpPr>
          <p:cNvPr id="19" name="Text 17"/>
          <p:cNvSpPr/>
          <p:nvPr/>
        </p:nvSpPr>
        <p:spPr>
          <a:xfrm>
            <a:off x="6172200" y="387705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C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Journey、Ico、Shadow of the Colossus、Flower</a:t>
            </a:r>
            <a:endParaRPr lang="en-US" sz="1180" dirty="0"/>
          </a:p>
        </p:txBody>
      </p:sp>
      <p:sp>
        <p:nvSpPr>
          <p:cNvPr id="20" name="Text 18"/>
          <p:cNvSpPr/>
          <p:nvPr/>
        </p:nvSpPr>
        <p:spPr>
          <a:xfrm>
            <a:off x="3794760" y="4709160"/>
            <a:ext cx="329184" cy="329184"/>
          </a:xfrm>
          <a:prstGeom prst="rect">
            <a:avLst/>
          </a:prstGeom>
          <a:solidFill>
            <a:srgbClr val="D95C55"/>
          </a:solidFill>
          <a:ln>
            <a:solidFill>
              <a:srgbClr val="D95C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251960" y="4727448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17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恐懼／壓力調節</a:t>
            </a:r>
            <a:endParaRPr lang="en-US" sz="1420" dirty="0"/>
          </a:p>
        </p:txBody>
      </p:sp>
      <p:sp>
        <p:nvSpPr>
          <p:cNvPr id="22" name="Text 20"/>
          <p:cNvSpPr/>
          <p:nvPr/>
        </p:nvSpPr>
        <p:spPr>
          <a:xfrm>
            <a:off x="6172200" y="472744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C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Resident Evil 4、Silent Hill 2、Dead Space、Amnesia</a:t>
            </a:r>
            <a:endParaRPr lang="en-US" sz="1180" dirty="0"/>
          </a:p>
        </p:txBody>
      </p:sp>
      <p:sp>
        <p:nvSpPr>
          <p:cNvPr id="23" name="Text 21"/>
          <p:cNvSpPr/>
          <p:nvPr/>
        </p:nvSpPr>
        <p:spPr>
          <a:xfrm>
            <a:off x="914400" y="525780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B4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研究建議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2011680" y="5230368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每條線各選 3–5 款，先做「系統機制 × 玩家感受 × 可復刻原型」三欄比較。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76072" y="6190488"/>
            <a:ext cx="11064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77706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樣本來源：研究表「人工情感優先樣本」頁籤。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6350">
            <a:solidFill>
              <a:srgbClr val="D9D4C8">
                <a:alpha val="8500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30352" y="6519672"/>
            <a:ext cx="9692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5A627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《1001 Video Games You Must Play Before You Die》研究表｜2013版名單二次整理</a:t>
            </a:r>
            <a:endParaRPr lang="en-US" sz="670" dirty="0"/>
          </a:p>
        </p:txBody>
      </p:sp>
      <p:sp>
        <p:nvSpPr>
          <p:cNvPr id="29" name="Text 26"/>
          <p:cNvSpPr/>
          <p:nvPr/>
        </p:nvSpPr>
        <p:spPr>
          <a:xfrm>
            <a:off x="11018520" y="649224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A627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12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744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四個可直接啟動的個案研究題目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50392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C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每個題目都可以變成課堂報告、論文小章節或Unity原型</a:t>
            </a:r>
            <a:endParaRPr lang="en-US" sz="1120" dirty="0"/>
          </a:p>
        </p:txBody>
      </p:sp>
      <p:sp>
        <p:nvSpPr>
          <p:cNvPr id="4" name="Shape 2"/>
          <p:cNvSpPr/>
          <p:nvPr/>
        </p:nvSpPr>
        <p:spPr>
          <a:xfrm>
            <a:off x="576072" y="1170432"/>
            <a:ext cx="1417320" cy="0"/>
          </a:xfrm>
          <a:prstGeom prst="line">
            <a:avLst/>
          </a:prstGeom>
          <a:noFill/>
          <a:ln w="27940">
            <a:solidFill>
              <a:srgbClr val="0787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4709160"/>
            <a:ext cx="9418320" cy="0"/>
          </a:xfrm>
          <a:prstGeom prst="line">
            <a:avLst/>
          </a:prstGeom>
          <a:noFill/>
          <a:ln w="15240">
            <a:solidFill>
              <a:srgbClr val="D5D0C5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5806440" y="1417320"/>
            <a:ext cx="0" cy="3977640"/>
          </a:xfrm>
          <a:prstGeom prst="line">
            <a:avLst/>
          </a:prstGeom>
          <a:noFill/>
          <a:ln w="15240">
            <a:solidFill>
              <a:srgbClr val="D5D0C5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1143000" y="486460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C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系統可量測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9326880" y="486460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5C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敘事情感張力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5989320" y="137160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C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低語言依賴</a:t>
            </a:r>
            <a:endParaRPr lang="en-US" sz="820" dirty="0"/>
          </a:p>
        </p:txBody>
      </p:sp>
      <p:sp>
        <p:nvSpPr>
          <p:cNvPr id="10" name="Text 8"/>
          <p:cNvSpPr/>
          <p:nvPr/>
        </p:nvSpPr>
        <p:spPr>
          <a:xfrm>
            <a:off x="5989320" y="532180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C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高語言／選擇依賴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1143000" y="160020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787B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The Sims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143000" y="194767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17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需求—情緒—行為鏈</a:t>
            </a:r>
            <a:endParaRPr lang="en-US" sz="1280" dirty="0"/>
          </a:p>
        </p:txBody>
      </p:sp>
      <p:sp>
        <p:nvSpPr>
          <p:cNvPr id="13" name="Text 11"/>
          <p:cNvSpPr/>
          <p:nvPr/>
        </p:nvSpPr>
        <p:spPr>
          <a:xfrm>
            <a:off x="1143000" y="2258568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5C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研究玩家如何把狀態條、行為與社交反應讀成「角色內心」。</a:t>
            </a:r>
            <a:endParaRPr lang="en-US" sz="1060" dirty="0"/>
          </a:p>
        </p:txBody>
      </p:sp>
      <p:sp>
        <p:nvSpPr>
          <p:cNvPr id="14" name="Text 12"/>
          <p:cNvSpPr/>
          <p:nvPr/>
        </p:nvSpPr>
        <p:spPr>
          <a:xfrm>
            <a:off x="1143000" y="274320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7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方法：狀態追蹤、事件序列、玩家訪談</a:t>
            </a:r>
            <a:endParaRPr lang="en-US" sz="960" dirty="0"/>
          </a:p>
        </p:txBody>
      </p:sp>
      <p:sp>
        <p:nvSpPr>
          <p:cNvPr id="15" name="Text 13"/>
          <p:cNvSpPr/>
          <p:nvPr/>
        </p:nvSpPr>
        <p:spPr>
          <a:xfrm>
            <a:off x="6446520" y="160020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4B4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Façade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446520" y="194767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17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即時對話與衝突升降</a:t>
            </a:r>
            <a:endParaRPr lang="en-US" sz="1280" dirty="0"/>
          </a:p>
        </p:txBody>
      </p:sp>
      <p:sp>
        <p:nvSpPr>
          <p:cNvPr id="17" name="Text 15"/>
          <p:cNvSpPr/>
          <p:nvPr/>
        </p:nvSpPr>
        <p:spPr>
          <a:xfrm>
            <a:off x="6446520" y="2258568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5C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觀察玩家語句如何改變NPC態度、關係與劇情張力。</a:t>
            </a:r>
            <a:endParaRPr lang="en-US" sz="1060" dirty="0"/>
          </a:p>
        </p:txBody>
      </p:sp>
      <p:sp>
        <p:nvSpPr>
          <p:cNvPr id="18" name="Text 16"/>
          <p:cNvSpPr/>
          <p:nvPr/>
        </p:nvSpPr>
        <p:spPr>
          <a:xfrm>
            <a:off x="6446520" y="274320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7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方法：對話紀錄編碼、情緒轉折標註</a:t>
            </a:r>
            <a:endParaRPr lang="en-US" sz="960" dirty="0"/>
          </a:p>
        </p:txBody>
      </p:sp>
      <p:sp>
        <p:nvSpPr>
          <p:cNvPr id="19" name="Text 17"/>
          <p:cNvSpPr/>
          <p:nvPr/>
        </p:nvSpPr>
        <p:spPr>
          <a:xfrm>
            <a:off x="1143000" y="324612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54B3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Journey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143000" y="359359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17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非語言共感與陌生人連結</a:t>
            </a:r>
            <a:endParaRPr lang="en-US" sz="1280" dirty="0"/>
          </a:p>
        </p:txBody>
      </p:sp>
      <p:sp>
        <p:nvSpPr>
          <p:cNvPr id="21" name="Text 19"/>
          <p:cNvSpPr/>
          <p:nvPr/>
        </p:nvSpPr>
        <p:spPr>
          <a:xfrm>
            <a:off x="1143000" y="3904488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5C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分析無文字、低資訊互動如何建立陪伴與信任。</a:t>
            </a:r>
            <a:endParaRPr lang="en-US" sz="1060" dirty="0"/>
          </a:p>
        </p:txBody>
      </p:sp>
      <p:sp>
        <p:nvSpPr>
          <p:cNvPr id="22" name="Text 20"/>
          <p:cNvSpPr/>
          <p:nvPr/>
        </p:nvSpPr>
        <p:spPr>
          <a:xfrm>
            <a:off x="1143000" y="438912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7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方法：行為錄影、共玩訪談、情緒量表</a:t>
            </a:r>
            <a:endParaRPr lang="en-US" sz="960" dirty="0"/>
          </a:p>
        </p:txBody>
      </p:sp>
      <p:sp>
        <p:nvSpPr>
          <p:cNvPr id="23" name="Text 21"/>
          <p:cNvSpPr/>
          <p:nvPr/>
        </p:nvSpPr>
        <p:spPr>
          <a:xfrm>
            <a:off x="6446520" y="324612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D94A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The Walking Dead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446520" y="359359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17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道德壓力與後悔感</a:t>
            </a:r>
            <a:endParaRPr lang="en-US" sz="1280" dirty="0"/>
          </a:p>
        </p:txBody>
      </p:sp>
      <p:sp>
        <p:nvSpPr>
          <p:cNvPr id="25" name="Text 23"/>
          <p:cNvSpPr/>
          <p:nvPr/>
        </p:nvSpPr>
        <p:spPr>
          <a:xfrm>
            <a:off x="6446520" y="3904488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5C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檢視時間限制與角色關係如何放大選擇情緒。</a:t>
            </a:r>
            <a:endParaRPr lang="en-US" sz="1060" dirty="0"/>
          </a:p>
        </p:txBody>
      </p:sp>
      <p:sp>
        <p:nvSpPr>
          <p:cNvPr id="26" name="Text 24"/>
          <p:cNvSpPr/>
          <p:nvPr/>
        </p:nvSpPr>
        <p:spPr>
          <a:xfrm>
            <a:off x="6446520" y="438912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7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方法：選擇路徑比較、訪談、敘事編碼</a:t>
            </a:r>
            <a:endParaRPr lang="en-US" sz="960" dirty="0"/>
          </a:p>
        </p:txBody>
      </p:sp>
      <p:sp>
        <p:nvSpPr>
          <p:cNvPr id="27" name="Text 25"/>
          <p:cNvSpPr/>
          <p:nvPr/>
        </p:nvSpPr>
        <p:spPr>
          <a:xfrm>
            <a:off x="576072" y="6190488"/>
            <a:ext cx="11064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77706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案例與研究方法：研究表「人工情感優先樣本」二次整理。</a:t>
            </a:r>
            <a:endParaRPr lang="en-US" sz="650" dirty="0"/>
          </a:p>
        </p:txBody>
      </p:sp>
      <p:sp>
        <p:nvSpPr>
          <p:cNvPr id="29" name="Shape 26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6350">
            <a:solidFill>
              <a:srgbClr val="D9D4C8">
                <a:alpha val="8500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30352" y="6519672"/>
            <a:ext cx="9692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5A627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《1001 Video Games You Must Play Before You Die》研究表｜2013版名單二次整理</a:t>
            </a:r>
            <a:endParaRPr lang="en-US" sz="670" dirty="0"/>
          </a:p>
        </p:txBody>
      </p:sp>
      <p:sp>
        <p:nvSpPr>
          <p:cNvPr id="31" name="Text 28"/>
          <p:cNvSpPr/>
          <p:nvPr/>
        </p:nvSpPr>
        <p:spPr>
          <a:xfrm>
            <a:off x="11018520" y="649224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A627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13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cinematic_interior_scene_of_a_game_design_dark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384048"/>
            <a:ext cx="10744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轉成課程：六週就能跑一輪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585216" y="850392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BBD2E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學生不只聽遊戲史，而是用同一套方法做拆解與小型復刻</a:t>
            </a:r>
            <a:endParaRPr lang="en-US" sz="1120" dirty="0"/>
          </a:p>
        </p:txBody>
      </p:sp>
      <p:sp>
        <p:nvSpPr>
          <p:cNvPr id="5" name="Shape 2"/>
          <p:cNvSpPr/>
          <p:nvPr/>
        </p:nvSpPr>
        <p:spPr>
          <a:xfrm>
            <a:off x="576072" y="1170432"/>
            <a:ext cx="1417320" cy="0"/>
          </a:xfrm>
          <a:prstGeom prst="line">
            <a:avLst/>
          </a:prstGeom>
          <a:noFill/>
          <a:ln w="27940">
            <a:solidFill>
              <a:srgbClr val="F4B43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49808" y="1481328"/>
            <a:ext cx="493776" cy="274320"/>
          </a:xfrm>
          <a:prstGeom prst="rect">
            <a:avLst/>
          </a:prstGeom>
          <a:solidFill>
            <a:srgbClr val="F4B43A"/>
          </a:solidFill>
          <a:ln>
            <a:solidFill>
              <a:srgbClr val="F4B4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02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W1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389888" y="1490472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選一款經典</a:t>
            </a:r>
            <a:endParaRPr lang="en-US" sz="1360" dirty="0"/>
          </a:p>
        </p:txBody>
      </p:sp>
      <p:sp>
        <p:nvSpPr>
          <p:cNvPr id="8" name="Text 5"/>
          <p:cNvSpPr/>
          <p:nvPr/>
        </p:nvSpPr>
        <p:spPr>
          <a:xfrm>
            <a:off x="2871216" y="149047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DDEAF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先玩20分鐘，記錄第一個「好玩瞬間」。</a:t>
            </a:r>
            <a:endParaRPr lang="en-US" sz="1040" dirty="0"/>
          </a:p>
        </p:txBody>
      </p:sp>
      <p:sp>
        <p:nvSpPr>
          <p:cNvPr id="9" name="Text 6"/>
          <p:cNvSpPr/>
          <p:nvPr/>
        </p:nvSpPr>
        <p:spPr>
          <a:xfrm>
            <a:off x="749808" y="2139696"/>
            <a:ext cx="493776" cy="274320"/>
          </a:xfrm>
          <a:prstGeom prst="rect">
            <a:avLst/>
          </a:prstGeom>
          <a:solidFill>
            <a:srgbClr val="F4B43A"/>
          </a:solidFill>
          <a:ln>
            <a:solidFill>
              <a:srgbClr val="F4B4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02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W2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389888" y="2148840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拆核心循環</a:t>
            </a:r>
            <a:endParaRPr lang="en-US" sz="1360" dirty="0"/>
          </a:p>
        </p:txBody>
      </p:sp>
      <p:sp>
        <p:nvSpPr>
          <p:cNvPr id="11" name="Text 8"/>
          <p:cNvSpPr/>
          <p:nvPr/>
        </p:nvSpPr>
        <p:spPr>
          <a:xfrm>
            <a:off x="2871216" y="21488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DDEAF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玩家動詞、回饋、難度、獎勵。</a:t>
            </a:r>
            <a:endParaRPr lang="en-US" sz="1040" dirty="0"/>
          </a:p>
        </p:txBody>
      </p:sp>
      <p:sp>
        <p:nvSpPr>
          <p:cNvPr id="12" name="Text 9"/>
          <p:cNvSpPr/>
          <p:nvPr/>
        </p:nvSpPr>
        <p:spPr>
          <a:xfrm>
            <a:off x="749808" y="2798064"/>
            <a:ext cx="493776" cy="274320"/>
          </a:xfrm>
          <a:prstGeom prst="rect">
            <a:avLst/>
          </a:prstGeom>
          <a:solidFill>
            <a:srgbClr val="F4B43A"/>
          </a:solidFill>
          <a:ln>
            <a:solidFill>
              <a:srgbClr val="F4B4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02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W3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389888" y="2807208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拆情緒曲線</a:t>
            </a:r>
            <a:endParaRPr lang="en-US" sz="1360" dirty="0"/>
          </a:p>
        </p:txBody>
      </p:sp>
      <p:sp>
        <p:nvSpPr>
          <p:cNvPr id="14" name="Text 11"/>
          <p:cNvSpPr/>
          <p:nvPr/>
        </p:nvSpPr>
        <p:spPr>
          <a:xfrm>
            <a:off x="2871216" y="28072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DDEAF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緊張、好奇、爽快、愧疚或陪伴。</a:t>
            </a:r>
            <a:endParaRPr lang="en-US" sz="1040" dirty="0"/>
          </a:p>
        </p:txBody>
      </p:sp>
      <p:sp>
        <p:nvSpPr>
          <p:cNvPr id="15" name="Text 12"/>
          <p:cNvSpPr/>
          <p:nvPr/>
        </p:nvSpPr>
        <p:spPr>
          <a:xfrm>
            <a:off x="749808" y="3456432"/>
            <a:ext cx="493776" cy="274320"/>
          </a:xfrm>
          <a:prstGeom prst="rect">
            <a:avLst/>
          </a:prstGeom>
          <a:solidFill>
            <a:srgbClr val="15BDEB"/>
          </a:solidFill>
          <a:ln>
            <a:solidFill>
              <a:srgbClr val="15BD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02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W4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1389888" y="3465576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Unity小復刻</a:t>
            </a:r>
            <a:endParaRPr lang="en-US" sz="1360" dirty="0"/>
          </a:p>
        </p:txBody>
      </p:sp>
      <p:sp>
        <p:nvSpPr>
          <p:cNvPr id="17" name="Text 14"/>
          <p:cNvSpPr/>
          <p:nvPr/>
        </p:nvSpPr>
        <p:spPr>
          <a:xfrm>
            <a:off x="2871216" y="346557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DDEAF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只復刻最小可玩循環，不做完整遊戲。</a:t>
            </a:r>
            <a:endParaRPr lang="en-US" sz="1040" dirty="0"/>
          </a:p>
        </p:txBody>
      </p:sp>
      <p:sp>
        <p:nvSpPr>
          <p:cNvPr id="18" name="Text 15"/>
          <p:cNvSpPr/>
          <p:nvPr/>
        </p:nvSpPr>
        <p:spPr>
          <a:xfrm>
            <a:off x="749808" y="4114800"/>
            <a:ext cx="493776" cy="274320"/>
          </a:xfrm>
          <a:prstGeom prst="rect">
            <a:avLst/>
          </a:prstGeom>
          <a:solidFill>
            <a:srgbClr val="15BDEB"/>
          </a:solidFill>
          <a:ln>
            <a:solidFill>
              <a:srgbClr val="15BD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02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W5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1389888" y="4123944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加一個情感變因</a:t>
            </a:r>
            <a:endParaRPr lang="en-US" sz="1360" dirty="0"/>
          </a:p>
        </p:txBody>
      </p:sp>
      <p:sp>
        <p:nvSpPr>
          <p:cNvPr id="20" name="Text 17"/>
          <p:cNvSpPr/>
          <p:nvPr/>
        </p:nvSpPr>
        <p:spPr>
          <a:xfrm>
            <a:off x="2871216" y="412394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DDEAF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NPC記憶、表情回饋、選擇後果或關係值。</a:t>
            </a:r>
            <a:endParaRPr lang="en-US" sz="1040" dirty="0"/>
          </a:p>
        </p:txBody>
      </p:sp>
      <p:sp>
        <p:nvSpPr>
          <p:cNvPr id="21" name="Text 18"/>
          <p:cNvSpPr/>
          <p:nvPr/>
        </p:nvSpPr>
        <p:spPr>
          <a:xfrm>
            <a:off x="749808" y="4773168"/>
            <a:ext cx="493776" cy="274320"/>
          </a:xfrm>
          <a:prstGeom prst="rect">
            <a:avLst/>
          </a:prstGeom>
          <a:solidFill>
            <a:srgbClr val="15BDEB"/>
          </a:solidFill>
          <a:ln>
            <a:solidFill>
              <a:srgbClr val="15BD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02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W6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1389888" y="4782312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展示與反思</a:t>
            </a:r>
            <a:endParaRPr lang="en-US" sz="1360" dirty="0"/>
          </a:p>
        </p:txBody>
      </p:sp>
      <p:sp>
        <p:nvSpPr>
          <p:cNvPr id="23" name="Text 20"/>
          <p:cNvSpPr/>
          <p:nvPr/>
        </p:nvSpPr>
        <p:spPr>
          <a:xfrm>
            <a:off x="2871216" y="478231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DDEAF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比較原作、復刻與再設計的差異。</a:t>
            </a:r>
            <a:endParaRPr lang="en-US" sz="1040" dirty="0"/>
          </a:p>
        </p:txBody>
      </p:sp>
      <p:sp>
        <p:nvSpPr>
          <p:cNvPr id="24" name="Text 21"/>
          <p:cNvSpPr/>
          <p:nvPr/>
        </p:nvSpPr>
        <p:spPr>
          <a:xfrm>
            <a:off x="749808" y="5742432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F4B4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作業成果</a:t>
            </a:r>
            <a:endParaRPr lang="en-US" sz="1260" dirty="0"/>
          </a:p>
        </p:txBody>
      </p:sp>
      <p:sp>
        <p:nvSpPr>
          <p:cNvPr id="25" name="Text 22"/>
          <p:cNvSpPr/>
          <p:nvPr/>
        </p:nvSpPr>
        <p:spPr>
          <a:xfrm>
            <a:off x="1719072" y="568756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一頁分析圖＋30秒影片＋一個可玩的最小原型</a:t>
            </a:r>
            <a:endParaRPr lang="en-US" sz="1450" dirty="0"/>
          </a:p>
        </p:txBody>
      </p:sp>
      <p:sp>
        <p:nvSpPr>
          <p:cNvPr id="26" name="Text 23"/>
          <p:cNvSpPr/>
          <p:nvPr/>
        </p:nvSpPr>
        <p:spPr>
          <a:xfrm>
            <a:off x="576072" y="6190488"/>
            <a:ext cx="11064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94A7B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課程模組：依研究表欄位與使用者遊戲設計／Unity教學需求規劃。</a:t>
            </a:r>
            <a:endParaRPr lang="en-US" sz="650" dirty="0"/>
          </a:p>
        </p:txBody>
      </p:sp>
      <p:sp>
        <p:nvSpPr>
          <p:cNvPr id="28" name="Shape 24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6350">
            <a:solidFill>
              <a:srgbClr val="2B3B59">
                <a:alpha val="85000"/>
              </a:srgbClr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30352" y="6519672"/>
            <a:ext cx="9692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C9D3E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《1001 Video Games You Must Play Before You Die》研究表｜2013版名單二次整理</a:t>
            </a:r>
            <a:endParaRPr lang="en-US" sz="670" dirty="0"/>
          </a:p>
        </p:txBody>
      </p:sp>
      <p:sp>
        <p:nvSpPr>
          <p:cNvPr id="30" name="Text 26"/>
          <p:cNvSpPr/>
          <p:nvPr/>
        </p:nvSpPr>
        <p:spPr>
          <a:xfrm>
            <a:off x="11018520" y="649224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9D3E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14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C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744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轉成研究：三層選樣，避免1001款太大而失焦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50392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C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從20款深讀開始，再擴成50款比較，最後才做100款資料庫</a:t>
            </a:r>
            <a:endParaRPr lang="en-US" sz="1120" dirty="0"/>
          </a:p>
        </p:txBody>
      </p:sp>
      <p:sp>
        <p:nvSpPr>
          <p:cNvPr id="4" name="Shape 2"/>
          <p:cNvSpPr/>
          <p:nvPr/>
        </p:nvSpPr>
        <p:spPr>
          <a:xfrm>
            <a:off x="576072" y="1170432"/>
            <a:ext cx="1417320" cy="0"/>
          </a:xfrm>
          <a:prstGeom prst="line">
            <a:avLst/>
          </a:prstGeom>
          <a:noFill/>
          <a:ln w="27940">
            <a:solidFill>
              <a:srgbClr val="0787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23160" y="2880360"/>
            <a:ext cx="1828800" cy="0"/>
          </a:xfrm>
          <a:prstGeom prst="line">
            <a:avLst/>
          </a:prstGeom>
          <a:noFill/>
          <a:ln w="26670">
            <a:solidFill>
              <a:srgbClr val="0787B2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6035040" y="2880360"/>
            <a:ext cx="1828800" cy="0"/>
          </a:xfrm>
          <a:prstGeom prst="line">
            <a:avLst/>
          </a:prstGeom>
          <a:noFill/>
          <a:ln w="26670">
            <a:solidFill>
              <a:srgbClr val="0787B2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713232" y="1773936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4B4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20款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713232" y="24048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深讀樣本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4632" y="3401568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人工情感、類型代表、復刻價值最高者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74320" y="4251960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7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產出：個案筆記、遊玩錄影、研究問題</a:t>
            </a:r>
            <a:endParaRPr lang="en-US" sz="1120" dirty="0"/>
          </a:p>
        </p:txBody>
      </p:sp>
      <p:sp>
        <p:nvSpPr>
          <p:cNvPr id="11" name="Text 9"/>
          <p:cNvSpPr/>
          <p:nvPr/>
        </p:nvSpPr>
        <p:spPr>
          <a:xfrm>
            <a:off x="4370832" y="1773936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787B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50款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370832" y="24048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比較樣本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142232" y="3401568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每類型與每時期至少有代表作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931920" y="4251960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7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產出：設計語法矩陣、情緒機制對照</a:t>
            </a:r>
            <a:endParaRPr lang="en-US" sz="1120" dirty="0"/>
          </a:p>
        </p:txBody>
      </p:sp>
      <p:sp>
        <p:nvSpPr>
          <p:cNvPr id="15" name="Text 13"/>
          <p:cNvSpPr/>
          <p:nvPr/>
        </p:nvSpPr>
        <p:spPr>
          <a:xfrm>
            <a:off x="8028432" y="1773936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94A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100款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8028432" y="24048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資料庫樣本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799832" y="3401568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納入台灣課程與畢專可操作範圍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589520" y="4251960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7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產出：課程案例庫、論文附錄、學生選題池</a:t>
            </a:r>
            <a:endParaRPr lang="en-US" sz="1120" dirty="0"/>
          </a:p>
        </p:txBody>
      </p:sp>
      <p:sp>
        <p:nvSpPr>
          <p:cNvPr id="19" name="Text 17"/>
          <p:cNvSpPr/>
          <p:nvPr/>
        </p:nvSpPr>
        <p:spPr>
          <a:xfrm>
            <a:off x="914400" y="544068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B4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建議先做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965960" y="5404104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80" b="1" dirty="0">
                <a:solidFill>
                  <a:srgbClr val="17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「20款深讀樣本」：其中至少10款來自人工情感優先樣本，10款來自不同年代與類型。</a:t>
            </a:r>
            <a:endParaRPr lang="en-US" sz="1580" dirty="0"/>
          </a:p>
        </p:txBody>
      </p:sp>
      <p:sp>
        <p:nvSpPr>
          <p:cNvPr id="21" name="Text 19"/>
          <p:cNvSpPr/>
          <p:nvPr/>
        </p:nvSpPr>
        <p:spPr>
          <a:xfrm>
            <a:off x="576072" y="6190488"/>
            <a:ext cx="11064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77706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研究策略：依使用者博士論文與教學應用需求規劃。</a:t>
            </a:r>
            <a:endParaRPr lang="en-US" sz="650" dirty="0"/>
          </a:p>
        </p:txBody>
      </p:sp>
      <p:sp>
        <p:nvSpPr>
          <p:cNvPr id="23" name="Shape 20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6350">
            <a:solidFill>
              <a:srgbClr val="D9D4C8">
                <a:alpha val="85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30352" y="6519672"/>
            <a:ext cx="9692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5A627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《1001 Video Games You Must Play Before You Die》研究表｜2013版名單二次整理</a:t>
            </a:r>
            <a:endParaRPr lang="en-US" sz="670" dirty="0"/>
          </a:p>
        </p:txBody>
      </p:sp>
      <p:sp>
        <p:nvSpPr>
          <p:cNvPr id="25" name="Text 22"/>
          <p:cNvSpPr/>
          <p:nvPr/>
        </p:nvSpPr>
        <p:spPr>
          <a:xfrm>
            <a:off x="11018520" y="649224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A627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15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744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轉成系所特色：經典遊戲 × AI情感 × 實作復刻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50392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BBD2E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這份資料庫可同時支援教學、畢專、研究與招生溝通</a:t>
            </a:r>
            <a:endParaRPr lang="en-US" sz="1120" dirty="0"/>
          </a:p>
        </p:txBody>
      </p:sp>
      <p:sp>
        <p:nvSpPr>
          <p:cNvPr id="4" name="Shape 2"/>
          <p:cNvSpPr/>
          <p:nvPr/>
        </p:nvSpPr>
        <p:spPr>
          <a:xfrm>
            <a:off x="576072" y="1170432"/>
            <a:ext cx="1417320" cy="0"/>
          </a:xfrm>
          <a:prstGeom prst="line">
            <a:avLst/>
          </a:prstGeom>
          <a:noFill/>
          <a:ln w="27940">
            <a:solidFill>
              <a:srgbClr val="F4B4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0876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不是懷舊，而是把經典變成學生可以做的作品。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240280" y="2880360"/>
            <a:ext cx="1417320" cy="0"/>
          </a:xfrm>
          <a:prstGeom prst="line">
            <a:avLst/>
          </a:prstGeom>
          <a:noFill/>
          <a:ln w="19050">
            <a:solidFill>
              <a:srgbClr val="34506F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166360" y="2880360"/>
            <a:ext cx="1417320" cy="0"/>
          </a:xfrm>
          <a:prstGeom prst="line">
            <a:avLst/>
          </a:prstGeom>
          <a:noFill/>
          <a:ln w="19050">
            <a:solidFill>
              <a:srgbClr val="34506F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868680" y="243230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BDE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經典拆解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95528" y="3081528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D7E4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看懂遊戲為何成立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794760" y="243230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B4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情感再設計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721608" y="3081528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D7E4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加入關係、記憶、情緒回饋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720840" y="243230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4A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Unity復刻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647688" y="3081528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D7E4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做出最小可玩原型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41248" y="444398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B4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可以形成三種對外敘事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68680" y="498348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BDE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招生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600200" y="498348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D7E4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學生不是只玩遊戲，而是研究經典、做出新玩法。</a:t>
            </a:r>
            <a:endParaRPr lang="en-US" sz="1110" dirty="0"/>
          </a:p>
        </p:txBody>
      </p:sp>
      <p:sp>
        <p:nvSpPr>
          <p:cNvPr id="17" name="Text 15"/>
          <p:cNvSpPr/>
          <p:nvPr/>
        </p:nvSpPr>
        <p:spPr>
          <a:xfrm>
            <a:off x="4160520" y="498348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B4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畢專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892040" y="498348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D7E4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每組先有可比較的歷史案例，降低空想。</a:t>
            </a:r>
            <a:endParaRPr lang="en-US" sz="1110" dirty="0"/>
          </a:p>
        </p:txBody>
      </p:sp>
      <p:sp>
        <p:nvSpPr>
          <p:cNvPr id="19" name="Text 17"/>
          <p:cNvSpPr/>
          <p:nvPr/>
        </p:nvSpPr>
        <p:spPr>
          <a:xfrm>
            <a:off x="7452360" y="498348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94A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研究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183880" y="498348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D7E4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把人工情感聚焦在可觀察的遊戲機制與玩家反應。</a:t>
            </a:r>
            <a:endParaRPr lang="en-US" sz="1110" dirty="0"/>
          </a:p>
        </p:txBody>
      </p:sp>
      <p:sp>
        <p:nvSpPr>
          <p:cNvPr id="21" name="Text 19"/>
          <p:cNvSpPr/>
          <p:nvPr/>
        </p:nvSpPr>
        <p:spPr>
          <a:xfrm>
            <a:off x="576072" y="6190488"/>
            <a:ext cx="11064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94A7B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應用規劃：依動畫與遊戲設計系教學、畢專與研究情境設計。</a:t>
            </a:r>
            <a:endParaRPr lang="en-US" sz="650" dirty="0"/>
          </a:p>
        </p:txBody>
      </p:sp>
      <p:sp>
        <p:nvSpPr>
          <p:cNvPr id="23" name="Shape 20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6350">
            <a:solidFill>
              <a:srgbClr val="2B3B59">
                <a:alpha val="85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30352" y="6519672"/>
            <a:ext cx="9692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C9D3E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《1001 Video Games You Must Play Before You Die》研究表｜2013版名單二次整理</a:t>
            </a:r>
            <a:endParaRPr lang="en-US" sz="670" dirty="0"/>
          </a:p>
        </p:txBody>
      </p:sp>
      <p:sp>
        <p:nvSpPr>
          <p:cNvPr id="25" name="Text 22"/>
          <p:cNvSpPr/>
          <p:nvPr/>
        </p:nvSpPr>
        <p:spPr>
          <a:xfrm>
            <a:off x="11018520" y="649224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9D3E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16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744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使用時要保留限制：經典清單不是完整遊戲史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50392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C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最好的用法，是把它當作1971–2013的研究母體，再補足2020年代議題</a:t>
            </a:r>
            <a:endParaRPr lang="en-US" sz="1120" dirty="0"/>
          </a:p>
        </p:txBody>
      </p:sp>
      <p:sp>
        <p:nvSpPr>
          <p:cNvPr id="4" name="Shape 2"/>
          <p:cNvSpPr/>
          <p:nvPr/>
        </p:nvSpPr>
        <p:spPr>
          <a:xfrm>
            <a:off x="576072" y="1170432"/>
            <a:ext cx="1417320" cy="0"/>
          </a:xfrm>
          <a:prstGeom prst="line">
            <a:avLst/>
          </a:prstGeom>
          <a:noFill/>
          <a:ln w="27940">
            <a:solidFill>
              <a:srgbClr val="0787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380744"/>
            <a:ext cx="384048" cy="265176"/>
          </a:xfrm>
          <a:prstGeom prst="rect">
            <a:avLst/>
          </a:prstGeom>
          <a:solidFill>
            <a:srgbClr val="0787B2"/>
          </a:solidFill>
          <a:ln>
            <a:solidFill>
              <a:srgbClr val="0787B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417320" y="1389888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7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2013後缺口</a:t>
            </a:r>
            <a:endParaRPr lang="en-US" sz="1360" dirty="0"/>
          </a:p>
        </p:txBody>
      </p:sp>
      <p:sp>
        <p:nvSpPr>
          <p:cNvPr id="7" name="Text 5"/>
          <p:cNvSpPr/>
          <p:nvPr/>
        </p:nvSpPr>
        <p:spPr>
          <a:xfrm>
            <a:off x="3154680" y="138988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C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直播、Battle Royale、服務型遊戲、手機抽卡、VR、生成式AI NPC需要另補。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41248" y="2148840"/>
            <a:ext cx="384048" cy="265176"/>
          </a:xfrm>
          <a:prstGeom prst="rect">
            <a:avLst/>
          </a:prstGeom>
          <a:solidFill>
            <a:srgbClr val="F4B43A"/>
          </a:solidFill>
          <a:ln>
            <a:solidFill>
              <a:srgbClr val="F4B4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02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417320" y="2157984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7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清單偏誤</a:t>
            </a:r>
            <a:endParaRPr lang="en-US" sz="1360" dirty="0"/>
          </a:p>
        </p:txBody>
      </p:sp>
      <p:sp>
        <p:nvSpPr>
          <p:cNvPr id="10" name="Text 8"/>
          <p:cNvSpPr/>
          <p:nvPr/>
        </p:nvSpPr>
        <p:spPr>
          <a:xfrm>
            <a:off x="3154680" y="2157984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C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「必玩」是編輯與評論者的經典建構，不等於全球或台灣玩家經驗。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41248" y="2916936"/>
            <a:ext cx="384048" cy="265176"/>
          </a:xfrm>
          <a:prstGeom prst="rect">
            <a:avLst/>
          </a:prstGeom>
          <a:solidFill>
            <a:srgbClr val="D94A8C"/>
          </a:solidFill>
          <a:ln>
            <a:solidFill>
              <a:srgbClr val="D94A8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03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417320" y="2926080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7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資料欄位限制</a:t>
            </a:r>
            <a:endParaRPr lang="en-US" sz="1360" dirty="0"/>
          </a:p>
        </p:txBody>
      </p:sp>
      <p:sp>
        <p:nvSpPr>
          <p:cNvPr id="13" name="Text 11"/>
          <p:cNvSpPr/>
          <p:nvPr/>
        </p:nvSpPr>
        <p:spPr>
          <a:xfrm>
            <a:off x="3154680" y="292608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C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公開名單中的公司欄、平台欄可能混合開發、發行或移植資訊。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41248" y="3685032"/>
            <a:ext cx="384048" cy="265176"/>
          </a:xfrm>
          <a:prstGeom prst="rect">
            <a:avLst/>
          </a:prstGeom>
          <a:solidFill>
            <a:srgbClr val="54B37A"/>
          </a:solidFill>
          <a:ln>
            <a:solidFill>
              <a:srgbClr val="54B37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04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417320" y="3694176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7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類型需查證</a:t>
            </a:r>
            <a:endParaRPr lang="en-US" sz="1360" dirty="0"/>
          </a:p>
        </p:txBody>
      </p:sp>
      <p:sp>
        <p:nvSpPr>
          <p:cNvPr id="16" name="Text 14"/>
          <p:cNvSpPr/>
          <p:nvPr/>
        </p:nvSpPr>
        <p:spPr>
          <a:xfrm>
            <a:off x="3154680" y="3694176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C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195款仍列待分類，正式研究應回到原作與二次資料。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41248" y="4453128"/>
            <a:ext cx="384048" cy="265176"/>
          </a:xfrm>
          <a:prstGeom prst="rect">
            <a:avLst/>
          </a:prstGeom>
          <a:solidFill>
            <a:srgbClr val="D95C55"/>
          </a:solidFill>
          <a:ln>
            <a:solidFill>
              <a:srgbClr val="D95C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05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417320" y="446227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7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AI倫理與產業風險</a:t>
            </a:r>
            <a:endParaRPr lang="en-US" sz="1360" dirty="0"/>
          </a:p>
        </p:txBody>
      </p:sp>
      <p:sp>
        <p:nvSpPr>
          <p:cNvPr id="19" name="Text 17"/>
          <p:cNvSpPr/>
          <p:nvPr/>
        </p:nvSpPr>
        <p:spPr>
          <a:xfrm>
            <a:off x="3154680" y="446227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C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生成式AI已進入遊戲製作，但IP、勞動、品質與信任問題仍需納入教學。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59536" y="560527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B4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補強方向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883664" y="555955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7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建立「台灣／亞洲／手機／獨立／AI情感」的附加清單，和1001款形成比較。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576072" y="6190488"/>
            <a:ext cx="11064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77706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AI產業現況參考：GDC 2025/2026 State of the Game Industry；Generative Agents UIST 2023。</a:t>
            </a:r>
            <a:endParaRPr lang="en-US" sz="650" dirty="0"/>
          </a:p>
        </p:txBody>
      </p:sp>
      <p:sp>
        <p:nvSpPr>
          <p:cNvPr id="24" name="Shape 21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6350">
            <a:solidFill>
              <a:srgbClr val="D9D4C8">
                <a:alpha val="85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30352" y="6519672"/>
            <a:ext cx="9692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5A627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《1001 Video Games You Must Play Before You Die》研究表｜2013版名單二次整理</a:t>
            </a:r>
            <a:endParaRPr lang="en-US" sz="670" dirty="0"/>
          </a:p>
        </p:txBody>
      </p:sp>
      <p:sp>
        <p:nvSpPr>
          <p:cNvPr id="26" name="Text 23"/>
          <p:cNvSpPr/>
          <p:nvPr/>
        </p:nvSpPr>
        <p:spPr>
          <a:xfrm>
            <a:off x="11018520" y="649224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A627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17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744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下一步：把簡報變成三個可執行資料包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50392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BBD2E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課程版、研究版、復刻版可以分開產出，彼此互相支援</a:t>
            </a:r>
            <a:endParaRPr lang="en-US" sz="1120" dirty="0"/>
          </a:p>
        </p:txBody>
      </p:sp>
      <p:sp>
        <p:nvSpPr>
          <p:cNvPr id="4" name="Shape 2"/>
          <p:cNvSpPr/>
          <p:nvPr/>
        </p:nvSpPr>
        <p:spPr>
          <a:xfrm>
            <a:off x="576072" y="1170432"/>
            <a:ext cx="1417320" cy="0"/>
          </a:xfrm>
          <a:prstGeom prst="line">
            <a:avLst/>
          </a:prstGeom>
          <a:noFill/>
          <a:ln w="27940">
            <a:solidFill>
              <a:srgbClr val="F4B4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81912"/>
            <a:ext cx="420624" cy="420624"/>
          </a:xfrm>
          <a:prstGeom prst="rect">
            <a:avLst/>
          </a:prstGeom>
          <a:solidFill>
            <a:srgbClr val="15BDEB"/>
          </a:solidFill>
          <a:ln>
            <a:solidFill>
              <a:srgbClr val="15BD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02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481328" y="153619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5BDE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60款課程案例庫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99616" y="1975104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DCE8F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每週可教、可展示、可討論；含教學問題與短作業。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822960" y="2752344"/>
            <a:ext cx="420624" cy="420624"/>
          </a:xfrm>
          <a:prstGeom prst="rect">
            <a:avLst/>
          </a:prstGeom>
          <a:solidFill>
            <a:srgbClr val="F4B43A"/>
          </a:solidFill>
          <a:ln>
            <a:solidFill>
              <a:srgbClr val="F4B4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02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81328" y="270662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4B4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30款人工情感個案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99616" y="3145536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DCE8F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對應NPC、關係、道德、共感、壓力調節五條研究線。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822960" y="3922776"/>
            <a:ext cx="420624" cy="420624"/>
          </a:xfrm>
          <a:prstGeom prst="rect">
            <a:avLst/>
          </a:prstGeom>
          <a:solidFill>
            <a:srgbClr val="D94A8C"/>
          </a:solidFill>
          <a:ln>
            <a:solidFill>
              <a:srgbClr val="D94A8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02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81328" y="387705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D94A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20款Unity復刻清單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99616" y="4315968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DCE8F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每款只做最小核心循環，方便學生快速完成作品雛形。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841248" y="52578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B4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主要資料來源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41248" y="5596128"/>
            <a:ext cx="10378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AFC2D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1001 Video Games You Must Play Before You Die（Tony Mott ed.; WorldCat／Wikipedia／中文版書目）｜2013版公開名單與本次研究表｜Steam community 2013版變動列表｜Park et al. Generative Agents（UIST 2023/arXiv）｜GDC 2025/2026 State of the Game Industry。</a:t>
            </a:r>
            <a:endParaRPr lang="en-US" sz="870" dirty="0"/>
          </a:p>
        </p:txBody>
      </p:sp>
      <p:sp>
        <p:nvSpPr>
          <p:cNvPr id="16" name="Text 14"/>
          <p:cNvSpPr/>
          <p:nvPr/>
        </p:nvSpPr>
        <p:spPr>
          <a:xfrm>
            <a:off x="841248" y="6199632"/>
            <a:ext cx="10332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7F8EA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備註：本簡報沒有重製原書條目文字；重點是把公開名單與自建欄位轉為教學、研究與設計策略。</a:t>
            </a:r>
            <a:endParaRPr lang="en-US" sz="730" dirty="0"/>
          </a:p>
        </p:txBody>
      </p:sp>
      <p:sp>
        <p:nvSpPr>
          <p:cNvPr id="18" name="Shape 15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6350">
            <a:solidFill>
              <a:srgbClr val="2B3B59">
                <a:alpha val="85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30352" y="6519672"/>
            <a:ext cx="9692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C9D3E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Sources listed on slide; workbook: 1001款不得不玩的遊戲_研究表_2013版.xlsx</a:t>
            </a:r>
            <a:endParaRPr lang="en-US" sz="670" dirty="0"/>
          </a:p>
        </p:txBody>
      </p:sp>
      <p:sp>
        <p:nvSpPr>
          <p:cNvPr id="20" name="Text 17"/>
          <p:cNvSpPr/>
          <p:nvPr/>
        </p:nvSpPr>
        <p:spPr>
          <a:xfrm>
            <a:off x="11018520" y="649224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9D3E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18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T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T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1001款不得不玩的遊戲｜深入研究簡報</dc:title>
  <dc:subject>1001 Video Games research presentation</dc:subject>
  <dc:creator>OpenAI</dc:creator>
  <cp:lastModifiedBy>OpenAI</cp:lastModifiedBy>
  <cp:revision>1</cp:revision>
  <dcterms:created xsi:type="dcterms:W3CDTF">2026-08-09T03:42:26Z</dcterms:created>
  <dcterms:modified xsi:type="dcterms:W3CDTF">2026-08-09T03:42:26Z</dcterms:modified>
</cp:coreProperties>
</file>