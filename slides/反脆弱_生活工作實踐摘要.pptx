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245352"/>
            <a:ext cx="6172200" cy="18288"/>
          </a:xfrm>
          <a:prstGeom prst="rect">
            <a:avLst/>
          </a:prstGeom>
          <a:solidFill>
            <a:srgbClr val="334155">
              <a:alpha val="9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09728"/>
            <a:ext cx="4480560" cy="6263640"/>
          </a:xfrm>
          <a:prstGeom prst="rect">
            <a:avLst/>
          </a:prstGeom>
          <a:solidFill>
            <a:srgbClr val="1D2939">
              <a:alpha val="90000"/>
            </a:srgbClr>
          </a:solidFill>
          <a:ln w="12700">
            <a:solidFill>
              <a:srgbClr val="1D293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16368" y="502920"/>
            <a:ext cx="73152" cy="5440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0584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反脆弱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13232" y="184708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把壓力變成可累積的成長系統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57860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健身 × 遊戲開發 × 行政 × 父親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3977640"/>
            <a:ext cx="1508760" cy="960120"/>
          </a:xfrm>
          <a:prstGeom prst="roundRect">
            <a:avLst/>
          </a:prstGeom>
          <a:solidFill>
            <a:srgbClr val="FBBF24">
              <a:alpha val="92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4223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小錯誤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資訊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286000" y="42793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770632" y="3977640"/>
            <a:ext cx="1508760" cy="960120"/>
          </a:xfrm>
          <a:prstGeom prst="roundRect">
            <a:avLst/>
          </a:prstGeom>
          <a:solidFill>
            <a:srgbClr val="FB7185">
              <a:alpha val="92000"/>
            </a:srgbClr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414223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大錯誤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80360" y="448056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護欄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343400" y="42793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828032" y="3977640"/>
            <a:ext cx="1508760" cy="960120"/>
          </a:xfrm>
          <a:prstGeom prst="round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414223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做對了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448056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累積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909560" y="1152144"/>
            <a:ext cx="31546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重點不是更會硬撐，而是把生活與工作設計成「可承受小失敗、避免大災難、放大好結果」。</a:t>
            </a:r>
            <a:endParaRPr lang="en-US" sz="2050" dirty="0"/>
          </a:p>
        </p:txBody>
      </p:sp>
      <p:sp>
        <p:nvSpPr>
          <p:cNvPr id="22" name="Shape 20"/>
          <p:cNvSpPr/>
          <p:nvPr/>
        </p:nvSpPr>
        <p:spPr>
          <a:xfrm>
            <a:off x="7909560" y="3200400"/>
            <a:ext cx="30175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9560" y="3520440"/>
            <a:ext cx="31546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你的關鍵風險：四個角色都太依賴你親自處理，容易形成「單點故障」。</a:t>
            </a:r>
            <a:endParaRPr lang="en-US" sz="1820" dirty="0"/>
          </a:p>
        </p:txBody>
      </p:sp>
      <p:sp>
        <p:nvSpPr>
          <p:cNvPr id="24" name="Text 22"/>
          <p:cNvSpPr/>
          <p:nvPr/>
        </p:nvSpPr>
        <p:spPr>
          <a:xfrm>
            <a:off x="594360" y="64373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反脆弱實踐摘要｜樹遠老師的生活與工作情境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245352"/>
            <a:ext cx="6172200" cy="18288"/>
          </a:xfrm>
          <a:prstGeom prst="rect">
            <a:avLst/>
          </a:prstGeom>
          <a:solidFill>
            <a:srgbClr val="334155">
              <a:alpha val="9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核心判斷：不是硬撐，而是系統設計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8869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每件事都先問：失敗有上限嗎？成功能放大嗎？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835640" y="64373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3063240" cy="3429000"/>
          </a:xfrm>
          <a:prstGeom prst="roundRect">
            <a:avLst/>
          </a:prstGeom>
          <a:solidFill>
            <a:srgbClr val="1D2939">
              <a:alpha val="97000"/>
            </a:srgbClr>
          </a:solidFill>
          <a:ln w="15875">
            <a:solidFill>
              <a:srgbClr val="FBBF24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783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1832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小錯可承受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60120" y="29718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用低成本試驗換真實資訊；不要等到最後才知道方法錯。</a:t>
            </a:r>
            <a:endParaRPr lang="en-US" sz="1780" dirty="0"/>
          </a:p>
        </p:txBody>
      </p:sp>
      <p:sp>
        <p:nvSpPr>
          <p:cNvPr id="12" name="Shape 10"/>
          <p:cNvSpPr/>
          <p:nvPr/>
        </p:nvSpPr>
        <p:spPr>
          <a:xfrm>
            <a:off x="960120" y="4526280"/>
            <a:ext cx="2377440" cy="0"/>
          </a:xfrm>
          <a:prstGeom prst="line">
            <a:avLst/>
          </a:prstGeom>
          <a:noFill/>
          <a:ln w="1778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508760"/>
            <a:ext cx="3063240" cy="3429000"/>
          </a:xfrm>
          <a:prstGeom prst="roundRect">
            <a:avLst/>
          </a:prstGeom>
          <a:solidFill>
            <a:srgbClr val="1D2939">
              <a:alpha val="97000"/>
            </a:srgbClr>
          </a:solidFill>
          <a:ln w="15875">
            <a:solidFill>
              <a:srgbClr val="FB7185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783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36592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大錯有護欄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754880" y="29718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身體、資料、期限、關係，不能因一次波動被擊穿。</a:t>
            </a:r>
            <a:endParaRPr lang="en-US" sz="1780" dirty="0"/>
          </a:p>
        </p:txBody>
      </p:sp>
      <p:sp>
        <p:nvSpPr>
          <p:cNvPr id="17" name="Shape 15"/>
          <p:cNvSpPr/>
          <p:nvPr/>
        </p:nvSpPr>
        <p:spPr>
          <a:xfrm>
            <a:off x="4754880" y="4526280"/>
            <a:ext cx="2377440" cy="0"/>
          </a:xfrm>
          <a:prstGeom prst="line">
            <a:avLst/>
          </a:prstGeom>
          <a:noFill/>
          <a:ln w="17780">
            <a:solidFill>
              <a:srgbClr val="FB7185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1508760"/>
            <a:ext cx="3063240" cy="3429000"/>
          </a:xfrm>
          <a:prstGeom prst="roundRect">
            <a:avLst/>
          </a:prstGeom>
          <a:solidFill>
            <a:srgbClr val="1D2939">
              <a:alpha val="97000"/>
            </a:srgbClr>
          </a:solidFill>
          <a:ln w="15875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1352" y="1783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31352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做對能累積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549640" y="29718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把成功留下來：模板、SOP、版本、習慣、檢查表。</a:t>
            </a:r>
            <a:endParaRPr lang="en-US" sz="1780" dirty="0"/>
          </a:p>
        </p:txBody>
      </p:sp>
      <p:sp>
        <p:nvSpPr>
          <p:cNvPr id="22" name="Shape 20"/>
          <p:cNvSpPr/>
          <p:nvPr/>
        </p:nvSpPr>
        <p:spPr>
          <a:xfrm>
            <a:off x="8549640" y="4526280"/>
            <a:ext cx="2377440" cy="0"/>
          </a:xfrm>
          <a:prstGeom prst="line">
            <a:avLst/>
          </a:prstGeom>
          <a:noFill/>
          <a:ln w="1778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5440680"/>
            <a:ext cx="10241280" cy="621792"/>
          </a:xfrm>
          <a:prstGeom prst="roundRect">
            <a:avLst/>
          </a:prstGeom>
          <a:solidFill>
            <a:srgbClr val="38BDF8">
              <a:alpha val="9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5586984"/>
            <a:ext cx="9838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一句話：讓壞意外的損失有限，讓好意外的收益可以延伸。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594360" y="64373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反脆弱 = 可承受的小波動 + 防大傷的護欄 + 能累積的回饋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245352"/>
            <a:ext cx="6172200" cy="18288"/>
          </a:xfrm>
          <a:prstGeom prst="rect">
            <a:avLst/>
          </a:prstGeom>
          <a:solidFill>
            <a:srgbClr val="334155">
              <a:alpha val="9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健身：用可恢復壓力換長期能力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8869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訓練刺激要足夠，但必須在可恢復範圍內。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835640" y="64373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481328"/>
            <a:ext cx="1078992" cy="10789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86336"/>
            <a:ext cx="10789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體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920240" y="148132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三種版本，避免「完整訓練 / 完全沒練」二分法</a:t>
            </a:r>
            <a:endParaRPr lang="en-US" sz="2150" dirty="0"/>
          </a:p>
        </p:txBody>
      </p:sp>
      <p:sp>
        <p:nvSpPr>
          <p:cNvPr id="11" name="Shape 9"/>
          <p:cNvSpPr/>
          <p:nvPr/>
        </p:nvSpPr>
        <p:spPr>
          <a:xfrm>
            <a:off x="3429000" y="4425696"/>
            <a:ext cx="502920" cy="-356616"/>
          </a:xfrm>
          <a:prstGeom prst="line">
            <a:avLst/>
          </a:prstGeom>
          <a:noFill/>
          <a:ln w="19050">
            <a:solidFill>
              <a:srgbClr val="B6C2D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82512" y="3657600"/>
            <a:ext cx="384048" cy="-356616"/>
          </a:xfrm>
          <a:prstGeom prst="line">
            <a:avLst/>
          </a:prstGeom>
          <a:noFill/>
          <a:ln w="19050">
            <a:solidFill>
              <a:srgbClr val="B6C2D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68680" y="4617720"/>
            <a:ext cx="2606040" cy="914400"/>
          </a:xfrm>
          <a:prstGeom prst="round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74573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完整版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05840" y="50657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正常狀態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漸進超負荷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3840480" y="3840480"/>
            <a:ext cx="2606040" cy="914400"/>
          </a:xfrm>
          <a:prstGeom prst="roundRect">
            <a:avLst/>
          </a:prstGeom>
          <a:solidFill>
            <a:srgbClr val="38BDF8">
              <a:alpha val="9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396849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縮短版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977640" y="42885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忙碌日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保留主動作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6446520" y="3063240"/>
            <a:ext cx="2423160" cy="914400"/>
          </a:xfrm>
          <a:prstGeom prst="roundRect">
            <a:avLst/>
          </a:prstGeom>
          <a:solidFill>
            <a:srgbClr val="FBBF24">
              <a:alpha val="92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19125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維持版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583680" y="351129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極忙日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10–15分鐘不中斷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9464040" y="14996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護欄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08592" y="1965960"/>
            <a:ext cx="242316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睡眠不足、生病或壓力過高時，不測最大重量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連續表現下降、關節不適，就主動降量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睡眠與恢復不是偷懶，而是適應發生的階段</a:t>
            </a:r>
            <a:endParaRPr lang="en-US" sz="1580" dirty="0"/>
          </a:p>
        </p:txBody>
      </p:sp>
      <p:sp>
        <p:nvSpPr>
          <p:cNvPr id="24" name="Shape 22"/>
          <p:cNvSpPr/>
          <p:nvPr/>
        </p:nvSpPr>
        <p:spPr>
          <a:xfrm>
            <a:off x="914400" y="5532120"/>
            <a:ext cx="9509760" cy="566928"/>
          </a:xfrm>
          <a:prstGeom prst="round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5678424"/>
            <a:ext cx="9107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目標不是練到爆，而是三個月後仍更強、更穩。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94360" y="64373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健身的反脆弱：刺激可恢復，身體才會變強；過量刺激只是受傷風險。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245352"/>
            <a:ext cx="6172200" cy="18288"/>
          </a:xfrm>
          <a:prstGeom prst="rect">
            <a:avLst/>
          </a:prstGeom>
          <a:solidFill>
            <a:srgbClr val="334155">
              <a:alpha val="9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遊戲開發：讓失敗早點、便宜地發生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8869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不要半年後才知道不好玩；用原型快速取得玩家證據。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835640" y="64373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344168"/>
            <a:ext cx="1078992" cy="10789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549176"/>
            <a:ext cx="10789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戲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938528" y="140817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每個原型先定義五件事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2907792"/>
            <a:ext cx="7589520" cy="0"/>
          </a:xfrm>
          <a:prstGeom prst="line">
            <a:avLst/>
          </a:prstGeom>
          <a:noFill/>
          <a:ln w="2794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615184"/>
            <a:ext cx="566928" cy="5669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假設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576072" y="3794760"/>
            <a:ext cx="15361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哪一點會讓玩家覺得有趣？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2788920" y="2615184"/>
            <a:ext cx="566928" cy="5669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331720" y="33832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最小原型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2313432" y="3794760"/>
            <a:ext cx="15361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最少做什麼就能驗證？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4526280" y="2615184"/>
            <a:ext cx="566928" cy="5669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069080" y="33832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時間上限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4050792" y="3794760"/>
            <a:ext cx="15361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七天或兩週後重新評估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263640" y="2615184"/>
            <a:ext cx="566928" cy="5669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806440" y="33832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成功標準</a:t>
            </a:r>
            <a:endParaRPr lang="en-US" sz="1520" dirty="0"/>
          </a:p>
        </p:txBody>
      </p:sp>
      <p:sp>
        <p:nvSpPr>
          <p:cNvPr id="27" name="Text 25"/>
          <p:cNvSpPr/>
          <p:nvPr/>
        </p:nvSpPr>
        <p:spPr>
          <a:xfrm>
            <a:off x="5788152" y="3794760"/>
            <a:ext cx="15361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願不願意再玩一次？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8001000" y="2615184"/>
            <a:ext cx="566928" cy="5669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43800" y="33832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停止條件</a:t>
            </a:r>
            <a:endParaRPr lang="en-US" sz="1520" dirty="0"/>
          </a:p>
        </p:txBody>
      </p:sp>
      <p:sp>
        <p:nvSpPr>
          <p:cNvPr id="31" name="Text 29"/>
          <p:cNvSpPr/>
          <p:nvPr/>
        </p:nvSpPr>
        <p:spPr>
          <a:xfrm>
            <a:off x="7525512" y="3794760"/>
            <a:ext cx="15361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何時不再繼續堆功能？</a:t>
            </a:r>
            <a:endParaRPr lang="en-US" sz="1160" dirty="0"/>
          </a:p>
        </p:txBody>
      </p:sp>
      <p:sp>
        <p:nvSpPr>
          <p:cNvPr id="32" name="Shape 30"/>
          <p:cNvSpPr/>
          <p:nvPr/>
        </p:nvSpPr>
        <p:spPr>
          <a:xfrm>
            <a:off x="9418320" y="1417320"/>
            <a:ext cx="2423160" cy="3520440"/>
          </a:xfrm>
          <a:prstGeom prst="roundRect">
            <a:avLst/>
          </a:prstGeom>
          <a:solidFill>
            <a:srgbClr val="1D2939">
              <a:alpha val="96000"/>
            </a:srgbClr>
          </a:solidFill>
          <a:ln w="1524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38360" y="1691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資源配置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656064" y="22768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70%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287000" y="2286000"/>
            <a:ext cx="1417320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92640" y="25511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主專案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656064" y="30266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287000" y="3035808"/>
            <a:ext cx="786384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92640" y="33009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工具／素材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656064" y="37764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287000" y="3785616"/>
            <a:ext cx="393192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0" y="40507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新點子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005840" y="5084064"/>
            <a:ext cx="4572000" cy="8961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Git與可回復節點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每週可玩的 build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素材授權與來源紀錄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5897880" y="5157216"/>
            <a:ext cx="5303520" cy="566928"/>
          </a:xfrm>
          <a:prstGeom prst="round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99048" y="5303520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6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真正的進度：從假設到玩家證據，需要多少時間。</a:t>
            </a:r>
            <a:endParaRPr lang="en-US" sz="1860" dirty="0"/>
          </a:p>
        </p:txBody>
      </p:sp>
      <p:sp>
        <p:nvSpPr>
          <p:cNvPr id="46" name="Text 44"/>
          <p:cNvSpPr/>
          <p:nvPr/>
        </p:nvSpPr>
        <p:spPr>
          <a:xfrm>
            <a:off x="594360" y="64373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遊戲開發的反脆弱：用大量可控制的小失敗，換取少數值得擴大的成功。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245352"/>
            <a:ext cx="6172200" cy="18288"/>
          </a:xfrm>
          <a:prstGeom prst="rect">
            <a:avLst/>
          </a:prstGeom>
          <a:solidFill>
            <a:srgbClr val="334155">
              <a:alpha val="9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行政：從「你記得」變成「系統記得」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8869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系務治理的反脆弱，重點是降低單點故障。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835640" y="64373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280160"/>
            <a:ext cx="749808" cy="74980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22624"/>
            <a:ext cx="7498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務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938528" y="142646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重要任務至少留下六個欄位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68680" y="2331720"/>
            <a:ext cx="2331720" cy="658368"/>
          </a:xfrm>
          <a:prstGeom prst="roundRect">
            <a:avLst/>
          </a:prstGeom>
          <a:solidFill>
            <a:srgbClr val="1D2939">
              <a:alpha val="98000"/>
            </a:srgbClr>
          </a:solidFill>
          <a:ln w="1270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243230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60A5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996696" y="2715768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要完成什麼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3749040" y="2331720"/>
            <a:ext cx="2331720" cy="658368"/>
          </a:xfrm>
          <a:prstGeom prst="roundRect">
            <a:avLst/>
          </a:prstGeom>
          <a:solidFill>
            <a:srgbClr val="1D2939">
              <a:alpha val="98000"/>
            </a:srgbClr>
          </a:solidFill>
          <a:ln w="1270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77056" y="243230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60A5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主責人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3877056" y="2715768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誰推動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6629400" y="2331720"/>
            <a:ext cx="2331720" cy="658368"/>
          </a:xfrm>
          <a:prstGeom prst="roundRect">
            <a:avLst/>
          </a:prstGeom>
          <a:solidFill>
            <a:srgbClr val="1D2939">
              <a:alpha val="98000"/>
            </a:srgbClr>
          </a:solidFill>
          <a:ln w="1270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57416" y="243230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60A5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備援人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757416" y="2715768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誰接手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868680" y="3273552"/>
            <a:ext cx="2331720" cy="658368"/>
          </a:xfrm>
          <a:prstGeom prst="roundRect">
            <a:avLst/>
          </a:prstGeom>
          <a:solidFill>
            <a:srgbClr val="1D2939">
              <a:alpha val="98000"/>
            </a:srgbClr>
          </a:solidFill>
          <a:ln w="1270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337413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60A5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截止日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996696" y="3657600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校內／外部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3749040" y="3273552"/>
            <a:ext cx="2331720" cy="658368"/>
          </a:xfrm>
          <a:prstGeom prst="roundRect">
            <a:avLst/>
          </a:prstGeom>
          <a:solidFill>
            <a:srgbClr val="1D2939">
              <a:alpha val="98000"/>
            </a:srgbClr>
          </a:solidFill>
          <a:ln w="1270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77056" y="337413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60A5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完成證據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3877056" y="3657600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表單、回信、檔案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6629400" y="3273552"/>
            <a:ext cx="2331720" cy="658368"/>
          </a:xfrm>
          <a:prstGeom prst="roundRect">
            <a:avLst/>
          </a:prstGeom>
          <a:solidFill>
            <a:srgbClr val="1D2939">
              <a:alpha val="98000"/>
            </a:srgbClr>
          </a:solidFill>
          <a:ln w="1270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337413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60A5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SOP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6757416" y="3657600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下次可複製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9464040" y="1627632"/>
            <a:ext cx="2057400" cy="1572768"/>
          </a:xfrm>
          <a:prstGeom prst="roundRect">
            <a:avLst/>
          </a:prstGeom>
          <a:solidFill>
            <a:srgbClr val="FB7185">
              <a:alpha val="90000"/>
            </a:srgbClr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0" y="18470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不容失敗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619488" y="23317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招生、學籍、預算、期限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提前截止＋雙人確認</a:t>
            </a:r>
            <a:endParaRPr lang="en-US" sz="1170" dirty="0"/>
          </a:p>
        </p:txBody>
      </p:sp>
      <p:sp>
        <p:nvSpPr>
          <p:cNvPr id="32" name="Shape 30"/>
          <p:cNvSpPr/>
          <p:nvPr/>
        </p:nvSpPr>
        <p:spPr>
          <a:xfrm>
            <a:off x="9464040" y="3657600"/>
            <a:ext cx="2057400" cy="1572768"/>
          </a:xfrm>
          <a:prstGeom prst="roundRect">
            <a:avLst/>
          </a:prstGeom>
          <a:solidFill>
            <a:srgbClr val="34D399">
              <a:alpha val="90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2640" y="38770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可以試驗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619488" y="436168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新課程、AI教學、合作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一門課／一場次先試</a:t>
            </a:r>
            <a:endParaRPr lang="en-US" sz="1170" dirty="0"/>
          </a:p>
        </p:txBody>
      </p:sp>
      <p:sp>
        <p:nvSpPr>
          <p:cNvPr id="35" name="Shape 33"/>
          <p:cNvSpPr/>
          <p:nvPr/>
        </p:nvSpPr>
        <p:spPr>
          <a:xfrm>
            <a:off x="914400" y="5349240"/>
            <a:ext cx="7955280" cy="603504"/>
          </a:xfrm>
          <a:prstGeom prst="roundRect">
            <a:avLst/>
          </a:prstGeom>
          <a:solidFill>
            <a:srgbClr val="60A5FA">
              <a:alpha val="92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5568" y="5495544"/>
            <a:ext cx="7552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每次救火後，至少留下清單、模板或SOP；不讓同一種問題重演。</a:t>
            </a:r>
            <a:endParaRPr lang="en-US" sz="1850" dirty="0"/>
          </a:p>
        </p:txBody>
      </p:sp>
      <p:sp>
        <p:nvSpPr>
          <p:cNvPr id="37" name="Text 35"/>
          <p:cNvSpPr/>
          <p:nvPr/>
        </p:nvSpPr>
        <p:spPr>
          <a:xfrm>
            <a:off x="594360" y="64373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行政的反脆弱：創新可小錯；學籍、經費、期限不能出大錯。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245352"/>
            <a:ext cx="6172200" cy="18288"/>
          </a:xfrm>
          <a:prstGeom prst="rect">
            <a:avLst/>
          </a:prstGeom>
          <a:solidFill>
            <a:srgbClr val="334155">
              <a:alpha val="9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父親：小挑戰 + 明確護欄 + 事後修復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8869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對孩子而言，反脆弱是可預測的小挫折，而不是過量刺激。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835640" y="64373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261872"/>
            <a:ext cx="731520" cy="7315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00861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家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938528" y="140817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把情境分成兩個區域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68680" y="2057400"/>
            <a:ext cx="4846320" cy="2148840"/>
          </a:xfrm>
          <a:prstGeom prst="roundRect">
            <a:avLst/>
          </a:prstGeom>
          <a:solidFill>
            <a:srgbClr val="34D399">
              <a:alpha val="93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3134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可失敗區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278892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作業順序、整理物品、詢問老師、練習新的社交說法。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43000" y="36118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重點：讓他自己嘗試、修正、補救。</a:t>
            </a:r>
            <a:endParaRPr lang="en-US" sz="1640" dirty="0"/>
          </a:p>
        </p:txBody>
      </p:sp>
      <p:sp>
        <p:nvSpPr>
          <p:cNvPr id="15" name="Shape 13"/>
          <p:cNvSpPr/>
          <p:nvPr/>
        </p:nvSpPr>
        <p:spPr>
          <a:xfrm>
            <a:off x="6263640" y="2057400"/>
            <a:ext cx="4846320" cy="2148840"/>
          </a:xfrm>
          <a:prstGeom prst="roundRect">
            <a:avLst/>
          </a:prstGeom>
          <a:solidFill>
            <a:srgbClr val="FB7185">
              <a:alpha val="93000"/>
            </a:srgbClr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313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不可冒險區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278892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安全、身體界線、他人同意、重大學籍或不可逆後果。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37960" y="36118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重點：先架護欄，再增加自主性。</a:t>
            </a:r>
            <a:endParaRPr lang="en-US" sz="1640" dirty="0"/>
          </a:p>
        </p:txBody>
      </p:sp>
      <p:sp>
        <p:nvSpPr>
          <p:cNvPr id="19" name="Shape 17"/>
          <p:cNvSpPr/>
          <p:nvPr/>
        </p:nvSpPr>
        <p:spPr>
          <a:xfrm>
            <a:off x="1051560" y="4645152"/>
            <a:ext cx="1001268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92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b="1" dirty="0">
                <a:solidFill>
                  <a:srgbClr val="FBBF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情緒恢復後，用三句復盤：</a:t>
            </a:r>
            <a:endParaRPr lang="en-US" sz="1780" dirty="0"/>
          </a:p>
        </p:txBody>
      </p:sp>
      <p:sp>
        <p:nvSpPr>
          <p:cNvPr id="21" name="Shape 19"/>
          <p:cNvSpPr/>
          <p:nvPr/>
        </p:nvSpPr>
        <p:spPr>
          <a:xfrm>
            <a:off x="3794760" y="48006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48828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325112" y="48463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剛才發生了什麼？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6263640" y="48006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48828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6793992" y="48463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哪一刻可以換方法？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8732520" y="48006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48828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9262872" y="48463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下一次用哪個策略？</a:t>
            </a:r>
            <a:endParaRPr lang="en-US" sz="1420" dirty="0"/>
          </a:p>
        </p:txBody>
      </p:sp>
      <p:sp>
        <p:nvSpPr>
          <p:cNvPr id="30" name="Shape 28"/>
          <p:cNvSpPr/>
          <p:nvPr/>
        </p:nvSpPr>
        <p:spPr>
          <a:xfrm>
            <a:off x="960120" y="5605272"/>
            <a:ext cx="6400800" cy="502920"/>
          </a:xfrm>
          <a:prstGeom prst="roundRect">
            <a:avLst/>
          </a:prstGeom>
          <a:solidFill>
            <a:srgbClr val="FBBF24">
              <a:alpha val="92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61288" y="5751576"/>
            <a:ext cx="5998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看「恢復能力」的進步，不只看是否零失誤。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94360" y="64373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父親角色的反脆弱：可預測的小挑戰 + 清楚支持 + 事後修復。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245352"/>
            <a:ext cx="6172200" cy="18288"/>
          </a:xfrm>
          <a:prstGeom prst="rect">
            <a:avLst/>
          </a:prstGeom>
          <a:solidFill>
            <a:srgbClr val="334155">
              <a:alpha val="9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四角色負荷調節器：不要同時全力衝刺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8869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反脆弱不是最大輸出，而是可調節輸出。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835640" y="64373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高峰期要主動降級，避免一次波動擊穿四個角色。</a:t>
            </a:r>
            <a:endParaRPr lang="en-US" sz="1930" dirty="0"/>
          </a:p>
        </p:txBody>
      </p:sp>
      <p:sp>
        <p:nvSpPr>
          <p:cNvPr id="9" name="Shape 7"/>
          <p:cNvSpPr/>
          <p:nvPr/>
        </p:nvSpPr>
        <p:spPr>
          <a:xfrm>
            <a:off x="4983480" y="2011680"/>
            <a:ext cx="2057400" cy="2057400"/>
          </a:xfrm>
          <a:prstGeom prst="ellipse">
            <a:avLst/>
          </a:prstGeom>
          <a:solidFill>
            <a:srgbClr val="1D2939">
              <a:alpha val="98000"/>
            </a:srgbClr>
          </a:solidFill>
          <a:ln w="17780">
            <a:solidFill>
              <a:srgbClr val="FB718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9512" y="25786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負荷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730752" y="2697480"/>
            <a:ext cx="1143000" cy="22860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159752" y="2926080"/>
            <a:ext cx="1417320" cy="-201168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30752" y="4965192"/>
            <a:ext cx="1143000" cy="-114300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59752" y="3822192"/>
            <a:ext cx="1417320" cy="1115568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" y="1920240"/>
            <a:ext cx="2743200" cy="1097280"/>
          </a:xfrm>
          <a:prstGeom prst="roundRect">
            <a:avLst/>
          </a:prstGeom>
          <a:solidFill>
            <a:srgbClr val="34D399">
              <a:alpha val="93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208483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健身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78992" y="256032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維持版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8823960" y="1920240"/>
            <a:ext cx="2743200" cy="1097280"/>
          </a:xfrm>
          <a:prstGeom prst="roundRect">
            <a:avLst/>
          </a:prstGeom>
          <a:solidFill>
            <a:srgbClr val="A78BFA">
              <a:alpha val="93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88552" y="208483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遊戲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88552" y="256032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只推核心</a:t>
            </a:r>
            <a:endParaRPr lang="en-US" sz="1380" dirty="0"/>
          </a:p>
        </p:txBody>
      </p:sp>
      <p:sp>
        <p:nvSpPr>
          <p:cNvPr id="21" name="Shape 19"/>
          <p:cNvSpPr/>
          <p:nvPr/>
        </p:nvSpPr>
        <p:spPr>
          <a:xfrm>
            <a:off x="914400" y="4389120"/>
            <a:ext cx="2743200" cy="1097280"/>
          </a:xfrm>
          <a:prstGeom prst="roundRect">
            <a:avLst/>
          </a:prstGeom>
          <a:solidFill>
            <a:srgbClr val="60A5FA">
              <a:alpha val="93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55371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行政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8992" y="50292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提前截止</a:t>
            </a:r>
            <a:endParaRPr lang="en-US" sz="1380" dirty="0"/>
          </a:p>
        </p:txBody>
      </p:sp>
      <p:sp>
        <p:nvSpPr>
          <p:cNvPr id="24" name="Shape 22"/>
          <p:cNvSpPr/>
          <p:nvPr/>
        </p:nvSpPr>
        <p:spPr>
          <a:xfrm>
            <a:off x="8823960" y="4389120"/>
            <a:ext cx="2743200" cy="1097280"/>
          </a:xfrm>
          <a:prstGeom prst="roundRect">
            <a:avLst/>
          </a:prstGeom>
          <a:solidFill>
            <a:srgbClr val="FBBF24">
              <a:alpha val="93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88552" y="455371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父親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988552" y="50292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保留陪伴</a:t>
            </a:r>
            <a:endParaRPr lang="en-US" sz="1380" dirty="0"/>
          </a:p>
        </p:txBody>
      </p:sp>
      <p:sp>
        <p:nvSpPr>
          <p:cNvPr id="27" name="Shape 25"/>
          <p:cNvSpPr/>
          <p:nvPr/>
        </p:nvSpPr>
        <p:spPr>
          <a:xfrm>
            <a:off x="1143000" y="5577840"/>
            <a:ext cx="9921240" cy="566928"/>
          </a:xfrm>
          <a:prstGeom prst="roundRect">
            <a:avLst/>
          </a:prstGeom>
          <a:solidFill>
            <a:srgbClr val="FB7185">
              <a:alpha val="92000"/>
            </a:srgbClr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44168" y="5724144"/>
            <a:ext cx="9518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6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行政高峰：健身改維持版，遊戲只推核心。家庭事件：暫停非必要專案，保留陪伴。</a:t>
            </a:r>
            <a:endParaRPr lang="en-US" sz="1760" dirty="0"/>
          </a:p>
        </p:txBody>
      </p:sp>
      <p:sp>
        <p:nvSpPr>
          <p:cNvPr id="29" name="Text 27"/>
          <p:cNvSpPr/>
          <p:nvPr/>
        </p:nvSpPr>
        <p:spPr>
          <a:xfrm>
            <a:off x="594360" y="64373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負荷調節原則：高峰降級、平穩加碼；避免同時在所有角色上冒高風險。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245352"/>
            <a:ext cx="6172200" cy="18288"/>
          </a:xfrm>
          <a:prstGeom prst="rect">
            <a:avLst/>
          </a:prstGeom>
          <a:solidFill>
            <a:srgbClr val="334155">
              <a:alpha val="9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本週先做：五個可執行任務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8869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把想法變成護欄、試驗與可複製的系統。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835640" y="64373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04672" y="1344168"/>
            <a:ext cx="402336" cy="40233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2646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1389888" y="132588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健身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2743200" y="1307592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寫出完整、縮短、最低維持三種訓練版本。</a:t>
            </a:r>
            <a:endParaRPr lang="en-US" sz="1540" dirty="0"/>
          </a:p>
        </p:txBody>
      </p:sp>
      <p:sp>
        <p:nvSpPr>
          <p:cNvPr id="12" name="Shape 10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0848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1389888" y="198424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遊戲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2743200" y="196596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選定主專案，為其他原型設定時間上限與停止條件。</a:t>
            </a:r>
            <a:endParaRPr lang="en-US" sz="1540" dirty="0"/>
          </a:p>
        </p:txBody>
      </p:sp>
      <p:sp>
        <p:nvSpPr>
          <p:cNvPr id="16" name="Shape 14"/>
          <p:cNvSpPr/>
          <p:nvPr/>
        </p:nvSpPr>
        <p:spPr>
          <a:xfrm>
            <a:off x="804672" y="2660904"/>
            <a:ext cx="402336" cy="40233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74320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389888" y="264261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專案安全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2743200" y="2624328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 Git、外部備份、素材授權與來源紀錄。</a:t>
            </a:r>
            <a:endParaRPr lang="en-US" sz="1540" dirty="0"/>
          </a:p>
        </p:txBody>
      </p:sp>
      <p:sp>
        <p:nvSpPr>
          <p:cNvPr id="20" name="Shape 18"/>
          <p:cNvSpPr/>
          <p:nvPr/>
        </p:nvSpPr>
        <p:spPr>
          <a:xfrm>
            <a:off x="804672" y="3319272"/>
            <a:ext cx="402336" cy="40233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4015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1389888" y="330098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60A5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行政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2743200" y="3282696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挑一項高風險流程，建立六欄位追蹤。</a:t>
            </a:r>
            <a:endParaRPr lang="en-US" sz="1540" dirty="0"/>
          </a:p>
        </p:txBody>
      </p:sp>
      <p:sp>
        <p:nvSpPr>
          <p:cNvPr id="24" name="Shape 22"/>
          <p:cNvSpPr/>
          <p:nvPr/>
        </p:nvSpPr>
        <p:spPr>
          <a:xfrm>
            <a:off x="804672" y="3977640"/>
            <a:ext cx="402336" cy="40233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05993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1389888" y="39593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FBBF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父親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2743200" y="394106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只選一個重要行為，建立事前提醒、替代行為、事後修復腳本。</a:t>
            </a:r>
            <a:endParaRPr lang="en-US" sz="1540" dirty="0"/>
          </a:p>
        </p:txBody>
      </p:sp>
      <p:sp>
        <p:nvSpPr>
          <p:cNvPr id="28" name="Shape 26"/>
          <p:cNvSpPr/>
          <p:nvPr/>
        </p:nvSpPr>
        <p:spPr>
          <a:xfrm>
            <a:off x="8549640" y="1243584"/>
            <a:ext cx="2834640" cy="4023360"/>
          </a:xfrm>
          <a:prstGeom prst="roundRect">
            <a:avLst/>
          </a:prstGeom>
          <a:solidFill>
            <a:srgbClr val="1D2939">
              <a:alpha val="97000"/>
            </a:srgbClr>
          </a:solidFill>
          <a:ln w="1397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15400" y="15179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每週五題檢查</a:t>
            </a:r>
            <a:endParaRPr lang="en-US" sz="1840" dirty="0"/>
          </a:p>
        </p:txBody>
      </p:sp>
      <p:sp>
        <p:nvSpPr>
          <p:cNvPr id="30" name="Text 28"/>
          <p:cNvSpPr/>
          <p:nvPr/>
        </p:nvSpPr>
        <p:spPr>
          <a:xfrm>
            <a:off x="8851392" y="2029968"/>
            <a:ext cx="22402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哪件事差點造成大問題？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哪個小失敗帶來資訊？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哪件事只有我知道或只有一份？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下週做哪個低成本試驗？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哪件事要停止、授權或模板化？</a:t>
            </a:r>
            <a:endParaRPr lang="en-US" sz="1390" dirty="0"/>
          </a:p>
        </p:txBody>
      </p:sp>
      <p:sp>
        <p:nvSpPr>
          <p:cNvPr id="31" name="Shape 29"/>
          <p:cNvSpPr/>
          <p:nvPr/>
        </p:nvSpPr>
        <p:spPr>
          <a:xfrm>
            <a:off x="960120" y="5440680"/>
            <a:ext cx="10287000" cy="603504"/>
          </a:xfrm>
          <a:prstGeom prst="roundRect">
            <a:avLst/>
          </a:prstGeom>
          <a:solidFill>
            <a:srgbClr val="38BDF8">
              <a:alpha val="9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61288" y="5586984"/>
            <a:ext cx="9884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0B1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判斷句：小錯能給資訊，大錯有護欄，成功能累積。</a:t>
            </a:r>
            <a:endParaRPr lang="en-US" sz="2050" dirty="0"/>
          </a:p>
        </p:txBody>
      </p:sp>
      <p:sp>
        <p:nvSpPr>
          <p:cNvPr id="33" name="Text 31"/>
          <p:cNvSpPr/>
          <p:nvPr/>
        </p:nvSpPr>
        <p:spPr>
          <a:xfrm>
            <a:off x="594360" y="64373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6C2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讓每次波動，都成為下一次更穩定的能力。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反脆弱：生活與工作實踐摘要</dc:title>
  <dc:subject>反脆弱在生活與工作的實踐摘要</dc:subject>
  <dc:creator>OpenAI</dc:creator>
  <cp:lastModifiedBy>OpenAI</cp:lastModifiedBy>
  <cp:revision>1</cp:revision>
  <dcterms:created xsi:type="dcterms:W3CDTF">2026-08-09T00:33:12Z</dcterms:created>
  <dcterms:modified xsi:type="dcterms:W3CDTF">2026-08-09T00:33:12Z</dcterms:modified>
</cp:coreProperties>
</file>