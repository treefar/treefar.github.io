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f1b58399c04212" /><Relationship Type="http://schemas.openxmlformats.org/officeDocument/2006/relationships/extended-properties" Target="/docProps/app.xml" Id="Re0dfbc535a574286" /><Relationship Type="http://schemas.openxmlformats.org/officeDocument/2006/relationships/officeDocument" Target="/ppt/presentation.xml" Id="Rfe2c3826534f40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34838746a14968"/>
  </p:sldMasterIdLst>
  <p:notesMasterIdLst>
    <p:notesMasterId xmlns:r="http://schemas.openxmlformats.org/officeDocument/2006/relationships" r:id="R1121b665246342ca"/>
  </p:notesMasterIdLst>
  <p:sldIdLst>
    <p:sldId xmlns:r="http://schemas.openxmlformats.org/officeDocument/2006/relationships" id="256" r:id="R028b8405af9c4795"/>
    <p:sldId xmlns:r="http://schemas.openxmlformats.org/officeDocument/2006/relationships" id="257" r:id="R8c5b49149e5b4caf"/>
    <p:sldId xmlns:r="http://schemas.openxmlformats.org/officeDocument/2006/relationships" id="258" r:id="Rbe80923312534217"/>
    <p:sldId xmlns:r="http://schemas.openxmlformats.org/officeDocument/2006/relationships" id="259" r:id="Rad2c25be700f44ad"/>
    <p:sldId xmlns:r="http://schemas.openxmlformats.org/officeDocument/2006/relationships" id="260" r:id="Rd09a2a3666b54f7b"/>
    <p:sldId xmlns:r="http://schemas.openxmlformats.org/officeDocument/2006/relationships" id="261" r:id="R62a47b1a46a1426b"/>
    <p:sldId xmlns:r="http://schemas.openxmlformats.org/officeDocument/2006/relationships" id="262" r:id="R517dc51062344c2d"/>
    <p:sldId xmlns:r="http://schemas.openxmlformats.org/officeDocument/2006/relationships" id="263" r:id="R01b3464ca5b64e81"/>
    <p:sldId xmlns:r="http://schemas.openxmlformats.org/officeDocument/2006/relationships" id="264" r:id="Rbe25a968294a407c"/>
    <p:sldId xmlns:r="http://schemas.openxmlformats.org/officeDocument/2006/relationships" id="265" r:id="Re1b524c554a4400e"/>
    <p:sldId xmlns:r="http://schemas.openxmlformats.org/officeDocument/2006/relationships" id="266" r:id="R5083c9ab8e634bd3"/>
    <p:sldId xmlns:r="http://schemas.openxmlformats.org/officeDocument/2006/relationships" id="267" r:id="Rc7949478ab584137"/>
    <p:sldId xmlns:r="http://schemas.openxmlformats.org/officeDocument/2006/relationships" id="268" r:id="R14db6ae6e5a24f5d"/>
    <p:sldId xmlns:r="http://schemas.openxmlformats.org/officeDocument/2006/relationships" id="269" r:id="R5604f25d89704a07"/>
    <p:sldId xmlns:r="http://schemas.openxmlformats.org/officeDocument/2006/relationships" id="270" r:id="R24b3c902feae47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0a2437a2ba41ed" /><Relationship Type="http://schemas.openxmlformats.org/officeDocument/2006/relationships/slideMaster" Target="/ppt/slideMasters/slideMaster1.xml" Id="R0034838746a14968" /><Relationship Type="http://schemas.openxmlformats.org/officeDocument/2006/relationships/notesMaster" Target="/ppt/notesMasters/notesMaster1.xml" Id="R1121b665246342ca" /><Relationship Type="http://schemas.openxmlformats.org/officeDocument/2006/relationships/presProps" Target="/ppt/presProps.xml" Id="R997483c45eee4697" /><Relationship Type="http://schemas.openxmlformats.org/officeDocument/2006/relationships/tableStyles" Target="/ppt/tableStyles.xml" Id="Re7cd29991d9e41dc" /><Relationship Type="http://schemas.openxmlformats.org/officeDocument/2006/relationships/slide" Target="/ppt/slides/slide1.xml" Id="R028b8405af9c4795" /><Relationship Type="http://schemas.openxmlformats.org/officeDocument/2006/relationships/slide" Target="/ppt/slides/slide2.xml" Id="R8c5b49149e5b4caf" /><Relationship Type="http://schemas.openxmlformats.org/officeDocument/2006/relationships/slide" Target="/ppt/slides/slide3.xml" Id="Rbe80923312534217" /><Relationship Type="http://schemas.openxmlformats.org/officeDocument/2006/relationships/slide" Target="/ppt/slides/slide4.xml" Id="Rad2c25be700f44ad" /><Relationship Type="http://schemas.openxmlformats.org/officeDocument/2006/relationships/slide" Target="/ppt/slides/slide5.xml" Id="Rd09a2a3666b54f7b" /><Relationship Type="http://schemas.openxmlformats.org/officeDocument/2006/relationships/slide" Target="/ppt/slides/slide6.xml" Id="R62a47b1a46a1426b" /><Relationship Type="http://schemas.openxmlformats.org/officeDocument/2006/relationships/slide" Target="/ppt/slides/slide7.xml" Id="R517dc51062344c2d" /><Relationship Type="http://schemas.openxmlformats.org/officeDocument/2006/relationships/slide" Target="/ppt/slides/slide8.xml" Id="R01b3464ca5b64e81" /><Relationship Type="http://schemas.openxmlformats.org/officeDocument/2006/relationships/slide" Target="/ppt/slides/slide9.xml" Id="Rbe25a968294a407c" /><Relationship Type="http://schemas.openxmlformats.org/officeDocument/2006/relationships/slide" Target="/ppt/slides/slide10.xml" Id="Re1b524c554a4400e" /><Relationship Type="http://schemas.openxmlformats.org/officeDocument/2006/relationships/slide" Target="/ppt/slides/slide11.xml" Id="R5083c9ab8e634bd3" /><Relationship Type="http://schemas.openxmlformats.org/officeDocument/2006/relationships/slide" Target="/ppt/slides/slide12.xml" Id="Rc7949478ab584137" /><Relationship Type="http://schemas.openxmlformats.org/officeDocument/2006/relationships/slide" Target="/ppt/slides/slide13.xml" Id="R14db6ae6e5a24f5d" /><Relationship Type="http://schemas.openxmlformats.org/officeDocument/2006/relationships/slide" Target="/ppt/slides/slide14.xml" Id="R5604f25d89704a07" /><Relationship Type="http://schemas.openxmlformats.org/officeDocument/2006/relationships/slide" Target="/ppt/slides/slide15.xml" Id="R24b3c902feae47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7cb816b77e48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8de5fec1f24802" /><Relationship Type="http://schemas.openxmlformats.org/officeDocument/2006/relationships/notesMaster" Target="/ppt/notesMasters/notesMaster1.xml" Id="R3478ce4604e641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bc6c067a974fac" /><Relationship Type="http://schemas.openxmlformats.org/officeDocument/2006/relationships/notesMaster" Target="/ppt/notesMasters/notesMaster1.xml" Id="Re74dab0a7b824e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f5d486df6e45a2" /><Relationship Type="http://schemas.openxmlformats.org/officeDocument/2006/relationships/notesMaster" Target="/ppt/notesMasters/notesMaster1.xml" Id="Rc1f98232006c4e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e9d22cb963442d" /><Relationship Type="http://schemas.openxmlformats.org/officeDocument/2006/relationships/notesMaster" Target="/ppt/notesMasters/notesMaster1.xml" Id="Rfae605983f7f48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009630dcc2482d" /><Relationship Type="http://schemas.openxmlformats.org/officeDocument/2006/relationships/notesMaster" Target="/ppt/notesMasters/notesMaster1.xml" Id="R3575229bf37949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43131ec7f4470a" /><Relationship Type="http://schemas.openxmlformats.org/officeDocument/2006/relationships/notesMaster" Target="/ppt/notesMasters/notesMaster1.xml" Id="R19ab7cb4b3a541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e3a47976444e17" /><Relationship Type="http://schemas.openxmlformats.org/officeDocument/2006/relationships/notesMaster" Target="/ppt/notesMasters/notesMaster1.xml" Id="R97c3d9493ecb4c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4a7ed246904975" /><Relationship Type="http://schemas.openxmlformats.org/officeDocument/2006/relationships/notesMaster" Target="/ppt/notesMasters/notesMaster1.xml" Id="Rc693009ce2eb45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4811fad04146f0" /><Relationship Type="http://schemas.openxmlformats.org/officeDocument/2006/relationships/notesMaster" Target="/ppt/notesMasters/notesMaster1.xml" Id="R180d4876d5054d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27e5748dc64685" /><Relationship Type="http://schemas.openxmlformats.org/officeDocument/2006/relationships/notesMaster" Target="/ppt/notesMasters/notesMaster1.xml" Id="R8d4dc3d6bce64e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bd8e2dc991407e" /><Relationship Type="http://schemas.openxmlformats.org/officeDocument/2006/relationships/notesMaster" Target="/ppt/notesMasters/notesMaster1.xml" Id="Rd2dca6646f6440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c246051abd4794" /><Relationship Type="http://schemas.openxmlformats.org/officeDocument/2006/relationships/notesMaster" Target="/ppt/notesMasters/notesMaster1.xml" Id="R00eb0932b0a44b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6ca09d3c424043" /><Relationship Type="http://schemas.openxmlformats.org/officeDocument/2006/relationships/notesMaster" Target="/ppt/notesMasters/notesMaster1.xml" Id="R76a9de46b486440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17bf73d3e649db" /><Relationship Type="http://schemas.openxmlformats.org/officeDocument/2006/relationships/notesMaster" Target="/ppt/notesMasters/notesMaster1.xml" Id="Rb489001f5e2147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365127a2ad488c" /><Relationship Type="http://schemas.openxmlformats.org/officeDocument/2006/relationships/notesMaster" Target="/ppt/notesMasters/notesMaster1.xml" Id="R26fbb78afac149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https://docs.anthropic.com/en/docs/mcp — MCP 官方說明</a:t>
            </a:r>
          </a:p>
          <a:p xmlns:a="http://schemas.openxmlformats.org/drawingml/2006/main">
            <a:r>
              <a:t>- https://docs.anthropic.com/en/docs/claude-code/cli-usage — Claude Code CLI／Session 官方說明</a:t>
            </a:r>
          </a:p>
          <a:p xmlns:a="http://schemas.openxmlformats.org/drawingml/2006/main">
            <a:r>
              <a:t>- https://treefar.link — 使用者首頁與投影片專區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本簡報把管理器、Dashboard、Daemon 從名詞解釋轉成您可實際建置的系統藍圖。這是設計建議，不宣稱已有完整成品。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https://docs.anthropic.com/en/docs/mcp — MCP 官方說明</a:t>
            </a:r>
          </a:p>
          <a:p xmlns:a="http://schemas.openxmlformats.org/drawingml/2006/main">
            <a:r>
              <a:t>- https://docs.anthropic.com/en/docs/claude-code/cli-usage — Claude Code CLI／Session 官方說明</a:t>
            </a:r>
          </a:p>
          <a:p xmlns:a="http://schemas.openxmlformats.org/drawingml/2006/main">
            <a:r>
              <a:t>- https://treefar.link — 使用者首頁與投影片專區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依使用者描述的大量 Session／Repo、排程、藝術資料與社群爬蟲需求整理。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https://docs.anthropic.com/en/docs/mcp — MCP 官方說明</a:t>
            </a:r>
          </a:p>
          <a:p xmlns:a="http://schemas.openxmlformats.org/drawingml/2006/main">
            <a:r>
              <a:t>- https://docs.anthropic.com/en/docs/claude-code/cli-usage — Claude Code CLI／Session 官方說明</a:t>
            </a:r>
          </a:p>
          <a:p xmlns:a="http://schemas.openxmlformats.org/drawingml/2006/main">
            <a:r>
              <a:t>- https://treefar.link — 使用者首頁與投影片專區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三層分工沿用使用者已定義的 Dashboard／Daemon／管理器描述，並補上可建置的責任邊界。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https://docs.anthropic.com/en/docs/mcp — MCP 官方說明</a:t>
            </a:r>
          </a:p>
          <a:p xmlns:a="http://schemas.openxmlformats.org/drawingml/2006/main">
            <a:r>
              <a:t>- https://docs.anthropic.com/en/docs/claude-code/cli-usage — Claude Code CLI／Session 官方說明</a:t>
            </a:r>
          </a:p>
          <a:p xmlns:a="http://schemas.openxmlformats.org/drawingml/2006/main">
            <a:r>
              <a:t>- https://treefar.link — 使用者首頁與投影片專區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架構圖是本簡報的建議設計；MCP 作為模型與外部工具／資料源的標準化連接層，參考 Anthropic 官方文件。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https://docs.anthropic.com/en/docs/mcp — MCP 官方說明</a:t>
            </a:r>
          </a:p>
          <a:p xmlns:a="http://schemas.openxmlformats.org/drawingml/2006/main">
            <a:r>
              <a:t>- https://docs.anthropic.com/en/docs/claude-code/cli-usage — Claude Code CLI／Session 官方說明</a:t>
            </a:r>
          </a:p>
          <a:p xmlns:a="http://schemas.openxmlformats.org/drawingml/2006/main">
            <a:r>
              <a:t>- https://treefar.link — 使用者首頁與投影片專區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Dashboard 項目依使用者提出的藝術資料整合、Session 管理與排程監控需求設計。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https://docs.anthropic.com/en/docs/mcp — MCP 官方說明</a:t>
            </a:r>
          </a:p>
          <a:p xmlns:a="http://schemas.openxmlformats.org/drawingml/2006/main">
            <a:r>
              <a:t>- https://docs.anthropic.com/en/docs/claude-code/cli-usage — Claude Code CLI／Session 官方說明</a:t>
            </a:r>
          </a:p>
          <a:p xmlns:a="http://schemas.openxmlformats.org/drawingml/2006/main">
            <a:r>
              <a:t>- https://treefar.link — 使用者首頁與投影片專區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此頁完全依使用者在本次對話中明確提到的藝術資料情境建模，不使用未確認的外部專案。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https://docs.anthropic.com/en/docs/mcp — MCP 官方說明</a:t>
            </a:r>
          </a:p>
          <a:p xmlns:a="http://schemas.openxmlformats.org/drawingml/2006/main">
            <a:r>
              <a:t>- https://docs.anthropic.com/en/docs/claude-code/cli-usage — Claude Code CLI／Session 官方說明</a:t>
            </a:r>
          </a:p>
          <a:p xmlns:a="http://schemas.openxmlformats.org/drawingml/2006/main">
            <a:r>
              <a:t>- https://treefar.link — 使用者首頁與投影片專區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欄位是建議的最小 Task Schema，針對使用者描述的大量 Session／Repo 與互相傳訊需求。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https://docs.anthropic.com/en/docs/mcp — MCP 官方說明</a:t>
            </a:r>
          </a:p>
          <a:p xmlns:a="http://schemas.openxmlformats.org/drawingml/2006/main">
            <a:r>
              <a:t>- https://docs.anthropic.com/en/docs/claude-code/cli-usage — Claude Code CLI／Session 官方說明</a:t>
            </a:r>
          </a:p>
          <a:p xmlns:a="http://schemas.openxmlformats.org/drawingml/2006/main">
            <a:r>
              <a:t>- https://treefar.link — 使用者首頁與投影片專區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此頁把使用者描述的 Session／Repo 管理需求轉成生命週期與交接格式。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https://docs.anthropic.com/en/docs/mcp — MCP 官方說明</a:t>
            </a:r>
          </a:p>
          <a:p xmlns:a="http://schemas.openxmlformats.org/drawingml/2006/main">
            <a:r>
              <a:t>- https://docs.anthropic.com/en/docs/claude-code/cli-usage — Claude Code CLI／Session 官方說明</a:t>
            </a:r>
          </a:p>
          <a:p xmlns:a="http://schemas.openxmlformats.org/drawingml/2006/main">
            <a:r>
              <a:t>- https://treefar.link — 使用者首頁與投影片專區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Daemon 工作例子取自使用者已描述的雲端備份、媒體轉換、藝術資料與社群爬蟲需求。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https://docs.anthropic.com/en/docs/mcp — MCP 官方說明</a:t>
            </a:r>
          </a:p>
          <a:p xmlns:a="http://schemas.openxmlformats.org/drawingml/2006/main">
            <a:r>
              <a:t>- https://docs.anthropic.com/en/docs/claude-code/cli-usage — Claude Code CLI／Session 官方說明</a:t>
            </a:r>
          </a:p>
          <a:p xmlns:a="http://schemas.openxmlformats.org/drawingml/2006/main">
            <a:r>
              <a:t>- https://treefar.link — 使用者首頁與投影片專區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可靠度規則是本建議的工程化補充，目的在讓使用者的長時間批次工作可維護。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https://docs.anthropic.com/en/docs/mcp — MCP 官方說明</a:t>
            </a:r>
          </a:p>
          <a:p xmlns:a="http://schemas.openxmlformats.org/drawingml/2006/main">
            <a:r>
              <a:t>- https://docs.anthropic.com/en/docs/claude-code/cli-usage — Claude Code CLI／Session 官方說明</a:t>
            </a:r>
          </a:p>
          <a:p xmlns:a="http://schemas.openxmlformats.org/drawingml/2006/main">
            <a:r>
              <a:t>- https://treefar.link — 使用者首頁與投影片專區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流程是本簡報的整合建議，對應使用者提出的 Dashboard／Daemon／管理器與藝術資料入庫情境。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https://docs.anthropic.com/en/docs/mcp — MCP 官方說明</a:t>
            </a:r>
          </a:p>
          <a:p xmlns:a="http://schemas.openxmlformats.org/drawingml/2006/main">
            <a:r>
              <a:t>- https://docs.anthropic.com/en/docs/claude-code/cli-usage — Claude Code CLI／Session 官方說明</a:t>
            </a:r>
          </a:p>
          <a:p xmlns:a="http://schemas.openxmlformats.org/drawingml/2006/main">
            <a:r>
              <a:t>- https://treefar.link — 使用者首頁與投影片專區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線框是第一版 UI 建議，刻意只保留決策所需資訊。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https://docs.anthropic.com/en/docs/mcp — MCP 官方說明</a:t>
            </a:r>
          </a:p>
          <a:p xmlns:a="http://schemas.openxmlformats.org/drawingml/2006/main">
            <a:r>
              <a:t>- https://docs.anthropic.com/en/docs/claude-code/cli-usage — Claude Code CLI／Session 官方說明</a:t>
            </a:r>
          </a:p>
          <a:p xmlns:a="http://schemas.openxmlformats.org/drawingml/2006/main">
            <a:r>
              <a:t>- https://treefar.link — 使用者首頁與投影片專區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90 天路線是依使用者需求與最小可行產品原則提出的建議。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https://docs.anthropic.com/en/docs/mcp — MCP 官方說明</a:t>
            </a:r>
          </a:p>
          <a:p xmlns:a="http://schemas.openxmlformats.org/drawingml/2006/main">
            <a:r>
              <a:t>- https://docs.anthropic.com/en/docs/claude-code/cli-usage — Claude Code CLI／Session 官方說明</a:t>
            </a:r>
          </a:p>
          <a:p xmlns:a="http://schemas.openxmlformats.org/drawingml/2006/main">
            <a:r>
              <a:t>- https://treefar.link — 使用者首頁與投影片專區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結論為本簡報的個人化建言，依使用者工作與學習脈絡整合。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https://docs.anthropic.com/en/docs/mcp — MCP 官方說明</a:t>
            </a:r>
          </a:p>
          <a:p xmlns:a="http://schemas.openxmlformats.org/drawingml/2006/main">
            <a:r>
              <a:t>- https://docs.anthropic.com/en/docs/claude-code/cli-usage — Claude Code CLI／Session 官方說明</a:t>
            </a:r>
          </a:p>
          <a:p xmlns:a="http://schemas.openxmlformats.org/drawingml/2006/main">
            <a:r>
              <a:t>- https://treefar.link — 使用者首頁與投影片專區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收束：這份簡報的目標是把三個名詞轉成您可逐步驗收的系統。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470a48f2c74d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41327e1e1a4c43" /><Relationship Type="http://schemas.openxmlformats.org/officeDocument/2006/relationships/slideLayout" Target="/ppt/slideLayouts/slideLayout1.xml" Id="R80baceae9bf440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baceae9bf440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1ab8be6ad45b6" /><Relationship Type="http://schemas.openxmlformats.org/officeDocument/2006/relationships/notesSlide" Target="/ppt/notesSlides/notesSlide1.xml" Id="R3eef46fb17f54d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ec318b6864a49" /><Relationship Type="http://schemas.openxmlformats.org/officeDocument/2006/relationships/notesSlide" Target="/ppt/notesSlides/notesSlide2.xml" Id="Rd71c97808ffc45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33ba51b394308" /><Relationship Type="http://schemas.openxmlformats.org/officeDocument/2006/relationships/notesSlide" Target="/ppt/notesSlides/notesSlide3.xml" Id="Rd0ea72c8ca254e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82fa427834285" /><Relationship Type="http://schemas.openxmlformats.org/officeDocument/2006/relationships/notesSlide" Target="/ppt/notesSlides/notesSlide4.xml" Id="Rd53b9df4d0404b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9f068a8ed477f" /><Relationship Type="http://schemas.openxmlformats.org/officeDocument/2006/relationships/notesSlide" Target="/ppt/notesSlides/notesSlide5.xml" Id="R60bbff6f362849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a8ed61e894c45" /><Relationship Type="http://schemas.openxmlformats.org/officeDocument/2006/relationships/notesSlide" Target="/ppt/notesSlides/notesSlide6.xml" Id="R700affdd9c2444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ff068b8a14aba" /><Relationship Type="http://schemas.openxmlformats.org/officeDocument/2006/relationships/notesSlide" Target="/ppt/notesSlides/notesSlide7.xml" Id="R0da9528a39694a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304e59e8045f4" /><Relationship Type="http://schemas.openxmlformats.org/officeDocument/2006/relationships/notesSlide" Target="/ppt/notesSlides/notesSlide8.xml" Id="R7db1490bc6fb4f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f3459d0a640b2" /><Relationship Type="http://schemas.openxmlformats.org/officeDocument/2006/relationships/notesSlide" Target="/ppt/notesSlides/notesSlide9.xml" Id="Rf957f90b5f604f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62c509bae4d14" /><Relationship Type="http://schemas.openxmlformats.org/officeDocument/2006/relationships/notesSlide" Target="/ppt/notesSlides/notesSlide10.xml" Id="Rdf159cabff594e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bc1a6dcc04dde" /><Relationship Type="http://schemas.openxmlformats.org/officeDocument/2006/relationships/notesSlide" Target="/ppt/notesSlides/notesSlide11.xml" Id="Refb8748c944e40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138aa53cc497d" /><Relationship Type="http://schemas.openxmlformats.org/officeDocument/2006/relationships/notesSlide" Target="/ppt/notesSlides/notesSlide12.xml" Id="Rdcf9d6f20abf49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9b034bd004c32" /><Relationship Type="http://schemas.openxmlformats.org/officeDocument/2006/relationships/notesSlide" Target="/ppt/notesSlides/notesSlide13.xml" Id="R4260dbeddbed41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3b23769474bc6" /><Relationship Type="http://schemas.openxmlformats.org/officeDocument/2006/relationships/notesSlide" Target="/ppt/notesSlides/notesSlide14.xml" Id="R725561387b674c7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f6256833d40e0" /><Relationship Type="http://schemas.openxmlformats.org/officeDocument/2006/relationships/notesSlide" Target="/ppt/notesSlides/notesSlide15.xml" Id="R63ed63d206f54a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4C37C-BA6F-46A6-8D70-FF4E07B4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CCBD3-065D-4689-897D-8A77B4F9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E1"/>
          </a:solidFill>
          <a:ln xmlns:a="http://schemas.openxmlformats.org/drawingml/2006/main" w="9525">
            <a:solidFill>
              <a:srgbClr val="2F7D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3F2F0-563F-4BC4-AB21-81C954D4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7E8"/>
          </a:solidFill>
          <a:ln xmlns:a="http://schemas.openxmlformats.org/drawingml/2006/main" w="9525">
            <a:solidFill>
              <a:srgbClr val="5BC7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C297B-B88A-4033-BD13-CEA5AE71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BC7E8"/>
                </a:solidFill>
              </a:defRPr>
            </a:pPr>
            <a:r>
              <a:rPr sz="1125" b="1" i="0">
                <a:solidFill>
                  <a:srgbClr val="5BC7E8"/>
                </a:solidFill>
              </a:rPr>
              <a:t>AI 工作系統設計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8F8FD-BD3D-4ABE-90D0-A3930AC7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524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FFFFF"/>
                </a:solidFill>
              </a:defRPr>
            </a:pPr>
            <a:r>
              <a:rPr sz="4650" b="1" i="0">
                <a:solidFill>
                  <a:srgbClr val="FFFFFF"/>
                </a:solidFill>
              </a:rPr>
              <a:t>管理器、Dashboard</a:t>
            </a:r>
          </a:p>
          <a:p xmlns:a="http://schemas.openxmlformats.org/drawingml/2006/main">
            <a:pPr algn="l">
              <a:defRPr sz="4650" b="1" i="0">
                <a:solidFill>
                  <a:srgbClr val="FFFFFF"/>
                </a:solidFill>
              </a:defRPr>
            </a:pPr>
            <a:r>
              <a:rPr sz="4650" b="1" i="0">
                <a:solidFill>
                  <a:srgbClr val="FFFFFF"/>
                </a:solidFill>
              </a:rPr>
              <a:t>與 Daemon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5D3E6-04C4-45E6-9A2C-5FD76659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DEAF7"/>
                </a:solidFill>
              </a:defRPr>
            </a:pPr>
            <a:r>
              <a:rPr sz="1725" b="0" i="0">
                <a:solidFill>
                  <a:srgbClr val="DDEAF7"/>
                </a:solidFill>
              </a:rPr>
              <a:t>依您的教學、博論、系務、藝術資料與 Claude Code 工作流</a:t>
            </a:r>
          </a:p>
          <a:p xmlns:a="http://schemas.openxmlformats.org/drawingml/2006/main">
            <a:pPr algn="l">
              <a:defRPr sz="1725" b="0" i="0">
                <a:solidFill>
                  <a:srgbClr val="DDEAF7"/>
                </a:solidFill>
              </a:defRPr>
            </a:pPr>
            <a:r>
              <a:rPr sz="1725" b="0" i="0">
                <a:solidFill>
                  <a:srgbClr val="DDEAF7"/>
                </a:solidFill>
              </a:rPr>
              <a:t>提出可落地的三層系統方案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7B8E6-0817-4323-B242-505A9FB0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FD4E8"/>
                </a:solidFill>
              </a:defRPr>
            </a:pPr>
            <a:r>
              <a:rPr sz="1050" b="0" i="0">
                <a:solidFill>
                  <a:srgbClr val="BFD4E8"/>
                </a:solidFill>
              </a:rPr>
              <a:t>個人化建置方案｜2026.08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A654D-7588-41D0-BB34-7EF3DEBB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65785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150" b="1" i="0">
                <a:solidFill>
                  <a:srgbClr val="16324F"/>
                </a:solidFill>
              </a:defRPr>
            </a:pPr>
            <a:r>
              <a:rPr sz="3150" b="1" i="0">
                <a:solidFill>
                  <a:srgbClr val="16324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1177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D3B6F0-9144-4C3E-91D9-2EAFC1E9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為什麼現在需要三層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E72EA-9C57-4DD0-A4FB-ED214593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CF7D8-36EE-4386-B5F9-BB46ECB5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3508D-50FA-4738-A725-368AEB70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您的工作量已經超過單一聊天視窗能可靠管理的範圍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1A5D1-01AE-4E7D-9E5F-6DEC2D4B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問題不是模型不夠強，而是任務、資料與時間尺度不同。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7F1EA-B06C-4E2C-8AE9-CFA21E47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076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717C7-AB3A-40F6-A0A6-419C7CC2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F7DE1"/>
                </a:solidFill>
              </a:defRPr>
            </a:pPr>
            <a:r>
              <a:rPr sz="1725" b="1" i="0">
                <a:solidFill>
                  <a:srgbClr val="2F7DE1"/>
                </a:solidFill>
              </a:rPr>
              <a:t>多條主線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27422-4905-4B39-BDCF-67060192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955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教學／Unity、博論／情感運算、系務、藝術資料、社群輿情同時前進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BF586-45E5-44BB-B080-BEDBF0F2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076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A0680-92D8-45BF-A7E6-FD0CC71E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5BC7E8"/>
                </a:solidFill>
              </a:defRPr>
            </a:pPr>
            <a:r>
              <a:rPr sz="1725" b="1" i="0">
                <a:solidFill>
                  <a:srgbClr val="5BC7E8"/>
                </a:solidFill>
              </a:rPr>
              <a:t>多種節奏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0D5E2-9324-4834-B810-E17B287F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004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即時回覆、數小時研究、夜間批次、跨日排程不能混在同一個 Session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1C959-93B6-4951-84CE-FA4809AF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76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FFC8F-533B-474F-B861-AD30831B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4C95D"/>
                </a:solidFill>
              </a:defRPr>
            </a:pPr>
            <a:r>
              <a:rPr sz="1725" b="1" i="0">
                <a:solidFill>
                  <a:srgbClr val="F4C95D"/>
                </a:solidFill>
              </a:rPr>
              <a:t>多個狀態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161BC6-1210-48E9-9F9B-D13C38FB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053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Session、Repo、待審核、失敗重試、來源引用需要可查詢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6556C-F98D-45E1-A637-77F1BB86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C0043-E69E-41EA-8C3D-539A9F89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三層分工：人看 Dashboard、管理器排任務、Daemon 長時間執行。</a:t>
            </a:r>
          </a:p>
        </p:txBody>
      </p:sp>
    </p:spTree>
    <p:extLst>
      <p:ext uri="{BB962C8B-B14F-4D97-AF65-F5344CB8AC3E}">
        <p14:creationId xmlns:p14="http://schemas.microsoft.com/office/powerpoint/2010/main" val="12362636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393AC4-EF72-476E-A0A8-CDD151AC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三層分工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5B455-4775-4DFC-B994-5EE08880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BF3F1-EAC3-4310-ACB7-76780D86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40D1B-BE5D-4BF4-AC40-012B6D6B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三個名詞，對應三種責任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CA00C-7254-4AAB-84EB-22352746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先分清責任，再決定要不要寫程式。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17A3E-EA92-4E99-9A3A-99C8C1D8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2194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D8CC8-6163-4127-A73E-62A10101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7DE1"/>
                </a:solidFill>
              </a:defRPr>
            </a:pPr>
            <a:r>
              <a:rPr sz="1875" b="1" i="0">
                <a:solidFill>
                  <a:srgbClr val="2F7DE1"/>
                </a:solidFill>
              </a:rPr>
              <a:t>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A620B-07D1-414F-AA85-0CB64B7A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人機介面／整合前台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4C003-DE19-4EBE-99F6-D5476F5D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2647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看全局、篩選、審核、決策、追蹤成果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B2802-7DAA-482B-A613-5A2B4F63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32194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650A6-FDCB-46F4-B277-C5AC3468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09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5BC7E8"/>
                </a:solidFill>
              </a:defRPr>
            </a:pPr>
            <a:r>
              <a:rPr sz="1875" b="1" i="0">
                <a:solidFill>
                  <a:srgbClr val="5BC7E8"/>
                </a:solidFill>
              </a:rPr>
              <a:t>管理器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0F7EB-E79B-40F2-929A-00D60FC1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194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任務與訊息調度層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78CE8-0256-4942-9233-D5400520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90950"/>
            <a:ext cx="2647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DEAF7"/>
                </a:solidFill>
              </a:defRPr>
            </a:pPr>
            <a:r>
              <a:rPr sz="1275" b="0" i="0">
                <a:solidFill>
                  <a:srgbClr val="DDEAF7"/>
                </a:solidFill>
              </a:rPr>
              <a:t>建立任務、分派 Worker、串接 Session／Repo、處理交接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0F1C0-C9FC-4A9D-A8C4-ABAC584C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32194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7A350-0604-42AD-AE52-81112567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09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4C95D"/>
                </a:solidFill>
              </a:defRPr>
            </a:pPr>
            <a:r>
              <a:rPr sz="1875" b="1" i="0">
                <a:solidFill>
                  <a:srgbClr val="F4C95D"/>
                </a:solidFill>
              </a:rPr>
              <a:t>Daemon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6AC67C-18A0-4194-AF24-4078B44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194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脫離桌面的背景執行層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B4A318-4403-432C-9F95-5673C204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2647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固定時間跑批次工作、重試、記錄、通知，不等待人工對話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3811F-D744-4631-94F2-D3D85691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6324F"/>
                </a:solidFill>
              </a:defRPr>
            </a:pPr>
            <a:r>
              <a:rPr sz="1500" b="1" i="0">
                <a:solidFill>
                  <a:srgbClr val="16324F"/>
                </a:solidFill>
              </a:rPr>
              <a:t>判斷口訣：要不要人看？看 Dashboard；要不要分派？找管理器；要不要自己跑？做 Daemon。</a:t>
            </a:r>
          </a:p>
        </p:txBody>
      </p:sp>
    </p:spTree>
    <p:extLst>
      <p:ext uri="{BB962C8B-B14F-4D97-AF65-F5344CB8AC3E}">
        <p14:creationId xmlns:p14="http://schemas.microsoft.com/office/powerpoint/2010/main" val="6515961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53C37D-4ABB-46AF-A748-F8946FDC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總體架構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E2C10-C53C-4483-82EC-FA6742F9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04ED3-59A2-40EA-A7C4-6D0C7C11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5CD0A-F98B-43F1-9BD5-102C0572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建議的最小可行架構：一個任務格式，三個入口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CDE44-E55E-4805-9219-59C434D2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不要先做巨大平台；先讓每個任務都能被看見、被執行、被驗證。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48C87-D2CB-484F-B012-23DF684F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04D19-2A21-4233-88AE-F7704BC1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BC7E8"/>
                </a:solidFill>
              </a:defRPr>
            </a:pPr>
            <a:r>
              <a:rPr sz="1800" b="1" i="0">
                <a:solidFill>
                  <a:srgbClr val="5BC7E8"/>
                </a:solidFill>
              </a:rPr>
              <a:t>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90A43-DEB8-43E0-8BA1-2C7C64FB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定義問題</a:t>
            </a:r>
          </a:p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設定優先序</a:t>
            </a:r>
          </a:p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審核成果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2407D-4FCD-4DC5-8714-C0468DAE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90750"/>
            <a:ext cx="2476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28F46-F44D-4D03-AA84-3B5D4856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F7DE1"/>
                </a:solidFill>
              </a:defRPr>
            </a:pPr>
            <a:r>
              <a:rPr sz="1800" b="1" i="0">
                <a:solidFill>
                  <a:srgbClr val="2F7DE1"/>
                </a:solidFill>
              </a:rPr>
              <a:t>管理器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8CC23-8B80-431D-8674-B9B683A5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00375"/>
            <a:ext cx="190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Task Queue</a:t>
            </a:r>
          </a:p>
          <a:p xmlns:a="http://schemas.openxmlformats.org/drawingml/2006/main">
            <a:pPr algn="l"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Session Registry</a:t>
            </a:r>
          </a:p>
          <a:p xmlns:a="http://schemas.openxmlformats.org/drawingml/2006/main">
            <a:pPr algn="l"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Repo Registry</a:t>
            </a:r>
          </a:p>
          <a:p xmlns:a="http://schemas.openxmlformats.org/drawingml/2006/main">
            <a:pPr algn="l">
              <a:defRPr sz="1575" b="1" i="0">
                <a:solidFill>
                  <a:srgbClr val="111827"/>
                </a:solidFill>
              </a:defRPr>
            </a:pPr>
            <a:r>
              <a:rPr sz="1575" b="1" i="0">
                <a:solidFill>
                  <a:srgbClr val="111827"/>
                </a:solidFill>
              </a:rPr>
              <a:t>Message Bus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FDDE6-698A-4E11-8C24-055E07A9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8125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9525">
            <a:solidFill>
              <a:srgbClr val="E9DCA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699837-A70E-406E-87A5-1EE8CFDE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47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A06E00"/>
                </a:solidFill>
              </a:defRPr>
            </a:pPr>
            <a:r>
              <a:rPr sz="1800" b="1" i="0">
                <a:solidFill>
                  <a:srgbClr val="A06E00"/>
                </a:solidFill>
              </a:rPr>
              <a:t>執行層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96012-A707-4BED-932E-AA76174A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623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Dashboard：人工操作</a:t>
            </a:r>
          </a:p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Daemon：背景批次</a:t>
            </a:r>
          </a:p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Claude Code／MCP：工具呼叫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9FB7F-44FE-4FD3-948B-71D61005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86125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D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5216E-4B68-4E2A-B75D-C9D12DF4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86125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D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48A06-59F0-45BA-B23A-D8DC07F6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6324F"/>
                </a:solidFill>
              </a:defRPr>
            </a:pPr>
            <a:r>
              <a:rPr sz="1500" b="1" i="0">
                <a:solidFill>
                  <a:srgbClr val="16324F"/>
                </a:solidFill>
              </a:rPr>
              <a:t>同一份 Task Schema：目的、輸入、輸出、驗證、權限、失敗重試、下一步</a:t>
            </a:r>
          </a:p>
        </p:txBody>
      </p:sp>
    </p:spTree>
    <p:extLst>
      <p:ext uri="{BB962C8B-B14F-4D97-AF65-F5344CB8AC3E}">
        <p14:creationId xmlns:p14="http://schemas.microsoft.com/office/powerpoint/2010/main" val="13647407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0B35A-0B0E-4345-B444-E07A3786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DASHBOARD｜您真正需要的前台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16D15-43E9-4111-AEEB-E2974E4A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4C36B-8C8D-4B1F-910B-14AE6760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43890-CC80-45DC-A3B3-4DD0ADF8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Dashboard 不只是漂亮首頁，而是『可判斷的工作總表』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7ABFC-2313-4C93-BBA9-0BBCC41E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它把散落在資料夾、Session、Repo、排程與訊息中的狀態，濃縮成下一步。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D3E57-2CE0-417E-B4B6-0DF0E7AC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F7DE1"/>
                </a:solidFill>
              </a:defRPr>
            </a:pPr>
            <a:r>
              <a:rPr sz="1650" b="1" i="0">
                <a:solidFill>
                  <a:srgbClr val="2F7DE1"/>
                </a:solidFill>
              </a:rPr>
              <a:t>今日總覽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48110-821A-49A8-8747-55F62DD3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進行中任務、阻塞、即將到期、等待人工審核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5B9E7-095F-47B1-BA44-F7B3EAA7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0CF6D-EB84-46EF-98F7-541400D6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BC7E8"/>
                </a:solidFill>
              </a:defRPr>
            </a:pPr>
            <a:r>
              <a:rPr sz="1650" b="1" i="0">
                <a:solidFill>
                  <a:srgbClr val="5BC7E8"/>
                </a:solidFill>
              </a:rPr>
              <a:t>專案視圖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03CEB-1862-489A-833C-7BFB6A0C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Unity 課程、博論、系務、藝術資料、社群輿情分開看，也能看跨專案資源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AE806-BE8C-43A3-AA31-200B59BC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295DB-D264-4E66-AFB5-0F4A661D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C95D"/>
                </a:solidFill>
              </a:defRPr>
            </a:pPr>
            <a:r>
              <a:rPr sz="1650" b="1" i="0">
                <a:solidFill>
                  <a:srgbClr val="F4C95D"/>
                </a:solidFill>
              </a:rPr>
              <a:t>資料視圖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DD637-CCD4-4E0C-813A-01EE688E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來源、版本、翻譯／清洗狀態、引用位置與授權備註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89C4B-9A4C-4EC8-A078-B15040AF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9907DB-7DD7-4332-9475-1FCD1D46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AA981"/>
                </a:solidFill>
              </a:defRPr>
            </a:pPr>
            <a:r>
              <a:rPr sz="1650" b="1" i="0">
                <a:solidFill>
                  <a:srgbClr val="3AA981"/>
                </a:solidFill>
              </a:rPr>
              <a:t>執行視圖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2AE3B-6766-4AF4-9B00-7D1FBDE9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24400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Daemon 最近執行、失敗原因、重試次數、下一次排程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3F43C9-CCA9-4757-BF6B-A683644B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AB437-27BF-467F-A6C0-F69EDA56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1917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747C2-F74B-408F-B0A3-FA1C1DE8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第一版只做四個頁面：總覽、任務、資料、執行紀錄。</a:t>
            </a:r>
          </a:p>
        </p:txBody>
      </p:sp>
    </p:spTree>
    <p:extLst>
      <p:ext uri="{BB962C8B-B14F-4D97-AF65-F5344CB8AC3E}">
        <p14:creationId xmlns:p14="http://schemas.microsoft.com/office/powerpoint/2010/main" val="7223213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0F532B-1A80-4BEF-8168-7D239B4A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DASHBOARD｜藝術資料工作台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0DB7D-68BE-4DE1-BB06-453F0C39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0C51C-B9EA-4395-96D2-D874ECBB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B9683-629D-4406-97F9-389E4910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藝術資料：把觀展、畫冊與電子書變成可追溯的研究資產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92231-45EA-4EB2-B796-365E6648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以名古屋美術館、Paul Klee、蔦屋書店畫冊、Internet Archive 為例。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15811-689C-47B7-8126-F0CD8816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2019300" cy="20955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47943-CB96-4D1C-A5C2-8EED60F0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F7DE1"/>
                </a:solidFill>
              </a:defRPr>
            </a:pPr>
            <a:r>
              <a:rPr sz="1425" b="1" i="0">
                <a:solidFill>
                  <a:srgbClr val="2F7DE1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29FAD-8EE0-4B89-B572-011E890A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來源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FB7CB-E090-402D-A0E5-21E9C978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照片／筆記／書目／URL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C334E-F183-40FE-9769-3A2E5E8F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76500"/>
            <a:ext cx="2019300" cy="20955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76078-520B-4BB6-AC0F-5DB45484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5BC7E8"/>
                </a:solidFill>
              </a:defRPr>
            </a:pPr>
            <a:r>
              <a:rPr sz="1425" b="1" i="0">
                <a:solidFill>
                  <a:srgbClr val="5BC7E8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7D536-DCF9-44CD-8AFD-6B0DB59D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623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入庫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3BAEF-E3E0-440F-AAB2-CC2DA3B3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5285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檔案雜湊、作者、作品、日期、版權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13B21-DF10-4FFB-B11C-AAFBB72E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76500"/>
            <a:ext cx="2019300" cy="20955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67867-CD18-41E7-95AD-2074390A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86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C95D"/>
                </a:solidFill>
              </a:defRPr>
            </a:pPr>
            <a:r>
              <a:rPr sz="1425" b="1" i="0">
                <a:solidFill>
                  <a:srgbClr val="F4C95D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B80AB-EECB-494F-A816-67F3E570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623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處理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A07A4-1ED6-4DB7-B753-DE57EA15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5285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OCR、翻譯、清洗、去重、分段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9566C-D379-4019-8D75-F5D5C004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76500"/>
            <a:ext cx="2019300" cy="20955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72371-F7A1-40F4-92AC-06D5E5C1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AA981"/>
                </a:solidFill>
              </a:defRPr>
            </a:pPr>
            <a:r>
              <a:rPr sz="1425" b="1" i="0">
                <a:solidFill>
                  <a:srgbClr val="3AA981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B0D5B3-42E2-4F8C-B368-51EE246A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理解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C3377-A359-4423-ABE2-6339ACE6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5285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人物／作品／概念／評論關聯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08A4D4-9FC3-4087-90B3-D0343361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76500"/>
            <a:ext cx="2019300" cy="20955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59F9B3-48D5-459C-9EC6-0B422301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324F"/>
                </a:solidFill>
              </a:defRPr>
            </a:pPr>
            <a:r>
              <a:rPr sz="1425" b="1" i="0">
                <a:solidFill>
                  <a:srgbClr val="16324F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89DA15-7A6A-48F7-9A75-9E93C4DA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623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產出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97930B-58AA-45A4-BDB4-6DFD1629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52850"/>
            <a:ext cx="1600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課程素材、博論筆記、引用與文章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2A3EE1-15A8-4B4B-9D70-9820353E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668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8AD86-BE15-4C21-91CC-D53A0677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人工只審核：來源可信度、翻譯關鍵段落、引用是否正確、哪些洞見值得寫入研究。</a:t>
            </a:r>
          </a:p>
        </p:txBody>
      </p:sp>
    </p:spTree>
    <p:extLst>
      <p:ext uri="{BB962C8B-B14F-4D97-AF65-F5344CB8AC3E}">
        <p14:creationId xmlns:p14="http://schemas.microsoft.com/office/powerpoint/2010/main" val="14224320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038342-20CF-4170-A602-F6334EE8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管理器｜SESSION／REPO 調度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CABE3-9803-4A17-8A34-A1BC7C54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F071C-CA00-4921-8A2C-097AABA0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97E81-530E-4387-8FF1-0A31A807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管理器的核心不是『開更多視窗』，而是讓每個工作都有身分證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F897E-F3E7-44CF-9FE5-AF1B80D7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每個任務都能找到所屬專案、Session、Repo、負責人、狀態與下一步。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3DCD1-B55C-4EF3-BBE7-29FD216E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7DE1"/>
                </a:solidFill>
              </a:defRPr>
            </a:pPr>
            <a:r>
              <a:rPr sz="1575" b="1" i="0">
                <a:solidFill>
                  <a:srgbClr val="2F7DE1"/>
                </a:solidFill>
              </a:rPr>
              <a:t>task_id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D1FE2-6B9C-4221-8A4B-C99F2490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764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唯一識別，不用標題猜任務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17CA1-464C-4E28-A3AF-2E3AF9C1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264F4-C647-46EC-BD17-3A5EA79D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5BC7E8"/>
                </a:solidFill>
              </a:defRPr>
            </a:pPr>
            <a:r>
              <a:rPr sz="1575" b="1" i="0">
                <a:solidFill>
                  <a:srgbClr val="5BC7E8"/>
                </a:solidFill>
              </a:rPr>
              <a:t>project／repo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1FE5D-0BA6-498F-8968-450FA6AD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03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Unity 課程、博論、系務、藝術資料等脈絡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BABD0-B0DC-4F63-9C6B-09D22EE6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5766B-B3C4-4990-8B8F-C37EC36D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C95D"/>
                </a:solidFill>
              </a:defRPr>
            </a:pPr>
            <a:r>
              <a:rPr sz="1575" b="1" i="0">
                <a:solidFill>
                  <a:srgbClr val="F4C95D"/>
                </a:solidFill>
              </a:rPr>
              <a:t>session_id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3BF486-4D08-4FFE-856F-5B773EA5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242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可續接的 Claude Code 對話與工作目錄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EAEB0-ED65-4A82-86F4-267874E0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10F627-5210-4E2B-939A-B190FB35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AA981"/>
                </a:solidFill>
              </a:defRPr>
            </a:pPr>
            <a:r>
              <a:rPr sz="1575" b="1" i="0">
                <a:solidFill>
                  <a:srgbClr val="3AA981"/>
                </a:solidFill>
              </a:rPr>
              <a:t>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19B01-9E91-429C-AD44-96ABC043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48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queued／running／review／blocked／done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D633D-90F6-4F97-B412-B7F54A95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A8686-D6F6-43D1-A50B-5BCA3055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6324F"/>
                </a:solidFill>
              </a:defRPr>
            </a:pPr>
            <a:r>
              <a:rPr sz="1575" b="1" i="0">
                <a:solidFill>
                  <a:srgbClr val="16324F"/>
                </a:solidFill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1E1C82-D71A-44E1-9BB1-834B77E7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720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輸出檔、測試、來源與人工核准紀錄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4452D-DE48-433E-98FB-A0D725E7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7E47D-4136-4FE7-BB40-A25C0103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096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9525">
            <a:solidFill>
              <a:srgbClr val="E9DCA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02B2B3-8546-437D-9795-E3D5F8B9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578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A5200"/>
                </a:solidFill>
              </a:defRPr>
            </a:pPr>
            <a:r>
              <a:rPr sz="1350" b="1" i="0">
                <a:solidFill>
                  <a:srgbClr val="7A5200"/>
                </a:solidFill>
              </a:rPr>
              <a:t>Session 是工作現場；管理器是交通指揮；Repo 是可驗證的成果邊界。</a:t>
            </a:r>
          </a:p>
        </p:txBody>
      </p:sp>
    </p:spTree>
    <p:extLst>
      <p:ext uri="{BB962C8B-B14F-4D97-AF65-F5344CB8AC3E}">
        <p14:creationId xmlns:p14="http://schemas.microsoft.com/office/powerpoint/2010/main" val="4070445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7442B8-1C5D-4BCB-A707-53F3ED16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管理器｜SESSION 生命週期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F98AB-D791-438B-91CA-247DE9BE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F860D-621B-48DA-A488-F7354495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F4B65-5F3F-4A15-AE44-5EF5D07B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Session 管理要解決四件事：找到、續接、交接、關閉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FCBD4-4B60-4026-B35A-F654DB43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桌機 Session 綁定工作目錄；手機情境更受 repo 邊界限制，因此索引比視窗數量重要。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9B291-C800-4B37-9349-AAAB740D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45B94-C892-49AF-B0AC-1F1299A3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F7DE1"/>
                </a:solidFill>
              </a:defRPr>
            </a:pPr>
            <a:r>
              <a:rPr sz="2100" b="1" i="0">
                <a:solidFill>
                  <a:srgbClr val="2F7DE1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D2D1F-D788-4ED4-A042-4DBBB2A5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建立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34507-A930-4911-925C-D0F6DD0C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選專案／Repo／工作目錄，產生 task_id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93DC8-F7DD-45F5-9EDB-59C29027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FDEEA-5BC6-405F-A2C7-0725D45C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03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5BC7E8"/>
                </a:solidFill>
              </a:defRPr>
            </a:pPr>
            <a:r>
              <a:rPr sz="2100" b="1" i="0">
                <a:solidFill>
                  <a:srgbClr val="5BC7E8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8D281-9603-4768-89AB-97DD948A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33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執行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72C5E-23B7-4C80-BBDA-1CDE4442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481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記錄模型、工具、MCP、檔案與權限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870A6-A32F-4F9D-99D4-75E4F1EC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42F48-8513-4446-8FF8-5A98AC04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4C95D"/>
                </a:solidFill>
              </a:defRPr>
            </a:pPr>
            <a:r>
              <a:rPr sz="2100" b="1" i="0">
                <a:solidFill>
                  <a:srgbClr val="F4C95D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235D7-6019-4370-8897-0017AC67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交接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3C0DB-1076-4145-84A6-B38C0A13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摘要決策、未完成項、驗證結果與下一步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58073-E842-4667-A1C3-0085569E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B20591-DB18-44B9-900E-848B78CB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AA981"/>
                </a:solidFill>
              </a:defRPr>
            </a:pPr>
            <a:r>
              <a:rPr sz="2100" b="1" i="0">
                <a:solidFill>
                  <a:srgbClr val="3AA981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27DCF3-366B-45C7-973C-0E0C1B38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關閉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A53C6F-8B54-446C-B309-E8983E6B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481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標記成果位置、風險、是否需要後續 Session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A903B-9890-4AB1-99B4-67B7B0B4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6324F"/>
                </a:solidFill>
              </a:defRPr>
            </a:pPr>
            <a:r>
              <a:rPr sz="1500" b="1" i="0">
                <a:solidFill>
                  <a:srgbClr val="16324F"/>
                </a:solidFill>
              </a:rPr>
              <a:t>最低限度的交接包：摘要／決策／變更檔案／驗證／阻塞／下一步。</a:t>
            </a:r>
          </a:p>
        </p:txBody>
      </p:sp>
    </p:spTree>
    <p:extLst>
      <p:ext uri="{BB962C8B-B14F-4D97-AF65-F5344CB8AC3E}">
        <p14:creationId xmlns:p14="http://schemas.microsoft.com/office/powerpoint/2010/main" val="8920386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7C1B3E-8460-4975-A50F-5B541E8D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DAEMON｜背景自動化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5F3A6-B62B-44F4-8DCB-D34FD58F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EA65E-B3C2-43CD-8F58-5E351FBD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AE5A8-6E6E-491F-B44D-92644192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Daemon 適合『規則明確、可重試、少需人決策』的工作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3D221-0142-4C4B-BDB5-CA3E786F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它不是另一個聊天視窗，而是有排程、狀態、日誌與失敗處理的長時間 Worker。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D483A-C998-41BC-81D4-7D1D387E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D0579-6B34-4AC1-B3AD-CECC74E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7DE1"/>
                </a:solidFill>
              </a:defRPr>
            </a:pPr>
            <a:r>
              <a:rPr sz="1575" b="1" i="0">
                <a:solidFill>
                  <a:srgbClr val="2F7DE1"/>
                </a:solidFill>
              </a:rPr>
              <a:t>雲端／Obsidian 備份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C5E7B-305F-41C8-800F-51CDC41C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夜間執行、檢查差異、失敗通知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9E357-B8F0-453B-918A-6BA53226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DA532-29F3-4BE9-883E-77E71788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5BC7E8"/>
                </a:solidFill>
              </a:defRPr>
            </a:pPr>
            <a:r>
              <a:rPr sz="1575" b="1" i="0">
                <a:solidFill>
                  <a:srgbClr val="5BC7E8"/>
                </a:solidFill>
              </a:rPr>
              <a:t>大量媒體處理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166258-4355-4F0A-84DD-631B4873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YouTube 下載、語音轉換、逐字稿與索引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13A76-CC4B-48DC-B654-30B37757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6B42F-B590-41D4-AB69-C0C3BCC7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C95D"/>
                </a:solidFill>
              </a:defRPr>
            </a:pPr>
            <a:r>
              <a:rPr sz="1575" b="1" i="0">
                <a:solidFill>
                  <a:srgbClr val="F4C95D"/>
                </a:solidFill>
              </a:rPr>
              <a:t>藝術資料管線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15B9E6-DE6D-42FB-9221-C7165A31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下載→OCR→翻譯→清洗→去重→入庫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2BCB7-0FE6-421F-9BAB-BF1875D0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15B23-837B-42CC-9412-CCC2354F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AA981"/>
                </a:solidFill>
              </a:defRPr>
            </a:pPr>
            <a:r>
              <a:rPr sz="1575" b="1" i="0">
                <a:solidFill>
                  <a:srgbClr val="3AA981"/>
                </a:solidFill>
              </a:rPr>
              <a:t>輿情分析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8B6E3-E1C6-4D55-A02D-A3E711A0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Facebook／Threads 爬蟲、分批整理、趨勢摘要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23D9C-483B-435E-AAE9-B192EAC8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287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1B95F-1F43-40E6-9B04-1332F369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97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Daemon 的驗收不是『有跑』，而是：可重試、可追蹤、可停止、可恢復。</a:t>
            </a:r>
          </a:p>
        </p:txBody>
      </p:sp>
    </p:spTree>
    <p:extLst>
      <p:ext uri="{BB962C8B-B14F-4D97-AF65-F5344CB8AC3E}">
        <p14:creationId xmlns:p14="http://schemas.microsoft.com/office/powerpoint/2010/main" val="17550370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142EEE-D5A4-4ED6-BD1B-8F32DFDA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DAEMON｜可靠度設計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858D7-441B-4B47-9487-831A53ED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9AC69-8FFA-4D5A-93DF-6C04A9E2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B5A46-98BA-46B4-908C-284FDC9E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先處理中斷與重跑，再擴大自動化範圍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8FE76-ECA9-4976-8C7E-0C7FAA81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背景工作一旦失敗，最浪費時間的不是重跑，而是不知道跑到哪裡。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40AE5-5B47-47C6-BB57-8FB8489D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7DE1"/>
                </a:solidFill>
              </a:defRPr>
            </a:pPr>
            <a:r>
              <a:rPr sz="1575" b="1" i="0">
                <a:solidFill>
                  <a:srgbClr val="2F7DE1"/>
                </a:solidFill>
              </a:rPr>
              <a:t>冪等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3B8D1-DB29-429E-9DD4-E60A116D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同一輸入重跑不產生重複資料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252AF-7D50-42E0-A817-EBC0B357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32BEF-A345-475E-B0B4-5A19616A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527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5BC7E8"/>
                </a:solidFill>
              </a:defRPr>
            </a:pPr>
            <a:r>
              <a:rPr sz="1575" b="1" i="0">
                <a:solidFill>
                  <a:srgbClr val="5BC7E8"/>
                </a:solidFill>
              </a:rPr>
              <a:t>檢查點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0F9EC-FB32-4A2F-A879-4497378E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52725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每個步驟寫入狀態與輸出位置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A9F6E-BFF0-4FE5-8287-FB5865C6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480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24DCF-3F87-4A0D-9C02-CB208426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575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C95D"/>
                </a:solidFill>
              </a:defRPr>
            </a:pPr>
            <a:r>
              <a:rPr sz="1575" b="1" i="0">
                <a:solidFill>
                  <a:srgbClr val="F4C95D"/>
                </a:solidFill>
              </a:rPr>
              <a:t>重試策略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BB8C9-0CC4-460C-8AB7-57E71A17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57575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區分暫時網路錯誤與永久資料錯誤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71F6D-A3AD-4BD6-9C20-BF866527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F7462-9086-47C9-BE5A-452B5793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85B68"/>
                </a:solidFill>
              </a:defRPr>
            </a:pPr>
            <a:r>
              <a:rPr sz="1575" b="1" i="0">
                <a:solidFill>
                  <a:srgbClr val="D85B68"/>
                </a:solidFill>
              </a:rPr>
              <a:t>人工閘門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5E5D9-2A7C-44C5-82D1-AD111A65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62425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涉及授權、公開、研究結論時停下來審核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AD95E-5283-42C5-8FE5-0131DC38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C89C2A-4B47-4E91-95B6-9411DA84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AA981"/>
                </a:solidFill>
              </a:defRPr>
            </a:pPr>
            <a:r>
              <a:rPr sz="1575" b="1" i="0">
                <a:solidFill>
                  <a:srgbClr val="3AA981"/>
                </a:solidFill>
              </a:rPr>
              <a:t>通知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F19F0-C7B9-425A-9A23-5109E562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67275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失敗、完成、需要人工時才通知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E943FF-D565-4024-874B-B21D76B8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25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67873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73CC4F-DB25-42AD-8140-F265CE73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三層如何協作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30175-C50A-44ED-A868-A5F712A8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4F683-685C-4F90-A6F2-8A2FE549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814E9-00F7-4878-8F39-061ABCDB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一個實際例子：把藝術資料處理成可引用的研究筆記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6D88E-D9B6-4922-BED4-2CE3C2F1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同一任務從 Dashboard 建立，經管理器分派，由 Daemon 執行，再回到 Dashboard 審核。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5B768-EB6F-4D36-8029-3C62C5FB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98A8E-A286-47AC-BF8E-7BC34688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F7DE1"/>
                </a:solidFill>
              </a:defRPr>
            </a:pPr>
            <a:r>
              <a:rPr sz="1650" b="1" i="0">
                <a:solidFill>
                  <a:srgbClr val="2F7DE1"/>
                </a:solidFill>
              </a:rPr>
              <a:t>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56923-46AF-41CB-B6C0-680D2611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建立任務</a:t>
            </a:r>
          </a:p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選資料範圍</a:t>
            </a:r>
          </a:p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設定審核點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36CC8-A3ED-4E35-9449-07891649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242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D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CFCDF-A206-4CC2-B0E6-7711641E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C9FC4-0140-46FA-8AC7-774720E7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81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BC7E8"/>
                </a:solidFill>
              </a:defRPr>
            </a:pPr>
            <a:r>
              <a:rPr sz="1650" b="1" i="0">
                <a:solidFill>
                  <a:srgbClr val="5BC7E8"/>
                </a:solidFill>
              </a:rPr>
              <a:t>管理器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55942-E6DD-44E8-841A-89F4B268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建立 task_id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分派 Worker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記錄 Session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07C08-315D-40BE-8E66-23928B1B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242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D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244D3-262C-422C-AF94-EACC347F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765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1ECC6-51FF-4DAD-B26D-FA698175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C95D"/>
                </a:solidFill>
              </a:defRPr>
            </a:pPr>
            <a:r>
              <a:rPr sz="1650" b="1" i="0">
                <a:solidFill>
                  <a:srgbClr val="F4C95D"/>
                </a:solidFill>
              </a:rPr>
              <a:t>Daemon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9263C-6A94-4702-9767-3822BCB3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下載／OCR</a:t>
            </a:r>
          </a:p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翻譯／清洗</a:t>
            </a:r>
          </a:p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寫入檢查點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B384E-B3F1-48AE-9AAC-6E4A7524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D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CCA9A2-BDA5-4766-BF08-72149AC1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991D2-45D2-42D6-A66F-C9127CBE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AA981"/>
                </a:solidFill>
              </a:defRPr>
            </a:pPr>
            <a:r>
              <a:rPr sz="1650" b="1" i="0">
                <a:solidFill>
                  <a:srgbClr val="3AA981"/>
                </a:solidFill>
              </a:rPr>
              <a:t>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0344A-014F-418C-9C4F-F6D06AB6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看結果</a:t>
            </a:r>
          </a:p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抽查引用</a:t>
            </a:r>
          </a:p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核准入庫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C85A3D-5F9C-4C3B-AC72-15C74F3F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6324F"/>
                </a:solidFill>
              </a:defRPr>
            </a:pPr>
            <a:r>
              <a:rPr sz="1650" b="1" i="0">
                <a:solidFill>
                  <a:srgbClr val="16324F"/>
                </a:solidFill>
              </a:rPr>
              <a:t>人只在三個節點介入：定義、抽查、核准。</a:t>
            </a:r>
          </a:p>
        </p:txBody>
      </p:sp>
    </p:spTree>
    <p:extLst>
      <p:ext uri="{BB962C8B-B14F-4D97-AF65-F5344CB8AC3E}">
        <p14:creationId xmlns:p14="http://schemas.microsoft.com/office/powerpoint/2010/main" val="9246585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70D398-277B-4140-8D09-9C19D946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DASHBOARD｜第一版畫面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41509-AFA2-4EA2-8BDE-836657D1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C33FA-CD28-4636-BF25-9A1BE57E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61CF4-A4CF-44C9-8545-EB959902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第一版 Dashboard 可以長這樣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77B35-D480-463C-9430-F6565CC0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重點不是圖表多，而是每次打開都能回答：現在最重要的下一步是什麼？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F6E6F-0EBB-4423-84D1-D2FC541D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858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AA30B-05A7-443B-A76C-FBBA8F3A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190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1BD9B-0DED-4B17-9D9B-8E21E460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treefar</a:t>
            </a:r>
          </a:p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工作中樞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EB299-60CD-4EFF-98DB-DFA3B863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C7E8"/>
                </a:solidFill>
              </a:defRPr>
            </a:pPr>
            <a:r>
              <a:rPr sz="1275" b="1" i="0">
                <a:solidFill>
                  <a:srgbClr val="5BC7E8"/>
                </a:solidFill>
              </a:rPr>
              <a:t>總覽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16CA7-8853-4CC3-B9DC-23C95CCC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DEAF7"/>
                </a:solidFill>
              </a:defRPr>
            </a:pPr>
            <a:r>
              <a:rPr sz="1275" b="0" i="0">
                <a:solidFill>
                  <a:srgbClr val="DDEAF7"/>
                </a:solidFill>
              </a:rPr>
              <a:t>任務佇列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67AC79-E0D7-45F6-875F-2708ADE3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DEAF7"/>
                </a:solidFill>
              </a:defRPr>
            </a:pPr>
            <a:r>
              <a:rPr sz="1275" b="0" i="0">
                <a:solidFill>
                  <a:srgbClr val="DDEAF7"/>
                </a:solidFill>
              </a:rPr>
              <a:t>資料資產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B9176-50AE-454C-BFD1-B87C5CA5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DEAF7"/>
                </a:solidFill>
              </a:defRPr>
            </a:pPr>
            <a:r>
              <a:rPr sz="1275" b="0" i="0">
                <a:solidFill>
                  <a:srgbClr val="DDEAF7"/>
                </a:solidFill>
              </a:rPr>
              <a:t>Daemon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B280F-0AAD-4B64-91ED-8B53BFAB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29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DEAF7"/>
                </a:solidFill>
              </a:defRPr>
            </a:pPr>
            <a:r>
              <a:rPr sz="1275" b="0" i="0">
                <a:solidFill>
                  <a:srgbClr val="DDEAF7"/>
                </a:solidFill>
              </a:rPr>
              <a:t>Session／Repo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09BEA-AD98-4DC2-8FD3-55822959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DEAF7"/>
                </a:solidFill>
              </a:defRPr>
            </a:pPr>
            <a:r>
              <a:rPr sz="1275" b="0" i="0">
                <a:solidFill>
                  <a:srgbClr val="DDEAF7"/>
                </a:solidFill>
              </a:rPr>
              <a:t>設定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7E7C0-BCBF-476F-9A79-FE2EC9C5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今日總覽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49E508-0790-4343-9388-EF66548A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48000"/>
            <a:ext cx="2095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8AFC18-CEAB-4D6B-B16D-CF480F60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進行中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13F6BD-A727-426B-9674-81913114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2F7DE1"/>
                </a:solidFill>
              </a:defRPr>
            </a:pPr>
            <a:r>
              <a:rPr sz="2100" b="1" i="0">
                <a:solidFill>
                  <a:srgbClr val="2F7DE1"/>
                </a:solidFill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B991C0-B5D4-46CC-8FB4-57285C16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48000"/>
            <a:ext cx="2095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33A8F6-20F5-4DE8-84E9-B6CA41A7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81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待審核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9BA775-B582-45E6-B048-1BB90D63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F4C95D"/>
                </a:solidFill>
              </a:defRPr>
            </a:pPr>
            <a:r>
              <a:rPr sz="2100" b="1" i="0">
                <a:solidFill>
                  <a:srgbClr val="F4C95D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01817-3344-4E1E-9F2B-6000C5C2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00500"/>
            <a:ext cx="2095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42D87F-6C01-490A-AA69-F41395F0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3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阻塞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A913C8-174A-4C9C-BA88-5C0A0B9A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957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D85B68"/>
                </a:solidFill>
              </a:defRPr>
            </a:pPr>
            <a:r>
              <a:rPr sz="2100" b="1" i="0">
                <a:solidFill>
                  <a:srgbClr val="D85B68"/>
                </a:solidFill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C97A65-33FA-43EF-BBED-9EBAEEA2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00500"/>
            <a:ext cx="2095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0074D4-18D3-41CB-A5E2-93A3F8DF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3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rPr sz="1200" b="0" i="0">
                <a:solidFill>
                  <a:srgbClr val="5B6472"/>
                </a:solidFill>
              </a:rPr>
              <a:t>今日完成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F6EB1D-8468-414B-B8C3-4D184DAF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957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3AA981"/>
                </a:solidFill>
              </a:defRPr>
            </a:pPr>
            <a:r>
              <a:rPr sz="2100" b="1" i="0">
                <a:solidFill>
                  <a:srgbClr val="3AA981"/>
                </a:solidFill>
              </a:rPr>
              <a:t>18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248C1F-EEC9-498A-9432-F238AEDC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2857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42CF57-051F-4DE4-87A5-A0E5DCED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06E00"/>
                </a:solidFill>
              </a:defRPr>
            </a:pPr>
            <a:r>
              <a:rPr sz="1500" b="1" i="0">
                <a:solidFill>
                  <a:srgbClr val="A06E00"/>
                </a:solidFill>
              </a:rPr>
              <a:t>需要您決定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024C08-CA08-4705-BEC6-304D3EF1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0400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• 藝術資料 3 筆待抽查</a:t>
            </a:r>
          </a:p>
          <a:p xmlns:a="http://schemas.openxmlformats.org/drawingml/2006/main">
            <a:pPr algn="l"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• 系務會議資料缺一份</a:t>
            </a:r>
          </a:p>
          <a:p xmlns:a="http://schemas.openxmlformats.org/drawingml/2006/main">
            <a:pPr algn="l">
              <a:defRPr sz="1200" b="0" i="0">
                <a:solidFill>
                  <a:srgbClr val="111827"/>
                </a:solidFill>
              </a:defRPr>
            </a:pPr>
            <a:r>
              <a:rPr sz="1200" b="0" i="0">
                <a:solidFill>
                  <a:srgbClr val="111827"/>
                </a:solidFill>
              </a:rPr>
              <a:t>• 博論文獻分類有 2 筆衝突</a:t>
            </a:r>
          </a:p>
        </p:txBody>
      </p:sp>
    </p:spTree>
    <p:extLst>
      <p:ext uri="{BB962C8B-B14F-4D97-AF65-F5344CB8AC3E}">
        <p14:creationId xmlns:p14="http://schemas.microsoft.com/office/powerpoint/2010/main" val="11024066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752A77-3D13-4AA8-B316-B7CFF928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建置路線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B506F-9B77-45F6-9CA2-4305BEAB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239E4-36BC-414B-9E9C-70D67E89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46189-8AFA-498D-8B0F-CC5E1971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90 天建置順序：先可見，再可控，最後才擴大自動化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906D2-DA31-4423-A611-F622F665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每一階段都有可驗收的結果。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A96AF-F106-4886-985B-B74A07BE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287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354BA-860B-4D8C-9199-B5ADF734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F7DE1"/>
                </a:solidFill>
              </a:defRPr>
            </a:pPr>
            <a:r>
              <a:rPr sz="1650" b="1" i="0">
                <a:solidFill>
                  <a:srgbClr val="2F7DE1"/>
                </a:solidFill>
              </a:rPr>
              <a:t>0–30 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5A89D-0F10-4D41-8E92-BDE261CD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Task Schema＋Session Registry＋總覽頁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2823D-B431-4877-81F5-7496ED36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能回答每個任務在哪、誰負責、下一步是什麼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F722B-FA35-42BB-A984-84CF9E8C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287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43125-F708-479C-9281-AEBFFCB3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BC7E8"/>
                </a:solidFill>
              </a:defRPr>
            </a:pPr>
            <a:r>
              <a:rPr sz="1650" b="1" i="0">
                <a:solidFill>
                  <a:srgbClr val="5BC7E8"/>
                </a:solidFill>
              </a:rPr>
              <a:t>31–60 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6F63E-6646-45D0-BC54-1532EBC4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099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Daemon Runner＋檢查點＋失敗通知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FF44F-7411-46D5-A840-C1561CC4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夜間備份與一條資料管線可穩定重跑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1A9FB-187F-44D7-8EA4-4CF65DFF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287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F7801-C1C6-4ED2-A856-87370995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C95D"/>
                </a:solidFill>
              </a:defRPr>
            </a:pPr>
            <a:r>
              <a:rPr sz="1650" b="1" i="0">
                <a:solidFill>
                  <a:srgbClr val="F4C95D"/>
                </a:solidFill>
              </a:rPr>
              <a:t>61–90 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BFA1F1-EC04-4524-A858-33B65374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529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藝術資料 Dashboard＋審核流程＋報表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976C6-FF94-4A5E-B12D-43BF41BB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來源到研究筆記可追溯，成果可交接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EB2DAA-CDD7-4598-88A9-50F80CDB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287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D0E7C-EC49-451C-87B9-B45218AE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97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先做一條完整、可重跑的流程，再複製到其他工作。</a:t>
            </a:r>
          </a:p>
        </p:txBody>
      </p:sp>
    </p:spTree>
    <p:extLst>
      <p:ext uri="{BB962C8B-B14F-4D97-AF65-F5344CB8AC3E}">
        <p14:creationId xmlns:p14="http://schemas.microsoft.com/office/powerpoint/2010/main" val="12075119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1B83B-12CB-46DC-AB37-92327F5D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給您的建言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3D2D6-EBFE-4F64-962C-FFAA7EB1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22CD7-2FE3-4F14-BD8A-C856E721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BFA33-0D2A-4368-947E-403DD121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三個最值得先做的決定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4CE4C-A2CB-4A97-9E6B-B50D4973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系統能否長期省力，取決於邊界與驗收，不是功能數量。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06333-4CB1-4B6D-9161-6DA98AF0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F7DE1"/>
                </a:solidFill>
              </a:defRPr>
            </a:pPr>
            <a:r>
              <a:rPr sz="1725" b="1" i="0">
                <a:solidFill>
                  <a:srgbClr val="2F7DE1"/>
                </a:solidFill>
              </a:rPr>
              <a:t>一、統一任務格式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C8499-F3A8-4377-8DE3-09DB6A64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任何 Session、Daemon、爬蟲、資料處理都先寫目的／輸入／輸出／驗證／下一步。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56266-9D2D-46DF-A0F9-AC19D553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88CF2-65BE-4A65-86EE-E966AE69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4C95D"/>
                </a:solidFill>
              </a:defRPr>
            </a:pPr>
            <a:r>
              <a:rPr sz="1725" b="1" i="0">
                <a:solidFill>
                  <a:srgbClr val="F4C95D"/>
                </a:solidFill>
              </a:rPr>
              <a:t>二、把人工閘門寫進流程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42814-F7F6-465E-8510-88355E96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86125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研究結論、授權、公開、系務決策永遠需要您核准；AI 不替您承擔責任。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D1987-1284-43E5-AA2E-FD6ABE67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26877-994B-4BF2-A7CD-7D43F7A6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AA981"/>
                </a:solidFill>
              </a:defRPr>
            </a:pPr>
            <a:r>
              <a:rPr sz="1725" b="1" i="0">
                <a:solidFill>
                  <a:srgbClr val="3AA981"/>
                </a:solidFill>
              </a:rPr>
              <a:t>三、用一條管線做出信任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D450F-900D-4215-8D08-6DDB3BFC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8150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先把藝術資料或 Obsidian 備份做成可重跑範例，累積可觀測性後再擴張。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72925-6373-448E-9060-336DBDAC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8B69E-2DBF-412B-BB77-5C4C84D8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0965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9525">
            <a:solidFill>
              <a:srgbClr val="E9DCA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69DC3-C38A-4446-B7D4-490ABC2B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197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A5200"/>
                </a:solidFill>
              </a:defRPr>
            </a:pPr>
            <a:r>
              <a:rPr sz="1350" b="1" i="0">
                <a:solidFill>
                  <a:srgbClr val="7A5200"/>
                </a:solidFill>
              </a:rPr>
              <a:t>最終目標：讓您把注意力放回教學品質、博論問題、作品與重要決策。</a:t>
            </a:r>
          </a:p>
        </p:txBody>
      </p:sp>
    </p:spTree>
    <p:extLst>
      <p:ext uri="{BB962C8B-B14F-4D97-AF65-F5344CB8AC3E}">
        <p14:creationId xmlns:p14="http://schemas.microsoft.com/office/powerpoint/2010/main" val="17136903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9A343-8E8A-4D70-A68A-E800AD7E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EC258-D94B-4A40-B366-FAF06A47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把工具堆，變成工作系統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179A7-E86A-4AAF-A2C8-94C37268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5BC7E8"/>
                </a:solidFill>
              </a:defRPr>
            </a:pPr>
            <a:r>
              <a:rPr sz="2400" b="1" i="0">
                <a:solidFill>
                  <a:srgbClr val="5BC7E8"/>
                </a:solidFill>
              </a:rPr>
              <a:t>Dashboard 讓您看得懂</a:t>
            </a:r>
          </a:p>
          <a:p xmlns:a="http://schemas.openxmlformats.org/drawingml/2006/main">
            <a:pPr algn="l">
              <a:defRPr sz="2400" b="1" i="0">
                <a:solidFill>
                  <a:srgbClr val="5BC7E8"/>
                </a:solidFill>
              </a:defRPr>
            </a:pPr>
            <a:r>
              <a:rPr sz="2400" b="1" i="0">
                <a:solidFill>
                  <a:srgbClr val="5BC7E8"/>
                </a:solidFill>
              </a:rPr>
              <a:t>管理器讓任務走得動</a:t>
            </a:r>
          </a:p>
          <a:p xmlns:a="http://schemas.openxmlformats.org/drawingml/2006/main">
            <a:pPr algn="l">
              <a:defRPr sz="2400" b="1" i="0">
                <a:solidFill>
                  <a:srgbClr val="5BC7E8"/>
                </a:solidFill>
              </a:defRPr>
            </a:pPr>
            <a:r>
              <a:rPr sz="2400" b="1" i="0">
                <a:solidFill>
                  <a:srgbClr val="5BC7E8"/>
                </a:solidFill>
              </a:rPr>
              <a:t>Daemon 讓流程跑得久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E4F44-0FFF-473C-B453-B880D8FF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DEAF7"/>
                </a:solidFill>
              </a:defRPr>
            </a:pPr>
            <a:r>
              <a:rPr sz="1500" b="0" i="0">
                <a:solidFill>
                  <a:srgbClr val="DDEAF7"/>
                </a:solidFill>
              </a:rPr>
              <a:t>下一步：先選一條可重跑的資料管線，建立第一個可信的工作中樞。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8F01A-3A4C-4B85-AE9B-5839DCFA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65785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150" b="1" i="0">
                <a:solidFill>
                  <a:srgbClr val="16324F"/>
                </a:solidFill>
              </a:defRPr>
            </a:pPr>
            <a:r>
              <a:rPr sz="3150" b="1" i="0">
                <a:solidFill>
                  <a:srgbClr val="16324F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640191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2026-08-09T06:21:49.1310000Z</dcterms:created>
  <dcterms:modified xsi:type="dcterms:W3CDTF">2026-08-09T06:21:49.1310000Z</dcterms:modified>
</coreProperties>
</file>