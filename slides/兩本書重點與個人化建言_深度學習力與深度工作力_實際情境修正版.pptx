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f67987862a4feb" /><Relationship Type="http://schemas.openxmlformats.org/officeDocument/2006/relationships/extended-properties" Target="/docProps/app.xml" Id="Rb9e53937e7d5447e" /><Relationship Type="http://schemas.openxmlformats.org/officeDocument/2006/relationships/officeDocument" Target="/ppt/presentation.xml" Id="Rbe57969b713749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bf8dc51ab34d7e"/>
  </p:sldMasterIdLst>
  <p:notesMasterIdLst>
    <p:notesMasterId xmlns:r="http://schemas.openxmlformats.org/officeDocument/2006/relationships" r:id="R584d7c7023224da1"/>
  </p:notesMasterIdLst>
  <p:sldIdLst>
    <p:sldId xmlns:r="http://schemas.openxmlformats.org/officeDocument/2006/relationships" id="256" r:id="R4fc0d2d5368f4532"/>
    <p:sldId xmlns:r="http://schemas.openxmlformats.org/officeDocument/2006/relationships" id="257" r:id="R0b944cfcb8704695"/>
    <p:sldId xmlns:r="http://schemas.openxmlformats.org/officeDocument/2006/relationships" id="258" r:id="Rf110f5c111f34230"/>
    <p:sldId xmlns:r="http://schemas.openxmlformats.org/officeDocument/2006/relationships" id="259" r:id="R72f58083eb334e59"/>
    <p:sldId xmlns:r="http://schemas.openxmlformats.org/officeDocument/2006/relationships" id="260" r:id="R57bf192ee0154e25"/>
    <p:sldId xmlns:r="http://schemas.openxmlformats.org/officeDocument/2006/relationships" id="261" r:id="Raf274cb0c8184927"/>
    <p:sldId xmlns:r="http://schemas.openxmlformats.org/officeDocument/2006/relationships" id="262" r:id="R01c223def44d48f1"/>
    <p:sldId xmlns:r="http://schemas.openxmlformats.org/officeDocument/2006/relationships" id="263" r:id="R92aad028eecd412c"/>
    <p:sldId xmlns:r="http://schemas.openxmlformats.org/officeDocument/2006/relationships" id="264" r:id="R9d5c05ff74b94039"/>
    <p:sldId xmlns:r="http://schemas.openxmlformats.org/officeDocument/2006/relationships" id="265" r:id="R17c32a0df61942bb"/>
    <p:sldId xmlns:r="http://schemas.openxmlformats.org/officeDocument/2006/relationships" id="266" r:id="R641df1ab2ca94458"/>
    <p:sldId xmlns:r="http://schemas.openxmlformats.org/officeDocument/2006/relationships" id="267" r:id="R39983c7eb04347fe"/>
    <p:sldId xmlns:r="http://schemas.openxmlformats.org/officeDocument/2006/relationships" id="268" r:id="R89c5c412c3de4466"/>
    <p:sldId xmlns:r="http://schemas.openxmlformats.org/officeDocument/2006/relationships" id="269" r:id="R8f7e38510d3547ec"/>
    <p:sldId xmlns:r="http://schemas.openxmlformats.org/officeDocument/2006/relationships" id="270" r:id="Rc263d54213c84643"/>
    <p:sldId xmlns:r="http://schemas.openxmlformats.org/officeDocument/2006/relationships" id="271" r:id="R4612dc2a46174d02"/>
    <p:sldId xmlns:r="http://schemas.openxmlformats.org/officeDocument/2006/relationships" id="272" r:id="Rcb3a6a40c8e24b75"/>
    <p:sldId xmlns:r="http://schemas.openxmlformats.org/officeDocument/2006/relationships" id="273" r:id="R0418776ee79a45ef"/>
    <p:sldId xmlns:r="http://schemas.openxmlformats.org/officeDocument/2006/relationships" id="274" r:id="R3b3601ae2fa148d6"/>
    <p:sldId xmlns:r="http://schemas.openxmlformats.org/officeDocument/2006/relationships" id="275" r:id="R6b3eae46f2e14fcb"/>
    <p:sldId xmlns:r="http://schemas.openxmlformats.org/officeDocument/2006/relationships" id="276" r:id="R43b2124f486645be"/>
    <p:sldId xmlns:r="http://schemas.openxmlformats.org/officeDocument/2006/relationships" id="277" r:id="R0955a32753a94990"/>
    <p:sldId xmlns:r="http://schemas.openxmlformats.org/officeDocument/2006/relationships" id="278" r:id="R861fa59ac2b54932"/>
    <p:sldId xmlns:r="http://schemas.openxmlformats.org/officeDocument/2006/relationships" id="279" r:id="R6f53aaf9e88241ce"/>
    <p:sldId xmlns:r="http://schemas.openxmlformats.org/officeDocument/2006/relationships" id="280" r:id="R698d8a4f63f9490d"/>
    <p:sldId xmlns:r="http://schemas.openxmlformats.org/officeDocument/2006/relationships" id="281" r:id="R4c83fb4ef9364aa7"/>
    <p:sldId xmlns:r="http://schemas.openxmlformats.org/officeDocument/2006/relationships" id="282" r:id="Rd92d52ec928c4726"/>
    <p:sldId xmlns:r="http://schemas.openxmlformats.org/officeDocument/2006/relationships" id="283" r:id="R05ce9e53c1014e12"/>
    <p:sldId xmlns:r="http://schemas.openxmlformats.org/officeDocument/2006/relationships" id="284" r:id="R0d81e7e8b37e47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0352d32bc94203" /><Relationship Type="http://schemas.openxmlformats.org/officeDocument/2006/relationships/slideMaster" Target="/ppt/slideMasters/slideMaster1.xml" Id="R78bf8dc51ab34d7e" /><Relationship Type="http://schemas.openxmlformats.org/officeDocument/2006/relationships/notesMaster" Target="/ppt/notesMasters/notesMaster1.xml" Id="R584d7c7023224da1" /><Relationship Type="http://schemas.openxmlformats.org/officeDocument/2006/relationships/presProps" Target="/ppt/presProps.xml" Id="R63094de087054a20" /><Relationship Type="http://schemas.openxmlformats.org/officeDocument/2006/relationships/tableStyles" Target="/ppt/tableStyles.xml" Id="Rf917127c5fdb46f4" /><Relationship Type="http://schemas.openxmlformats.org/officeDocument/2006/relationships/slide" Target="/ppt/slides/slide1.xml" Id="R4fc0d2d5368f4532" /><Relationship Type="http://schemas.openxmlformats.org/officeDocument/2006/relationships/slide" Target="/ppt/slides/slide2.xml" Id="R0b944cfcb8704695" /><Relationship Type="http://schemas.openxmlformats.org/officeDocument/2006/relationships/slide" Target="/ppt/slides/slide3.xml" Id="Rf110f5c111f34230" /><Relationship Type="http://schemas.openxmlformats.org/officeDocument/2006/relationships/slide" Target="/ppt/slides/slide4.xml" Id="R72f58083eb334e59" /><Relationship Type="http://schemas.openxmlformats.org/officeDocument/2006/relationships/slide" Target="/ppt/slides/slide5.xml" Id="R57bf192ee0154e25" /><Relationship Type="http://schemas.openxmlformats.org/officeDocument/2006/relationships/slide" Target="/ppt/slides/slide6.xml" Id="Raf274cb0c8184927" /><Relationship Type="http://schemas.openxmlformats.org/officeDocument/2006/relationships/slide" Target="/ppt/slides/slide7.xml" Id="R01c223def44d48f1" /><Relationship Type="http://schemas.openxmlformats.org/officeDocument/2006/relationships/slide" Target="/ppt/slides/slide8.xml" Id="R92aad028eecd412c" /><Relationship Type="http://schemas.openxmlformats.org/officeDocument/2006/relationships/slide" Target="/ppt/slides/slide9.xml" Id="R9d5c05ff74b94039" /><Relationship Type="http://schemas.openxmlformats.org/officeDocument/2006/relationships/slide" Target="/ppt/slides/slide10.xml" Id="R17c32a0df61942bb" /><Relationship Type="http://schemas.openxmlformats.org/officeDocument/2006/relationships/slide" Target="/ppt/slides/slide11.xml" Id="R641df1ab2ca94458" /><Relationship Type="http://schemas.openxmlformats.org/officeDocument/2006/relationships/slide" Target="/ppt/slides/slide12.xml" Id="R39983c7eb04347fe" /><Relationship Type="http://schemas.openxmlformats.org/officeDocument/2006/relationships/slide" Target="/ppt/slides/slide13.xml" Id="R89c5c412c3de4466" /><Relationship Type="http://schemas.openxmlformats.org/officeDocument/2006/relationships/slide" Target="/ppt/slides/slide14.xml" Id="R8f7e38510d3547ec" /><Relationship Type="http://schemas.openxmlformats.org/officeDocument/2006/relationships/slide" Target="/ppt/slides/slide15.xml" Id="Rc263d54213c84643" /><Relationship Type="http://schemas.openxmlformats.org/officeDocument/2006/relationships/slide" Target="/ppt/slides/slide16.xml" Id="R4612dc2a46174d02" /><Relationship Type="http://schemas.openxmlformats.org/officeDocument/2006/relationships/slide" Target="/ppt/slides/slide17.xml" Id="Rcb3a6a40c8e24b75" /><Relationship Type="http://schemas.openxmlformats.org/officeDocument/2006/relationships/slide" Target="/ppt/slides/slide18.xml" Id="R0418776ee79a45ef" /><Relationship Type="http://schemas.openxmlformats.org/officeDocument/2006/relationships/slide" Target="/ppt/slides/slide19.xml" Id="R3b3601ae2fa148d6" /><Relationship Type="http://schemas.openxmlformats.org/officeDocument/2006/relationships/slide" Target="/ppt/slides/slide20.xml" Id="R6b3eae46f2e14fcb" /><Relationship Type="http://schemas.openxmlformats.org/officeDocument/2006/relationships/slide" Target="/ppt/slides/slide21.xml" Id="R43b2124f486645be" /><Relationship Type="http://schemas.openxmlformats.org/officeDocument/2006/relationships/slide" Target="/ppt/slides/slide22.xml" Id="R0955a32753a94990" /><Relationship Type="http://schemas.openxmlformats.org/officeDocument/2006/relationships/slide" Target="/ppt/slides/slide23.xml" Id="R861fa59ac2b54932" /><Relationship Type="http://schemas.openxmlformats.org/officeDocument/2006/relationships/slide" Target="/ppt/slides/slide24.xml" Id="R6f53aaf9e88241ce" /><Relationship Type="http://schemas.openxmlformats.org/officeDocument/2006/relationships/slide" Target="/ppt/slides/slide25.xml" Id="R698d8a4f63f9490d" /><Relationship Type="http://schemas.openxmlformats.org/officeDocument/2006/relationships/slide" Target="/ppt/slides/slide26.xml" Id="R4c83fb4ef9364aa7" /><Relationship Type="http://schemas.openxmlformats.org/officeDocument/2006/relationships/slide" Target="/ppt/slides/slide27.xml" Id="Rd92d52ec928c4726" /><Relationship Type="http://schemas.openxmlformats.org/officeDocument/2006/relationships/slide" Target="/ppt/slides/slide28.xml" Id="R05ce9e53c1014e12" /><Relationship Type="http://schemas.openxmlformats.org/officeDocument/2006/relationships/slide" Target="/ppt/slides/slide29.xml" Id="R0d81e7e8b37e47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49376ffd4c42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ae180bd7e4460a" /><Relationship Type="http://schemas.openxmlformats.org/officeDocument/2006/relationships/notesMaster" Target="/ppt/notesMasters/notesMaster1.xml" Id="Rc714bfbc9bc140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a7b0c1abc04754" /><Relationship Type="http://schemas.openxmlformats.org/officeDocument/2006/relationships/notesMaster" Target="/ppt/notesMasters/notesMaster1.xml" Id="R536cb1860db74a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2f1ca0d15448ff" /><Relationship Type="http://schemas.openxmlformats.org/officeDocument/2006/relationships/notesMaster" Target="/ppt/notesMasters/notesMaster1.xml" Id="R91d69eb8d9024c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053d8c83fb4edd" /><Relationship Type="http://schemas.openxmlformats.org/officeDocument/2006/relationships/notesMaster" Target="/ppt/notesMasters/notesMaster1.xml" Id="R9bd520898f784c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08112f4fbb43cb" /><Relationship Type="http://schemas.openxmlformats.org/officeDocument/2006/relationships/notesMaster" Target="/ppt/notesMasters/notesMaster1.xml" Id="R8037a0fc5c4840f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6bfd728bb0451c" /><Relationship Type="http://schemas.openxmlformats.org/officeDocument/2006/relationships/notesMaster" Target="/ppt/notesMasters/notesMaster1.xml" Id="R46aab7c2ba8a43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beefb025784609" /><Relationship Type="http://schemas.openxmlformats.org/officeDocument/2006/relationships/notesMaster" Target="/ppt/notesMasters/notesMaster1.xml" Id="R1cc3a9a70e2845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c9af3796c94cef" /><Relationship Type="http://schemas.openxmlformats.org/officeDocument/2006/relationships/notesMaster" Target="/ppt/notesMasters/notesMaster1.xml" Id="R13361c3cf6a744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dc9013624e42b4" /><Relationship Type="http://schemas.openxmlformats.org/officeDocument/2006/relationships/notesMaster" Target="/ppt/notesMasters/notesMaster1.xml" Id="Re22bfdf489a843e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b1cf91b9534ab2" /><Relationship Type="http://schemas.openxmlformats.org/officeDocument/2006/relationships/notesMaster" Target="/ppt/notesMasters/notesMaster1.xml" Id="Ra7a4aed051b1406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9195d819354b12" /><Relationship Type="http://schemas.openxmlformats.org/officeDocument/2006/relationships/notesMaster" Target="/ppt/notesMasters/notesMaster1.xml" Id="R36bc3006233b47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7536c3b1894a53" /><Relationship Type="http://schemas.openxmlformats.org/officeDocument/2006/relationships/notesMaster" Target="/ppt/notesMasters/notesMaster1.xml" Id="R644cff2e45aa4b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01af21e53b4a2f" /><Relationship Type="http://schemas.openxmlformats.org/officeDocument/2006/relationships/notesMaster" Target="/ppt/notesMasters/notesMaster1.xml" Id="R0cfe463b185640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83a68fd1584c2b" /><Relationship Type="http://schemas.openxmlformats.org/officeDocument/2006/relationships/notesMaster" Target="/ppt/notesMasters/notesMaster1.xml" Id="Rf7a4c44cfc8242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3a36d75d4a487e" /><Relationship Type="http://schemas.openxmlformats.org/officeDocument/2006/relationships/notesMaster" Target="/ppt/notesMasters/notesMaster1.xml" Id="R039f074719814a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3048da32bc46b5" /><Relationship Type="http://schemas.openxmlformats.org/officeDocument/2006/relationships/notesMaster" Target="/ppt/notesMasters/notesMaster1.xml" Id="Rd68764d9940c46f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1a3add86ef4f72" /><Relationship Type="http://schemas.openxmlformats.org/officeDocument/2006/relationships/notesMaster" Target="/ppt/notesMasters/notesMaster1.xml" Id="R9faa324552ec49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96c677f48934d2b" /><Relationship Type="http://schemas.openxmlformats.org/officeDocument/2006/relationships/notesMaster" Target="/ppt/notesMasters/notesMaster1.xml" Id="Rbe40d160628246f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c47e3b6ad2b4041" /><Relationship Type="http://schemas.openxmlformats.org/officeDocument/2006/relationships/notesMaster" Target="/ppt/notesMasters/notesMaster1.xml" Id="R3ae053ed162f4a1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d731e6b86594eb0" /><Relationship Type="http://schemas.openxmlformats.org/officeDocument/2006/relationships/notesMaster" Target="/ppt/notesMasters/notesMaster1.xml" Id="R56ff66a23caa4d0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6195e24d6ea40c1" /><Relationship Type="http://schemas.openxmlformats.org/officeDocument/2006/relationships/notesMaster" Target="/ppt/notesMasters/notesMaster1.xml" Id="Rd0a369815044410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5c84ea8ee54c78" /><Relationship Type="http://schemas.openxmlformats.org/officeDocument/2006/relationships/notesMaster" Target="/ppt/notesMasters/notesMaster1.xml" Id="R09e90d7a049e4c2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d898dda8ca14680" /><Relationship Type="http://schemas.openxmlformats.org/officeDocument/2006/relationships/notesMaster" Target="/ppt/notesMasters/notesMaster1.xml" Id="Rce7a930df0ef477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2ecde8ce37a47b4" /><Relationship Type="http://schemas.openxmlformats.org/officeDocument/2006/relationships/notesMaster" Target="/ppt/notesMasters/notesMaster1.xml" Id="R22c818b4f8a0493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774d5ba283f4f19" /><Relationship Type="http://schemas.openxmlformats.org/officeDocument/2006/relationships/notesMaster" Target="/ppt/notesMasters/notesMaster1.xml" Id="Rd0f728653ec64ba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56d86d78d554793" /><Relationship Type="http://schemas.openxmlformats.org/officeDocument/2006/relationships/notesMaster" Target="/ppt/notesMasters/notesMaster1.xml" Id="Rc0f2a7c1f3fc4b4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a0858a66e4441c9" /><Relationship Type="http://schemas.openxmlformats.org/officeDocument/2006/relationships/notesMaster" Target="/ppt/notesMasters/notesMaster1.xml" Id="R12153e405d754ae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7f180022a1744ee" /><Relationship Type="http://schemas.openxmlformats.org/officeDocument/2006/relationships/notesMaster" Target="/ppt/notesMasters/notesMaster1.xml" Id="R2617704f168c480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ed90290e5c14a4b" /><Relationship Type="http://schemas.openxmlformats.org/officeDocument/2006/relationships/notesMaster" Target="/ppt/notesMasters/notesMaster1.xml" Id="Re95c2120980546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開場：這份簡報不是把兩本書各自摘要一次，而是把它們接成一套『建立能力 → 保護注意力 → 產出作品』的工作系統。個人化部分依使用者的教學、博論、系務與 AI 工作脈絡提出。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本頁是本版的情境校正。已確認脈絡來自使用者的身分、長期記憶與本次對話；未再次確認的外部專案與他人案例不列入本版。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本頁把使用者的實際工作拆成四條主線，避免以單一學生、單一專案或外部案例代替使用者脈絡。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書籍目錄依博客來頁面整理；《深度學習力》原書採 75 條法則，不是傳統章節，因此本簡報明確標示『依主題重組』，避免把推論分組誤寫成原書章名。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書籍結構與 75 條法則範圍依博客來目錄整理。推論／建言：五個主題區段是本簡報為了教學與個人實踐而做的分類，不是原書正式章名。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本頁涵蓋法則 01–15；法則名稱依博客來目錄，解釋為摘要與整合。個人化建言：使用者同時承擔教學、系務、研究，不宜照抄學生作息，而應轉成每週分流儀式。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本頁涵蓋法則 16–30。個人化建言把『大計畫』對應到博論、情感運算與 Unity 教學案例；這是應用推論，不是書中針對使用者的內容。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本頁涵蓋法則 31–45。『學期代表作』是依書中長期輸出、課堂外寫作與研究貢獻概念提出的教學應用。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本頁以法則 46–60 的主題整理呈現；書中包含成績、朋友、健康、系務參與與默默服務等法則。個人化建言聚焦系務責任分散與可交接性。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本頁涵蓋法則 61–75。『公開展示的成果』與『可重用教材／原型』是把書中作品、發表、長期計畫與不留遺憾轉成使用者現有工作的具體版本。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判讀：本頁將 75 條法則壓縮為可執行原則，並明確區分作者的情境化規則與可跨情境移植的做法。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深度工作力目錄依博客來頁面：Part 1 三章、Part 2 四項原則與策略。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第一章重點依博客來目錄與內容簡介整理。個人化建言：將博論、課程設計、系務決策視為高認知工作。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第二章四個分心原因依博客來目錄整理。最後一句是對使用者工作流程的推論，特別針對系務通知、Session 切換與 AI 工具過量。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第三章三種論證依目錄整理；研究倫理與 AI 分工是依使用者的博論與 AI 工作情境提出的建言。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原則一六項策略依博客來目錄整理。『每週三個 90 分鐘』延續既有簡報建議，並依使用者三種工作角色分流。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原則二四項策略依博客來目錄整理。AI 分工建言與使用者目前的 Claude Code／MCP 工作方式相關。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原則三策略依博客來目錄整理。工具盤點依使用者提到的 Claude Code、MCP、Obsidian、社群爬蟲與多 Session 環境提出。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原則四五項策略依博客來目錄整理。『每天兩次集中回覆』沿用既有個人化建議，並把系務急件導向單一管道。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本頁是對四項原則的整合判讀；個人化部分保留系主任與教師需要合作、回覆與決策的現實。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『能力鏈』是本簡報的整合框架，並非作者原文術語；用來把兩本書的論證與實踐順序連接起來。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個人化建言：依使用者教學專長與兩本書的學習系統、深度工作原則整合。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個人化建言：依使用者博士研究方向與既有 AI 工作方式提出。『AI 不代替核心理論判斷』是研究品質與可重現性的原則性建議。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個人化建言：依系主任的系務情境與深度工作力的淺薄工作管理原則提出；建議保留人工決策，不把系務判斷完全自動化。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個人化建言：依使用者目前的 Claude Code、MCP、Session 管理器、Dashboard／Daemon 規劃提出；外部書籍只提供原則，系統設計屬應用推論。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個人化建言依使用者明確提到的名古屋美術館、Paul Klee、蔦屋書店畫冊與 Internet Archive 藝術資料情境；未加入未確認的外部專案。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個人化建言依使用者描述的 Claude Code Session／Repo、MCP、Dashboard／Daemon、Facebook／Threads 爬蟲與 Obsidian 同步流程整理。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四週試行是本簡報的應用方案，依兩本書的儀式、時間方塊、長期計畫與回顧原則設計；不是作者原書的固定計畫。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https://www.books.com.tw/products/0010983215 — 《深度學習力》書籍頁、目錄與內容簡介</a:t>
            </a:r>
          </a:p>
          <a:p xmlns:a="http://schemas.openxmlformats.org/drawingml/2006/main">
            <a:r>
              <a:t>- https://www.books.com.tw/products/0010906940 — 《深度工作力》書籍頁、目錄與內容簡介</a:t>
            </a:r>
          </a:p>
          <a:p xmlns:a="http://schemas.openxmlformats.org/drawingml/2006/main">
            <a:r>
              <a:t>- https://www.penguinrandomhouse.com/books/121348/how-to-win-at-college-by-cal-newport/ — 原作定位</a:t>
            </a:r>
          </a:p>
          <a:p xmlns:a="http://schemas.openxmlformats.org/drawingml/2006/main">
            <a:r>
              <a:t>- https://www.hachettebookgroup.com/titles/cal-newport/deep-work/9781455586677/ — 原作定位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本頁是為首頁卡片設計的摘要頁；如果首頁指的是 Codex 應用程式中的最近檔案／投影片卡片，會以這份完整版 PPTX 作為開啟檔案。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f0b970d684a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3f2945b9c740ce" /><Relationship Type="http://schemas.openxmlformats.org/officeDocument/2006/relationships/slideLayout" Target="/ppt/slideLayouts/slideLayout1.xml" Id="R813512d73e5b41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3512d73e5b41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f076b1680406b" /><Relationship Type="http://schemas.openxmlformats.org/officeDocument/2006/relationships/notesSlide" Target="/ppt/notesSlides/notesSlide1.xml" Id="R3cbad253dc5b4a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b6e57b51b4340" /><Relationship Type="http://schemas.openxmlformats.org/officeDocument/2006/relationships/notesSlide" Target="/ppt/notesSlides/notesSlide2.xml" Id="R959399e767a743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8a54023594d1e" /><Relationship Type="http://schemas.openxmlformats.org/officeDocument/2006/relationships/notesSlide" Target="/ppt/notesSlides/notesSlide3.xml" Id="R2a5908fac9af4f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29fc3757e4a21" /><Relationship Type="http://schemas.openxmlformats.org/officeDocument/2006/relationships/notesSlide" Target="/ppt/notesSlides/notesSlide4.xml" Id="R5868a4a9b42e41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a07722c57470d" /><Relationship Type="http://schemas.openxmlformats.org/officeDocument/2006/relationships/notesSlide" Target="/ppt/notesSlides/notesSlide5.xml" Id="Rb7404956f85646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39f57e550e4aec" /><Relationship Type="http://schemas.openxmlformats.org/officeDocument/2006/relationships/notesSlide" Target="/ppt/notesSlides/notesSlide6.xml" Id="R4f072cf78ab74e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bff201fdc41fd" /><Relationship Type="http://schemas.openxmlformats.org/officeDocument/2006/relationships/notesSlide" Target="/ppt/notesSlides/notesSlide7.xml" Id="R652416a89eb440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1db1e24924976" /><Relationship Type="http://schemas.openxmlformats.org/officeDocument/2006/relationships/notesSlide" Target="/ppt/notesSlides/notesSlide8.xml" Id="R156934ef19a04b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85f94a1b2477c" /><Relationship Type="http://schemas.openxmlformats.org/officeDocument/2006/relationships/notesSlide" Target="/ppt/notesSlides/notesSlide9.xml" Id="R7db371586baa4e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edfa352124cd2" /><Relationship Type="http://schemas.openxmlformats.org/officeDocument/2006/relationships/notesSlide" Target="/ppt/notesSlides/notesSlide10.xml" Id="R5cf699912b2d40d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48421c15444b1" /><Relationship Type="http://schemas.openxmlformats.org/officeDocument/2006/relationships/notesSlide" Target="/ppt/notesSlides/notesSlide11.xml" Id="Rc63c1a35ad874e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8b39685f0491f" /><Relationship Type="http://schemas.openxmlformats.org/officeDocument/2006/relationships/notesSlide" Target="/ppt/notesSlides/notesSlide12.xml" Id="Rd2c788d3e41b40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a6f36cfd74e53" /><Relationship Type="http://schemas.openxmlformats.org/officeDocument/2006/relationships/notesSlide" Target="/ppt/notesSlides/notesSlide13.xml" Id="R7b8289cf5bc443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c15df05614b08" /><Relationship Type="http://schemas.openxmlformats.org/officeDocument/2006/relationships/notesSlide" Target="/ppt/notesSlides/notesSlide14.xml" Id="R4cee7fd489ad40c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c66ed2c304309" /><Relationship Type="http://schemas.openxmlformats.org/officeDocument/2006/relationships/notesSlide" Target="/ppt/notesSlides/notesSlide15.xml" Id="R37d1abf7b7084f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2d480c870d41b1" /><Relationship Type="http://schemas.openxmlformats.org/officeDocument/2006/relationships/notesSlide" Target="/ppt/notesSlides/notesSlide16.xml" Id="R27128c1dd18a4c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3ab545a904dae" /><Relationship Type="http://schemas.openxmlformats.org/officeDocument/2006/relationships/notesSlide" Target="/ppt/notesSlides/notesSlide17.xml" Id="R36273934093141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36095495b423c" /><Relationship Type="http://schemas.openxmlformats.org/officeDocument/2006/relationships/notesSlide" Target="/ppt/notesSlides/notesSlide18.xml" Id="R333034214e934a3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a4cb86e574d30" /><Relationship Type="http://schemas.openxmlformats.org/officeDocument/2006/relationships/notesSlide" Target="/ppt/notesSlides/notesSlide19.xml" Id="Rb3833a9625ef41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08430a5874c62" /><Relationship Type="http://schemas.openxmlformats.org/officeDocument/2006/relationships/notesSlide" Target="/ppt/notesSlides/notesSlide20.xml" Id="R6d11010b969f41b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23b60268f4265" /><Relationship Type="http://schemas.openxmlformats.org/officeDocument/2006/relationships/notesSlide" Target="/ppt/notesSlides/notesSlide21.xml" Id="R4ff3745a07fa4c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817e39ba74de8" /><Relationship Type="http://schemas.openxmlformats.org/officeDocument/2006/relationships/notesSlide" Target="/ppt/notesSlides/notesSlide22.xml" Id="Ra3bc79f952d24c4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5dc57eaf649ae" /><Relationship Type="http://schemas.openxmlformats.org/officeDocument/2006/relationships/notesSlide" Target="/ppt/notesSlides/notesSlide23.xml" Id="R5b621f3c87e44a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d6229264c4e66" /><Relationship Type="http://schemas.openxmlformats.org/officeDocument/2006/relationships/notesSlide" Target="/ppt/notesSlides/notesSlide24.xml" Id="Rb5c00068c10046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d862bae5f460b" /><Relationship Type="http://schemas.openxmlformats.org/officeDocument/2006/relationships/notesSlide" Target="/ppt/notesSlides/notesSlide25.xml" Id="Rbce25eaf56bb474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660c7cb544ee0" /><Relationship Type="http://schemas.openxmlformats.org/officeDocument/2006/relationships/notesSlide" Target="/ppt/notesSlides/notesSlide26.xml" Id="Rf9945e919ec740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165f457d24be8" /><Relationship Type="http://schemas.openxmlformats.org/officeDocument/2006/relationships/notesSlide" Target="/ppt/notesSlides/notesSlide27.xml" Id="R8c86f279195346c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5d3c836bd4969" /><Relationship Type="http://schemas.openxmlformats.org/officeDocument/2006/relationships/notesSlide" Target="/ppt/notesSlides/notesSlide28.xml" Id="R19562d6d1d624a7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6f8afbbcb4b68" /><Relationship Type="http://schemas.openxmlformats.org/officeDocument/2006/relationships/notesSlide" Target="/ppt/notesSlides/notesSlide29.xml" Id="R322a6ce289a346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EC677-E9E6-4EEE-82CF-B8DAA088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D0713-F2EE-45C7-B5FC-EB2385DC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E1"/>
          </a:solidFill>
          <a:ln xmlns:a="http://schemas.openxmlformats.org/drawingml/2006/main" w="9525">
            <a:solidFill>
              <a:srgbClr val="2F7D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95E61-56F8-4953-B4D6-7BCF51A2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7E8"/>
          </a:solidFill>
          <a:ln xmlns:a="http://schemas.openxmlformats.org/drawingml/2006/main" w="9525">
            <a:solidFill>
              <a:srgbClr val="5BC7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51F40-8EAB-4AE7-AA83-C8FF8A49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BC7E8"/>
                </a:solidFill>
              </a:defRPr>
            </a:pPr>
            <a:r>
              <a:rPr sz="1125" b="1" i="0">
                <a:solidFill>
                  <a:srgbClr val="5BC7E8"/>
                </a:solidFill>
              </a:rPr>
              <a:t>閱讀與工作系統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C957E-5FF0-49D4-A67C-1B4D13AE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810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從深度學習</a:t>
            </a:r>
          </a:p>
          <a:p xmlns:a="http://schemas.openxmlformats.org/drawingml/2006/main">
            <a:pPr algn="l">
              <a:defRPr sz="4650" b="1" i="0">
                <a:solidFill>
                  <a:srgbClr val="FFFFFF"/>
                </a:solidFill>
              </a:defRPr>
            </a:pPr>
            <a:r>
              <a:rPr sz="4650" b="1" i="0">
                <a:solidFill>
                  <a:srgbClr val="FFFFFF"/>
                </a:solidFill>
              </a:rPr>
              <a:t>到深度工作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33B10-944D-4505-81E5-694C8A20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685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DEAF7"/>
                </a:solidFill>
              </a:defRPr>
            </a:pPr>
            <a:r>
              <a:rPr sz="1725" b="0" i="0">
                <a:solidFill>
                  <a:srgbClr val="DDEAF7"/>
                </a:solidFill>
              </a:rPr>
              <a:t>《深度學習力》×《深度工作力》</a:t>
            </a:r>
          </a:p>
          <a:p xmlns:a="http://schemas.openxmlformats.org/drawingml/2006/main">
            <a:pPr algn="l">
              <a:defRPr sz="1725" b="0" i="0">
                <a:solidFill>
                  <a:srgbClr val="DDEAF7"/>
                </a:solidFill>
              </a:defRPr>
            </a:pPr>
            <a:r>
              <a:rPr sz="1725" b="0" i="0">
                <a:solidFill>
                  <a:srgbClr val="DDEAF7"/>
                </a:solidFill>
              </a:rPr>
              <a:t>完整目錄、各章重點與個人化實踐方案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E56FA2-0C6C-47D0-A0D8-D09607C8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FD4E8"/>
                </a:solidFill>
              </a:defRPr>
            </a:pPr>
            <a:r>
              <a:rPr sz="1050" b="0" i="0">
                <a:solidFill>
                  <a:srgbClr val="BFD4E8"/>
                </a:solidFill>
              </a:rPr>
              <a:t>樹德科技大學動畫與遊戲設計系｜閱讀整理版｜2026.08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C0296-B07E-416D-B213-0F5356B9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657850"/>
            <a:ext cx="104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3150" b="1" i="0">
                <a:solidFill>
                  <a:srgbClr val="16324F"/>
                </a:solidFill>
              </a:defRPr>
            </a:pPr>
            <a:r>
              <a:rPr sz="3150" b="1" i="0">
                <a:solidFill>
                  <a:srgbClr val="16324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28179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6A7986-670B-480C-9605-3CC9A9FB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閱讀地圖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43145E-E126-486E-AAE9-37F711B0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724E9-2642-4885-8848-B2FE95FC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B74BD-4879-4316-8481-34C633EF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這份版本只使用您已確認的工作脈絡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49138-5645-4D83-8FD8-0E5F6BD3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上一版不應把未再次確認的專案案例當成您的核心情境；本版改用以下四條主線。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ED958-CFD8-427E-AC25-B9CDBF7C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3D5DE-B448-47F9-933C-ED68B737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F7DE1"/>
                </a:solidFill>
              </a:defRPr>
            </a:pPr>
            <a:r>
              <a:rPr sz="2250" b="1" i="0">
                <a:solidFill>
                  <a:srgbClr val="2F7DE1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C75F9-A17D-43DE-9C1A-5BD87A8E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教學與系務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C320A4-E03E-4192-9981-3C5015F5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Unity／C#、遊戲企劃、劇本與設計理論教學；系主任的會議、文件、決策與交接。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FFF59-3CD3-4857-9AFD-B8C792DF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03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9B13C1-623D-403F-9A31-2EE55B34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5BC7E8"/>
                </a:solidFill>
              </a:defRPr>
            </a:pPr>
            <a:r>
              <a:rPr sz="2250" b="1" i="0">
                <a:solidFill>
                  <a:srgbClr val="5BC7E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D22B6-8DC6-478A-B3B7-79D816A5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33750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博論與藝術研究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7CEEF-03D3-449C-990C-5C226AC8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29050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情感運算、NPC 情緒設計；名古屋美術館、Paul Klee、蔦屋書店畫冊與 Internet Archive 資料入庫。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47945-0A59-4947-814F-77EFA018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0030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2AF6F-87C5-4879-BD92-E7F6CA93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4C95D"/>
                </a:solidFill>
              </a:defRPr>
            </a:pPr>
            <a:r>
              <a:rPr sz="2250" b="1" i="0">
                <a:solidFill>
                  <a:srgbClr val="F4C95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28C177-F5BD-4223-8044-90E78F83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33750"/>
            <a:ext cx="2809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AI 工作系統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64CBA8-C41D-4886-9446-AF1981D6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29050"/>
            <a:ext cx="28098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Claude Code、Session／Repo、MCP、Dashboard／Daemon、Obsidian 同步與社群爬蟲輿情分析。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D8C29-CB55-42FF-92E6-8D3AD6A8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07632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E9DCA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CCEE5-B874-45DD-ABED-7BD7BEF4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324F"/>
                </a:solidFill>
              </a:defRPr>
            </a:pPr>
            <a:r>
              <a:rPr sz="1275" b="1" i="0">
                <a:solidFill>
                  <a:srgbClr val="16324F"/>
                </a:solidFill>
              </a:rPr>
              <a:t>排除項目：不再使用未確認的外部專案名稱、他人工作案例或與您無關的情境。</a:t>
            </a:r>
          </a:p>
        </p:txBody>
      </p:sp>
    </p:spTree>
    <p:extLst>
      <p:ext uri="{BB962C8B-B14F-4D97-AF65-F5344CB8AC3E}">
        <p14:creationId xmlns:p14="http://schemas.microsoft.com/office/powerpoint/2010/main" val="10819916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C103A9-ACE7-4C91-B6F3-671E891F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個人情境校正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8B018C-1460-4805-ADC4-8904847F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BF58B-6800-4CFD-8E64-616799AA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7661B-FF40-49EA-9C71-2726C07D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您的實際工作不是單一職業，而是四條並行主線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DBFF0-D727-4C93-8989-4DC9C4D1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深度學習與深度工作要做的，不是把四條線混在一起，而是替每條線安排不同的節奏。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33646-5A7C-49E4-88FD-BB9AF984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7DE1"/>
                </a:solidFill>
              </a:defRPr>
            </a:pPr>
            <a:r>
              <a:rPr sz="1650" b="1" i="0">
                <a:solidFill>
                  <a:srgbClr val="2F7DE1"/>
                </a:solidFill>
              </a:rPr>
              <a:t>教學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9FC831-EF22-43EE-93DE-3B0AC5B6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14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Unity／C#、遊戲企劃、劇本、遊戲設計理論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17980D-5D50-4726-BF76-2C72B6D3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每學期留下可重用教材或可玩原型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939DF-D79F-49DF-9435-75D91AE7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AA5B22-9F28-4AA9-8818-C2A937AE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BC7E8"/>
                </a:solidFill>
              </a:defRPr>
            </a:pPr>
            <a:r>
              <a:rPr sz="1650" b="1" i="0">
                <a:solidFill>
                  <a:srgbClr val="5BC7E8"/>
                </a:solidFill>
              </a:rPr>
              <a:t>研究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A0ED0-4F4F-4DEC-961C-1B842C59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099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情感運算、NPC 情緒設計、博論與藝術評論資料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EB59E4-0F11-4742-AA67-11C5927D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每週保護長時間問題定義、閱讀與寫作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AF5D61-7E4B-4C85-9971-FBB8619C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3158C8-6C40-4EE3-BC66-61E5AA5D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C95D"/>
                </a:solidFill>
              </a:defRPr>
            </a:pPr>
            <a:r>
              <a:rPr sz="1650" b="1" i="0">
                <a:solidFill>
                  <a:srgbClr val="F4C95D"/>
                </a:solidFill>
              </a:rPr>
              <a:t>系務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50CAF-13C4-4362-A441-7233E1BE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05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系主任行政、會議、文件、決策與工作交接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F4BD9-9CA8-44E1-9148-ABD2CFE7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把回覆、會議與決策分層，不讓急件吞掉整天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AF416-4A26-4D2A-9DAC-3AEAB56C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C61B4-D4B9-4F93-95AF-5F512FBF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AA981"/>
                </a:solidFill>
              </a:defRPr>
            </a:pPr>
            <a:r>
              <a:rPr sz="1650" b="1" i="0">
                <a:solidFill>
                  <a:srgbClr val="3AA981"/>
                </a:solidFill>
              </a:rPr>
              <a:t>AI 工作系統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FEBDC4-2CCF-429E-A64E-F677734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006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Claude Code、MCP、Session／Repo、Dashboard／Daemon、爬蟲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AD3BFB-BED2-4F83-87D8-70807B47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006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讓 AI 處理批次雜務，人保留定義與驗證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BE0B4E-486B-41B4-8520-2156D19B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32328-803A-4321-8777-CA9A793C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324F"/>
                </a:solidFill>
              </a:defRPr>
            </a:pPr>
            <a:r>
              <a:rPr sz="1425" b="1" i="0">
                <a:solidFill>
                  <a:srgbClr val="16324F"/>
                </a:solidFill>
              </a:rPr>
              <a:t>這四條主線會在後半段逐一對應到具體做法。</a:t>
            </a:r>
          </a:p>
        </p:txBody>
      </p:sp>
    </p:spTree>
    <p:extLst>
      <p:ext uri="{BB962C8B-B14F-4D97-AF65-F5344CB8AC3E}">
        <p14:creationId xmlns:p14="http://schemas.microsoft.com/office/powerpoint/2010/main" val="1126223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80931-E34D-4950-A82E-3DFB2BD5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目錄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7AC7B-F9C1-404E-A53F-CCF46331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38AF23-0671-4E62-9B23-D6117F12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D7FB5-8A2D-47EA-B1CB-FE0B53D6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兩本書合起來，是一條能力鏈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409A4-EB34-4BE0-A40B-A4835F35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第一本解決『如何建立能力』，第二本解決『如何保護能力並持續產出』。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9F5BF-5CD6-46C2-A6DA-03CA79D0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600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7DE1"/>
          </a:solidFill>
          <a:ln xmlns:a="http://schemas.openxmlformats.org/drawingml/2006/main" w="9525">
            <a:solidFill>
              <a:srgbClr val="2F7D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68512D-AEFC-4E0B-A1E4-4EEE469E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深度學習力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9A1F8-3DD9-40A1-9E3A-59F11783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5262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75 條法則｜沒有傳統章名，以下依書中順序重組為五個主題區段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7FC0C-06AF-41C8-A8BB-304E6488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F7DE1"/>
                </a:solidFill>
              </a:defRPr>
            </a:pPr>
            <a:r>
              <a:rPr sz="2550" b="1" i="0">
                <a:solidFill>
                  <a:srgbClr val="2F7DE1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4B387-9727-4338-9572-16F12584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95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學習系統與生活設計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8A2943-87FA-4E6B-9CA1-F71EDD4D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384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法則 01–15：週日儀式、讀書系統、教授互動、社團與活動選擇。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85AF89-51EF-4CA7-ACE3-47C9952E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0520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B7279F-4D0D-400F-9EA4-A365C412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F7DE1"/>
                </a:solidFill>
              </a:defRPr>
            </a:pPr>
            <a:r>
              <a:rPr sz="2550" b="1" i="0">
                <a:solidFill>
                  <a:srgbClr val="2F7DE1"/>
                </a:solidFill>
              </a:rPr>
              <a:t>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6F92E-E8B3-4F69-82D6-47252D4B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04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長期計畫與學術資源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B133ED-FCAE-4217-B566-06AC1B06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433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法則 16–30：大計畫、研究圈、五十分鐘學習、課外寫作、困難課程。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1DEF6-2D09-443D-AAC3-2DD4BD66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010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9C0254-CAFD-4367-A0DC-11B7882F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F7DE1"/>
                </a:solidFill>
              </a:defRPr>
            </a:pPr>
            <a:r>
              <a:rPr sz="2550" b="1" i="0">
                <a:solidFill>
                  <a:srgbClr val="2F7DE1"/>
                </a:solidFill>
              </a:rPr>
              <a:t>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76776-C708-46F1-88D8-4C8148E7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053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深度學習與作品輸出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D7A669-FBCA-4BDF-88E5-35AAAD9F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4825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法則 31–45：學習環境、每日功課、報告、睡眠、考前與社交。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19FEB4-094E-463B-AF34-7DCD335A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EFE925-A14D-4E7C-8E4B-AB49A2E3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245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324F"/>
                </a:solidFill>
              </a:defRPr>
            </a:pPr>
            <a:r>
              <a:rPr sz="1275" b="1" i="0">
                <a:solidFill>
                  <a:srgbClr val="16324F"/>
                </a:solidFill>
              </a:rPr>
              <a:t>D／E：關係、健康、作品、目標與人生選擇（法則 46–75）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B1F2B-A539-459F-A29D-A06F0393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6002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8CB585-3105-49C2-8FC4-61EFF4E2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深度工作力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93E29B-2E49-424E-91BE-C8F8323F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296025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Part 1 概念：第 1–3 章｜Part 2 原則：原則一至四</a:t>
            </a:r>
          </a:p>
        </p:txBody>
      </p:sp>
    </p:spTree>
    <p:extLst>
      <p:ext uri="{BB962C8B-B14F-4D97-AF65-F5344CB8AC3E}">
        <p14:creationId xmlns:p14="http://schemas.microsoft.com/office/powerpoint/2010/main" val="961074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CDB45F-0C4D-4D6E-BD9C-AFD4195C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深度學習力｜書籍結構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3D76B-86B8-4051-B52D-A607A62C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44587-9D38-48F1-B138-AE163307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6EE9EA-51BD-4F1E-BB34-EEB8F03A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《深度學習力》不是教你更忙，而是教你設計大學四年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4029D-3228-4C63-A1A9-F08E3B91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作者把頂尖學生的做法整理成 75 條法則；核心是把校園資源轉成能力、關係與作品。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DDD83-5BF0-4363-AA69-3F220828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11125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9158D-5687-43BC-B367-E2F3EEC3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71725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75 條法則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64548-7450-4CE8-8783-227F50E0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DEAF7"/>
                </a:solidFill>
              </a:defRPr>
            </a:pPr>
            <a:r>
              <a:rPr sz="1425" b="0" i="0">
                <a:solidFill>
                  <a:srgbClr val="DDEAF7"/>
                </a:solidFill>
              </a:rPr>
              <a:t>時間管理 × 學習方法 × 師生互動 × 研究 × 社團 × 健康 × 長期計畫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258765-0B27-4370-9B81-6305DC2A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2019300" cy="20383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98EA6-C6CF-4AC7-A42D-A3DBFDBD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7DE1"/>
                </a:solidFill>
              </a:defRPr>
            </a:pPr>
            <a:r>
              <a:rPr sz="1350" b="1" i="0">
                <a:solidFill>
                  <a:srgbClr val="2F7DE1"/>
                </a:solidFill>
              </a:rPr>
              <a:t>01–15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7FFBD-FC1C-4F68-A888-833F4E9F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建立系統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44305-265F-4BCD-9DE1-243489BE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148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從週日儀式、課程取捨、讀書系統與教授互動開始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8E1BD3-A7AA-477F-AE16-4A0AF202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29000"/>
            <a:ext cx="2019300" cy="20383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3C774-BCCF-4381-A080-489EE23E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38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C7E8"/>
                </a:solidFill>
              </a:defRPr>
            </a:pPr>
            <a:r>
              <a:rPr sz="1350" b="1" i="0">
                <a:solidFill>
                  <a:srgbClr val="5BC7E8"/>
                </a:solidFill>
              </a:rPr>
              <a:t>16–30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1AA6C-3EFD-497A-AB8A-1386B3B7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57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擴大能力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67A18-DC29-41E0-A9E7-B9FE25F1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148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用大計畫、研究圈、寫作與困難課程建立差異化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7B061C-DC49-46B8-A1EC-75C2B2F4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2019300" cy="20383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E836FB-BA7B-4986-A8DF-0F38F2C9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38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AA981"/>
                </a:solidFill>
              </a:defRPr>
            </a:pPr>
            <a:r>
              <a:rPr sz="1350" b="1" i="0">
                <a:solidFill>
                  <a:srgbClr val="3AA981"/>
                </a:solidFill>
              </a:rPr>
              <a:t>31–45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2FD01-4AAB-4DE9-A050-757CFAF6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57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穩定輸出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5F323-1220-4A76-9431-D10A8D7C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5148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選對環境、每天累積、報告與考試不靠臨時抱佛腳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1D16E-1A4B-41A3-9B0E-9F1F640D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29000"/>
            <a:ext cx="2019300" cy="20383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599B01-7DEB-4084-9397-2D4D9DA5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38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C95D"/>
                </a:solidFill>
              </a:defRPr>
            </a:pPr>
            <a:r>
              <a:rPr sz="1350" b="1" i="0">
                <a:solidFill>
                  <a:srgbClr val="F4C95D"/>
                </a:solidFill>
              </a:rPr>
              <a:t>46–60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562928-DF8F-4E17-8895-65C5C285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57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經營關係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BC6A5-2BE5-40B4-9D8C-4764A059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148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傾聽、健康、成績與系務參與，避免只追逐 GPA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28360-2A86-4E46-BD67-CC105CE4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29000"/>
            <a:ext cx="2019300" cy="20383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AB1CD7-9A1B-4C5C-A413-5E9A4528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24F"/>
                </a:solidFill>
              </a:defRPr>
            </a:pPr>
            <a:r>
              <a:rPr sz="1350" b="1" i="0">
                <a:solidFill>
                  <a:srgbClr val="16324F"/>
                </a:solidFill>
              </a:rPr>
              <a:t>61–75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B69261-A73F-4FBA-9EDD-E622ACB3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576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留下作品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A8E508-A253-4163-AF1C-02EA660C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148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472"/>
                </a:solidFill>
              </a:defRPr>
            </a:pPr>
            <a:r>
              <a:rPr sz="1125" b="0" i="0">
                <a:solidFill>
                  <a:srgbClr val="5B6472"/>
                </a:solidFill>
              </a:rPr>
              <a:t>長期專案、發表、暑假、目標與不留遺憾</a:t>
            </a:r>
          </a:p>
        </p:txBody>
      </p:sp>
    </p:spTree>
    <p:extLst>
      <p:ext uri="{BB962C8B-B14F-4D97-AF65-F5344CB8AC3E}">
        <p14:creationId xmlns:p14="http://schemas.microsoft.com/office/powerpoint/2010/main" val="40036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CFAE6-94EB-414E-90A7-0DE80E2D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深度學習力｜法則 01–15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B1A33E-D7AC-485B-9551-753F4E35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D291F-6140-4E31-B87A-725E17F1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56071-CE32-4E95-81C2-E098DEA4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第一區段：先把大學生活變成可運作的系統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049F6-1BFC-447A-857B-08ABCC49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不是把每件事都做滿，而是先建立能反覆運作的節奏。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57407-9F92-446F-A665-60090CFB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7DE1"/>
                </a:solidFill>
              </a:defRPr>
            </a:pPr>
            <a:r>
              <a:rPr sz="1650" b="1" i="0">
                <a:solidFill>
                  <a:srgbClr val="2F7DE1"/>
                </a:solidFill>
              </a:rPr>
              <a:t>01–05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FFA0C-2921-4C5F-8653-2CE0EF0B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3050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時間與環境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849A9-EDD7-4C9B-80AE-A27CB385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638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不要讀完所有指定閱讀；建立週日儀式；長期作業當天啟動；整理床鋪。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0B14E-4754-4C6A-B1D6-481CF36B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8DAC7-B961-4770-A5EB-AD675771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7DE1"/>
                </a:solidFill>
              </a:defRPr>
            </a:pPr>
            <a:r>
              <a:rPr sz="1650" b="1" i="0">
                <a:solidFill>
                  <a:srgbClr val="2F7DE1"/>
                </a:solidFill>
              </a:rPr>
              <a:t>06–10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07649-60C4-41A5-8B8B-6DBD448C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671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資源與關係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81EDA-4471-459B-8AE0-E3040E14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67100"/>
            <a:ext cx="638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申請獎學金、建立讀書系統、結識教授、擔任社團幹部、每天讀報。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3575B9-877B-453F-9C74-1BC573AC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58B6E-22F1-43EE-8879-26499837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7DE1"/>
                </a:solidFill>
              </a:defRPr>
            </a:pPr>
            <a:r>
              <a:rPr sz="1650" b="1" i="0">
                <a:solidFill>
                  <a:srgbClr val="2F7DE1"/>
                </a:solidFill>
              </a:rPr>
              <a:t>11–15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38E4B-694B-4325-94B2-E3D3E2F7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29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差異化選擇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D62C8-77ED-4A0B-811B-1628EC72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638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培養一項強項；避免待辦清單氾濫；學會放棄；開學第一週就進入活動。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45AE0-11CA-401E-91AF-D3E95C86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1051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971ED4-739E-4B3C-81FB-F57A430A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5156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CDEA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749E7E-06BE-4E1C-B9E7-B0B41F41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674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324F"/>
                </a:solidFill>
              </a:defRPr>
            </a:pPr>
            <a:r>
              <a:rPr sz="1275" b="1" i="0">
                <a:solidFill>
                  <a:srgbClr val="16324F"/>
                </a:solidFill>
              </a:rPr>
              <a:t>扣接您的工作：把『週日儀式』改成每週研究／教學／系務的分流會議，先決定本週唯一的高價值產出。</a:t>
            </a:r>
          </a:p>
        </p:txBody>
      </p:sp>
    </p:spTree>
    <p:extLst>
      <p:ext uri="{BB962C8B-B14F-4D97-AF65-F5344CB8AC3E}">
        <p14:creationId xmlns:p14="http://schemas.microsoft.com/office/powerpoint/2010/main" val="9260597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AAE082-1562-4A6A-BA0B-4219735F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深度學習力｜法則 16–30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2FFFA-DF5E-4B9C-8AE7-D123CC26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3FC2F0-F02E-4687-B5B9-D125BE81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8DE9A-070D-4600-A300-288924CD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第二區段：用長期計畫與研究圈，讓能力開始複利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8CA29-28C2-471B-961A-B5AB2BD9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能力不是靠一次衝刺，而是靠一個持續兩學期以上的計畫。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E9FDE-8021-4FD1-ABD4-78C65716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685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• 法則 16–18：持續一項大計畫；選修藝術史、天文學等跨域課程；偶爾成為課堂上的調分障礙。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• 法則 19–21：每堂課問一次問題；儘快進入研究圈；為實驗室做出可見貢獻。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• 法則 22–26：以 50 分鐘為單位念書；安排空閒；體面上課；提前兩週準備考試。</a:t>
            </a:r>
          </a:p>
          <a:p xmlns:a="http://schemas.openxmlformats.org/drawingml/2006/main">
            <a:pPr algn="l">
              <a:defRPr sz="1425" b="0" i="0">
                <a:solidFill>
                  <a:srgbClr val="111827"/>
                </a:solidFill>
              </a:defRPr>
            </a:pPr>
            <a:r>
              <a:rPr sz="1425" b="0" i="0">
                <a:solidFill>
                  <a:srgbClr val="111827"/>
                </a:solidFill>
              </a:rPr>
              <a:t>• 法則 27–30：課堂外寫作；找到獨處空間；早修困難課程；把學習從教室延伸出去。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E19AB-3DEB-4D22-BF21-519AC015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43150"/>
            <a:ext cx="31432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45B471-A8B7-4E87-9738-A1CCB31F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C7E8"/>
                </a:solidFill>
              </a:defRPr>
            </a:pPr>
            <a:r>
              <a:rPr sz="1350" b="1" i="0">
                <a:solidFill>
                  <a:srgbClr val="5BC7E8"/>
                </a:solidFill>
              </a:rPr>
              <a:t>您的版本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77074E-4661-4868-800F-4E8E75DE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博論／情感運算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＋ Unity 教學案例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＋ NPC 情緒設計資料庫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B88BE-6210-4153-8CC1-E5988D4F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29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DEAF7"/>
                </a:solidFill>
              </a:defRPr>
            </a:pPr>
            <a:r>
              <a:rPr sz="1275" b="0" i="0">
                <a:solidFill>
                  <a:srgbClr val="DDEAF7"/>
                </a:solidFill>
              </a:rPr>
              <a:t>每學期只選一個能留下作品的長期計畫。</a:t>
            </a:r>
          </a:p>
        </p:txBody>
      </p:sp>
    </p:spTree>
    <p:extLst>
      <p:ext uri="{BB962C8B-B14F-4D97-AF65-F5344CB8AC3E}">
        <p14:creationId xmlns:p14="http://schemas.microsoft.com/office/powerpoint/2010/main" val="1546408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2F52C9-D45A-4274-A154-0E6886DA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深度學習力｜法則 31–45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3FA89C-AB3E-4017-8319-2A6B3893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1CD00-734C-40FD-9EF8-0418B14F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F6311-02CE-477D-8422-384A7311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第三區段：把學習變成穩定輸出，而不是考前爆發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811E9B-E516-4E0F-A1AA-61B4AC29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書中反覆提醒：環境、節奏與回饋，往往比意志力更可靠。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8639F-5F12-46F0-BE18-7750F6B1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49339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74AE1-FD4E-4DAE-AF3D-37B4AB46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7DE1"/>
                </a:solidFill>
              </a:defRPr>
            </a:pPr>
            <a:r>
              <a:rPr sz="1800" b="1" i="0">
                <a:solidFill>
                  <a:srgbClr val="2F7DE1"/>
                </a:solidFill>
              </a:rPr>
              <a:t>學習環境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BEE11-4872-486B-8CA3-FCF51129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• 不要在房間裡念書，也不要和一群人一起念書：建立有邊界的專注場域。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• 每天做功課、參加講座、運動與保持睡眠：讓認知能力有穩定燃料。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DB54A-F850-42EA-B933-B4AE653F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49339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E9DC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AD070-8F76-4A71-8DAF-9269B687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71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A06E00"/>
                </a:solidFill>
              </a:defRPr>
            </a:pPr>
            <a:r>
              <a:rPr sz="1800" b="1" i="0">
                <a:solidFill>
                  <a:srgbClr val="A06E00"/>
                </a:solidFill>
              </a:rPr>
              <a:t>穩定輸出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F0977-8F15-4355-8974-F847C8A0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• 報告用三天寫完、考前放輕鬆：把長期累積轉成最後輸出。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• 把朋友與健康納入系統：成就不是用耗損身體換來的。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DFA6E-224D-4BB8-A148-3C6B99FE7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53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324F"/>
                </a:solidFill>
              </a:defRPr>
            </a:pPr>
            <a:r>
              <a:rPr sz="1425" b="1" i="0">
                <a:solidFill>
                  <a:srgbClr val="16324F"/>
                </a:solidFill>
              </a:rPr>
              <a:t>扣接您的教學：每門課設定一項『學期代表作』，其餘活動服務於它。</a:t>
            </a:r>
          </a:p>
        </p:txBody>
      </p:sp>
    </p:spTree>
    <p:extLst>
      <p:ext uri="{BB962C8B-B14F-4D97-AF65-F5344CB8AC3E}">
        <p14:creationId xmlns:p14="http://schemas.microsoft.com/office/powerpoint/2010/main" val="19268536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13C4A-6060-4FCD-99CA-51BB4F18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深度學習力｜法則 46–60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37A15-61BF-4D3E-AE55-E006563B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1DE2C5-C095-49EF-91A1-647C961A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64C2C-9155-4690-92C0-7F6DA084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第四區段：關係、健康與成績，要一起被設計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A9667-DB03-400C-BC9E-E5229ABB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不是只追逐 GPA；書中把人際、健康、服務與系務參與視為競爭力的一部分。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0E081-CE8B-4CF9-870F-696F32DA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F7DE1"/>
                </a:solidFill>
              </a:defRPr>
            </a:pPr>
            <a:r>
              <a:rPr sz="2550" b="1" i="0">
                <a:solidFill>
                  <a:srgbClr val="2F7DE1"/>
                </a:solidFill>
              </a:rPr>
              <a:t>46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D3AB99-26BD-4F7B-A7E4-4B2C779E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00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不要把同儕成績當成自己的座標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5C1851-E293-49A4-9170-89D79C6F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4320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把注意力放在自己的成長曲線、作品品質與真正重要的關係。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1AC1B-7F03-4F56-A29B-B1B6CF2B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0995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DB9989-1640-4A8B-868E-9241E1AC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861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5BC7E8"/>
                </a:solidFill>
              </a:defRPr>
            </a:pPr>
            <a:r>
              <a:rPr sz="2550" b="1" i="0">
                <a:solidFill>
                  <a:srgbClr val="5BC7E8"/>
                </a:solidFill>
              </a:rPr>
              <a:t>47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5A385-177E-4516-9492-318C0794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052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結識傑出的人，學習傾聽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515D06-EF17-461F-BCD8-40204425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4810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關係不是收集名片，而是長期互相提供問題、回饋與機會。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9C800-F43C-4F64-9770-92F6871D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1485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5236A-511F-4E1A-A197-3AB7D903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AA981"/>
                </a:solidFill>
              </a:defRPr>
            </a:pPr>
            <a:r>
              <a:rPr sz="2550" b="1" i="0">
                <a:solidFill>
                  <a:srgbClr val="3AA981"/>
                </a:solidFill>
              </a:rPr>
              <a:t>48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D1C1C5-286B-4046-8D33-27242557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10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睡眠、飲食、運動與不熬夜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41AF2-597D-46E9-8E1E-1AC3FA18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985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學習系統若以透支身體為代價，最後會反過來摧毀產出。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E830C-77E8-4DB6-9E8F-211EE19F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9858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101128-9464-4274-BCE1-9886BABB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515600" cy="304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DE05A-73D9-45D6-85C5-A1C87AD9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19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324F"/>
                </a:solidFill>
              </a:defRPr>
            </a:pPr>
            <a:r>
              <a:rPr sz="1200" b="1" i="0">
                <a:solidFill>
                  <a:srgbClr val="16324F"/>
                </a:solidFill>
              </a:rPr>
              <a:t>扣接系務：把『參與系上事務』轉成可交接的制度，不要讓所有責任都集中在一個人身上。</a:t>
            </a:r>
          </a:p>
        </p:txBody>
      </p:sp>
    </p:spTree>
    <p:extLst>
      <p:ext uri="{BB962C8B-B14F-4D97-AF65-F5344CB8AC3E}">
        <p14:creationId xmlns:p14="http://schemas.microsoft.com/office/powerpoint/2010/main" val="9786987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BFF2F-3784-483F-B0E8-4A07BEF3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深度學習力｜法則 61–75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F52B2-8B5B-4571-9189-D9EC4C54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DA9B2-4CEB-4EEB-9915-DBDD0251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860FDE-EEF9-4C82-A14A-39C96ADF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第五區段：最後要留下的是作品與方向，不是忙碌的回憶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509D4-EDD8-4AAE-AC78-9F12E4B2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75 條法則的收束，是把大學變成未來的跳板，而不是單純完成課表。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462B5-6DF3-4CBB-B3FD-F4B215F6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03D5D-16C4-4BDC-9F51-BDEDB598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F7DE1"/>
                </a:solidFill>
              </a:defRPr>
            </a:pPr>
            <a:r>
              <a:rPr sz="1350" b="1" i="0">
                <a:solidFill>
                  <a:srgbClr val="2F7DE1"/>
                </a:solidFill>
              </a:rPr>
              <a:t>61–63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0EF55-D291-47E0-96F4-62A4E2CF7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作品與暑假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12C9D-97F4-4E24-8712-F782A210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寫出高品質作品，參與公共討論，最大化利用暑假。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962EF-C05E-4534-9A75-5EF3E2A9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4683D-C4C5-45B6-ABD6-2451FA68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05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C7E8"/>
                </a:solidFill>
              </a:defRPr>
            </a:pPr>
            <a:r>
              <a:rPr sz="1350" b="1" i="0">
                <a:solidFill>
                  <a:srgbClr val="5BC7E8"/>
                </a:solidFill>
              </a:rPr>
              <a:t>64–68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1732D-ABC6-465F-854C-93E5B208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81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目標與公開輸出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20B6F6-B12F-426C-AABB-8DFFFA0E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制定目標、探索方向、課間保持動力、發表專欄、建立文件櫃。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7E4DE-258A-4CEC-971F-1963698A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C4422-3D78-49C4-B4C0-1AB11D06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AA981"/>
                </a:solidFill>
              </a:defRPr>
            </a:pPr>
            <a:r>
              <a:rPr sz="1350" b="1" i="0">
                <a:solidFill>
                  <a:srgbClr val="3AA981"/>
                </a:solidFill>
              </a:rPr>
              <a:t>69–72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192A4-3598-4B33-8BA7-D04776F5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81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環境與記憶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AA960-04AC-4D75-AE41-28E38F65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秘密讀書空間、提問記憶法、清空收件匣、睡前放鬆。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585562-2940-4BE9-B54A-50391CFD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76500"/>
            <a:ext cx="24003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5D4BD-3585-42EA-9656-7A1B4FB0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05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4C95D"/>
                </a:solidFill>
              </a:defRPr>
            </a:pPr>
            <a:r>
              <a:rPr sz="1350" b="1" i="0">
                <a:solidFill>
                  <a:srgbClr val="F4C95D"/>
                </a:solidFill>
              </a:rPr>
              <a:t>73–75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B2373-E8D7-483B-9A83-195E4C94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813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長期選擇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B75409-11B5-490B-A5B6-3F08C41E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338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起步快、收尾慢；交換學習；不要讓四年留下可避免的遺憾。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AB2EC-9130-4F1B-9393-3C060B38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324F"/>
                </a:solidFill>
              </a:defRPr>
            </a:pPr>
            <a:r>
              <a:rPr sz="1425" b="1" i="0">
                <a:solidFill>
                  <a:srgbClr val="16324F"/>
                </a:solidFill>
              </a:rPr>
              <a:t>扣接博論：每年要有一個能公開展示的成果；扣接遊戲教學：每學期至少有一個可重用教材或可玩原型。</a:t>
            </a:r>
          </a:p>
        </p:txBody>
      </p:sp>
    </p:spTree>
    <p:extLst>
      <p:ext uri="{BB962C8B-B14F-4D97-AF65-F5344CB8AC3E}">
        <p14:creationId xmlns:p14="http://schemas.microsoft.com/office/powerpoint/2010/main" val="17250107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EDA7B8-A131-4096-9EF5-D58B7A9E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深度學習力｜小結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67105-99C0-4096-9BAC-061D45BC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1CBB2-409A-48AC-9C44-CF33EDAA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8DCFF-8137-458C-8C82-6B02FEE4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《深度學習力》的真正核心：把大學當成能力實驗室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93BCD0-6CC4-419A-A0DD-4977F97B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可採用的是原則；不能照抄的是特定學校、年代與個人條件。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E9167-70A4-4CA7-B91F-161FB9AD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6680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BF6B3-5453-48DD-9E52-4FB37420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選擇少數槓桿 → 反覆練習 → 留下作品 → 擴大能力圈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E1257-5FEA-46D9-AC84-098F8787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可帶走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188F85-D41E-4FCC-AF35-FCD4F9C8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固定儀式、長期專案、教授／同儕關係、50 分鐘學習、公開作品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FE7FD-7B86-4DC5-A941-41FE3C2A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C95D"/>
                </a:solidFill>
              </a:defRPr>
            </a:pPr>
            <a:r>
              <a:rPr sz="1575" b="1" i="0">
                <a:solidFill>
                  <a:srgbClr val="F4C95D"/>
                </a:solidFill>
              </a:rPr>
              <a:t>需調整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278C4-8A9F-4FB8-AF28-FA582A10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624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退選課程、獨自用餐、不要午睡、獎學金數量等，不應當成普遍規則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AD3E8-1810-43E0-B762-AFA122AC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AA981"/>
                </a:solidFill>
              </a:defRPr>
            </a:pPr>
            <a:r>
              <a:rPr sz="1575" b="1" i="0">
                <a:solidFill>
                  <a:srgbClr val="3AA981"/>
                </a:solidFill>
              </a:rPr>
              <a:t>對您最有用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CF533-F632-46A5-A40B-FEE2020F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624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把教學、博論、系務與 AI 工作各自指定一條可累積的主線</a:t>
            </a:r>
          </a:p>
        </p:txBody>
      </p:sp>
    </p:spTree>
    <p:extLst>
      <p:ext uri="{BB962C8B-B14F-4D97-AF65-F5344CB8AC3E}">
        <p14:creationId xmlns:p14="http://schemas.microsoft.com/office/powerpoint/2010/main" val="16135834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61492A-1A68-4435-A015-BAB88249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深度工作力｜書籍結構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E1F21-1EAB-4730-A903-12D87183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7A4D9-8773-45F7-8B93-84568686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D7053-7FC4-4D3E-AA22-8AB4A7A7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《深度工作力》先提出論證，再給四組操作原則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B52A9-1AFD-41EE-A15B-DE80640F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Part 1 回答『為什麼深度重要』；Part 2 回答『怎麼把深度做出來』。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C58DC-8D75-4DA7-B0B1-446ED0C9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7625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CDEA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5C5DA-9824-420A-AB08-40EE02C6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7DE1"/>
                </a:solidFill>
              </a:defRPr>
            </a:pPr>
            <a:r>
              <a:rPr sz="1650" b="1" i="0">
                <a:solidFill>
                  <a:srgbClr val="2F7DE1"/>
                </a:solidFill>
              </a:rPr>
              <a:t>PART 1｜概念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DA05C-27CE-4A38-A00E-52B81737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3905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第一章</a:t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深度工作力，創造價值的關鍵能力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第二章</a:t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當深度越稀有，就越值得投入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第三章</a:t>
            </a:r>
          </a:p>
          <a:p xmlns:a="http://schemas.openxmlformats.org/drawingml/2006/main">
            <a:pPr algn="l">
              <a:defRPr sz="1500" b="1" i="0">
                <a:solidFill>
                  <a:srgbClr val="111827"/>
                </a:solidFill>
              </a:defRPr>
            </a:pPr>
            <a:r>
              <a:rPr sz="1500" b="1" i="0">
                <a:solidFill>
                  <a:srgbClr val="111827"/>
                </a:solidFill>
              </a:rPr>
              <a:t>深度工作力，美好生活的必要條件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C35711-961D-49F9-BC3D-6F20D451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05050"/>
            <a:ext cx="56769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96DB4-AFE4-426E-8031-D70B8704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98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BC7E8"/>
                </a:solidFill>
              </a:defRPr>
            </a:pPr>
            <a:r>
              <a:rPr sz="1650" b="1" i="0">
                <a:solidFill>
                  <a:srgbClr val="5BC7E8"/>
                </a:solidFill>
              </a:rPr>
              <a:t>PART 2｜原則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90F94-1258-4ECB-865C-EFDFEA3E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33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原則一｜培養深度工作力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原則二｜學會擁抱無聊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原則三｜拒絕任何好處心態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原則四｜排除淺薄事務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129B2-9D06-4E00-ABE2-B5C2FD73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292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DEAF7"/>
                </a:solidFill>
              </a:defRPr>
            </a:pPr>
            <a:r>
              <a:rPr sz="1200" b="0" i="0">
                <a:solidFill>
                  <a:srgbClr val="DDEAF7"/>
                </a:solidFill>
              </a:rPr>
              <a:t>每項原則底下都有策略，重點是把專注從意志力改造成制度。</a:t>
            </a:r>
          </a:p>
        </p:txBody>
      </p:sp>
    </p:spTree>
    <p:extLst>
      <p:ext uri="{BB962C8B-B14F-4D97-AF65-F5344CB8AC3E}">
        <p14:creationId xmlns:p14="http://schemas.microsoft.com/office/powerpoint/2010/main" val="10113567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3EFA7-3579-401F-8840-6D7AF61A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深度工作力｜第一章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78F37-5B48-4B74-B7B1-451F6503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9139F2-AA95-4834-94CB-28E5F16C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D25538-9DB6-44A2-866F-B70E9A5B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第一章：深度工作力，是新經濟中的稀缺能力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24A21-8FD3-4A7F-9402-9D09669F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作者把深度工作定義為：在不受干擾的狀態下，處理需要高認知能力的任務。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F8E6F-6701-4F8C-AB5F-1B93AD51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2194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55449-FD2B-488F-88BF-80FA1BFC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219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E1"/>
          </a:solidFill>
          <a:ln xmlns:a="http://schemas.openxmlformats.org/drawingml/2006/main" w="9525">
            <a:solidFill>
              <a:srgbClr val="2F7D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94BAC2-4EEF-4B51-BFF5-5C5BC991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快速學習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AC041-8E5B-4D84-A504-18539D49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深度工作讓您能更快掌握困難技術，而不是只停留在熟悉的資訊表面。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0D49FC-01F6-4306-B7C3-842E68E8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32194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F3855B-E826-45A8-91A6-35B3F18D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57450"/>
            <a:ext cx="3219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7E8"/>
          </a:solidFill>
          <a:ln xmlns:a="http://schemas.openxmlformats.org/drawingml/2006/main" w="9525">
            <a:solidFill>
              <a:srgbClr val="5BC7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ACB51-0456-4101-9FAF-79081BF3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876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高效產出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95ED58-3AEB-4B06-984C-CB97F4BF4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24250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同樣的時間，集中注意力能產出更高品質、更難被取代的成果。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67749-CB0A-463A-9AB4-5098B919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2194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64939-182B-448D-A479-3490EF3A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57450"/>
            <a:ext cx="3219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5D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3A7ED3-0986-41DD-93FD-A536FEAC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76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不等於忙碌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3C9EB-B276-472F-976B-15F4CDBC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24250"/>
            <a:ext cx="2724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Email、會議、切換視窗與即時回覆看得見，卻不一定創造高價值。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88F381-5FF3-45D8-988A-58B49F74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24F"/>
                </a:solidFill>
              </a:defRPr>
            </a:pPr>
            <a:r>
              <a:rPr sz="1500" b="1" i="0">
                <a:solidFill>
                  <a:srgbClr val="16324F"/>
                </a:solidFill>
              </a:rPr>
              <a:t>扣接您的工作：博論問題、課程設計與系務決策都屬於深度任務；它們不能被零碎回覆取代。</a:t>
            </a:r>
          </a:p>
        </p:txBody>
      </p:sp>
    </p:spTree>
    <p:extLst>
      <p:ext uri="{BB962C8B-B14F-4D97-AF65-F5344CB8AC3E}">
        <p14:creationId xmlns:p14="http://schemas.microsoft.com/office/powerpoint/2010/main" val="1288492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ABFEC-6876-4D1C-BBA3-BD6DD5AA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深度工作力｜第二章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AE6B6-9D6B-4D47-B3C2-B47ED3A5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282CD-7CC7-4016-AB4B-C4419C5E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45BC89-794F-458E-8962-84A03C6A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第二章：越多人接受分心，深度就越有價值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9D646-043C-4902-8977-5735384B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作者指出四種讓淺薄工作蔓延的力量，並把它們視為制度問題，而非個人意志薄弱。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607CD8-8136-4505-AA57-C1A5F141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7DE1"/>
                </a:solidFill>
              </a:defRPr>
            </a:pPr>
            <a:r>
              <a:rPr sz="1800" b="1" i="0">
                <a:solidFill>
                  <a:srgbClr val="2F7DE1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E4D17-A195-4629-9FF9-948C165C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669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度量黑洞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34BAD-E79E-4E5A-AFD6-DEDF1019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難以量化的思考工作，容易被可計數的回信、會議與通知取代。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31F01-37A5-4710-9020-8029392F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45A95-B0C3-48E5-88D7-41E578F6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7DE1"/>
                </a:solidFill>
              </a:defRPr>
            </a:pPr>
            <a:r>
              <a:rPr sz="1800" b="1" i="0">
                <a:solidFill>
                  <a:srgbClr val="2F7DE1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436D9-C7B6-48BC-BEA6-B4E9826C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最小阻力原則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CB704-1F00-4D07-8DAF-309F27C6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861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組織往往選擇最容易執行的溝通方式，卻不一定是最有價值的方式。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B19BA-9C1E-4D42-970F-AB72B0FD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86438-8609-4AA0-80A4-2A0A8CA4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7DE1"/>
                </a:solidFill>
              </a:defRPr>
            </a:pPr>
            <a:r>
              <a:rPr sz="1800" b="1" i="0">
                <a:solidFill>
                  <a:srgbClr val="2F7DE1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C217F-A385-4B82-8618-CE01709A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以忙碌代表生產力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DB543-EE3A-44CF-A3E9-A1C92B35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快速回覆與行程塞滿，會被誤認為有效率。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E9275-B40A-456A-BEEC-84D7834B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B23A99-CE73-42D5-963A-73CD4854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7DE1"/>
                </a:solidFill>
              </a:defRPr>
            </a:pPr>
            <a:r>
              <a:rPr sz="1800" b="1" i="0">
                <a:solidFill>
                  <a:srgbClr val="2F7DE1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A5EEB9-AF60-4853-85A2-A07818D9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244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網路狂熱教派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06D820-5936-4391-9D5B-63624C75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2440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只要工具帶來一點好處，就忽略它同時造成的注意力成本。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A4AC92-ABB4-4794-A2A3-E763F08E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45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82B4D-54C6-4D54-86FC-3F61D663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4394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2E4348-0F08-43E9-A5CB-8D3200CA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578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324F"/>
                </a:solidFill>
              </a:defRPr>
            </a:pPr>
            <a:r>
              <a:rPr sz="1275" b="1" i="0">
                <a:solidFill>
                  <a:srgbClr val="16324F"/>
                </a:solidFill>
              </a:rPr>
              <a:t>對您最重要的轉譯：不要只問『我要不要更努力』，要問『哪一種工作制度正在製造淺薄？』</a:t>
            </a:r>
          </a:p>
        </p:txBody>
      </p:sp>
    </p:spTree>
    <p:extLst>
      <p:ext uri="{BB962C8B-B14F-4D97-AF65-F5344CB8AC3E}">
        <p14:creationId xmlns:p14="http://schemas.microsoft.com/office/powerpoint/2010/main" val="14658206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5F5A8-131F-4F1D-BE5F-BD0E8406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深度工作力｜第三章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DE96E-A432-497C-A6CA-62540436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95063-38F9-49BC-8475-445E3517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EABD0-45E0-4A62-8F8E-75A0EFBF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第三章：深度工作不只是效率技巧，也是一種生活選擇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513A4-77C3-4622-B402-D24346B2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作者從神經學、心理學與哲學三個角度，說明為何投入深度會改變生活品質。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CBFFE-5D86-4277-A14A-16E6F289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908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C84C5-6F4A-4817-9EC0-DC5A1E1D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7DE1"/>
                </a:solidFill>
              </a:defRPr>
            </a:pPr>
            <a:r>
              <a:rPr sz="1800" b="1" i="0">
                <a:solidFill>
                  <a:srgbClr val="2F7DE1"/>
                </a:solidFill>
              </a:rPr>
              <a:t>神經學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58958-7267-4412-8F47-C2A35241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05200"/>
            <a:ext cx="266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反覆把注意力放在困難任務上，會塑造更能處理複雜工作的心智路徑。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78C20-3697-4474-8DC9-2C0AA3CA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EA9E0-E12B-4DD4-BC6C-33610382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BC7E8"/>
                </a:solidFill>
              </a:defRPr>
            </a:pPr>
            <a:r>
              <a:rPr sz="1800" b="1" i="0">
                <a:solidFill>
                  <a:srgbClr val="5BC7E8"/>
                </a:solidFill>
              </a:rPr>
              <a:t>心理學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023205-DF4D-4A46-A700-41CB0BFF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05200"/>
            <a:ext cx="266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真正投入、看見技能進步與成果完成，容易形成更高的工作滿意度。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BF24FD-55E5-4A5B-B122-1D87EE59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3143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02EC7-EB08-49C6-9883-F0789EB7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C95D"/>
                </a:solidFill>
              </a:defRPr>
            </a:pPr>
            <a:r>
              <a:rPr sz="1800" b="1" i="0">
                <a:solidFill>
                  <a:srgbClr val="F4C95D"/>
                </a:solidFill>
              </a:rPr>
              <a:t>哲學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573335-F20E-4EFE-8AE3-D27ED46E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05200"/>
            <a:ext cx="266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人會被自己長期注意的事物塑造；深度生活就是選擇值得投入的世界。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132A0-415A-475B-895B-E5F23A44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578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24F"/>
                </a:solidFill>
              </a:defRPr>
            </a:pPr>
            <a:r>
              <a:rPr sz="1500" b="1" i="0">
                <a:solidFill>
                  <a:srgbClr val="16324F"/>
                </a:solidFill>
              </a:rPr>
              <a:t>扣接您的研究：把『深度』視為研究倫理的一部分——先理解問題，再讓 AI 協助處理格式與重複工作。</a:t>
            </a:r>
          </a:p>
        </p:txBody>
      </p:sp>
    </p:spTree>
    <p:extLst>
      <p:ext uri="{BB962C8B-B14F-4D97-AF65-F5344CB8AC3E}">
        <p14:creationId xmlns:p14="http://schemas.microsoft.com/office/powerpoint/2010/main" val="20839417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3CA6D-D119-48CB-848B-1918AB7C3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深度工作力｜原則一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F9E55-08EA-4CA3-BC2D-26AD09F6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B0939-B3B8-4FE9-9BD3-14E7AB0C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4B0C0-6408-49B7-845A-7CD7DAA1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原則一：培養深度，不靠意志力，靠可重複的儀式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AE1C0-833D-4428-B815-24C925C2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書中六項策略的共同點，是把開始深度工作的阻力降到最低。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0572C-C013-40EA-B66F-C4F77335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6858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• 確立工作哲學：選擇節奏，不讓每件事都搶同一種注意力。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• 建立深度工作的儀式：固定時間、地點、工具、目標與結束條件。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• 大動作投入：必要時改變環境，讓自己難以退回淺薄模式。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• 不要獨自工作：尋找能提供回饋、討論與責任感的共同體。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• 像經營企業般執行：設定最重要目標、領先指標與回顧節奏。</a:t>
            </a:r>
          </a:p>
          <a:p xmlns:a="http://schemas.openxmlformats.org/drawingml/2006/main">
            <a:pPr algn="l">
              <a:defRPr sz="1350" b="0" i="0">
                <a:solidFill>
                  <a:srgbClr val="111827"/>
                </a:solidFill>
              </a:defRPr>
            </a:pPr>
            <a:r>
              <a:rPr sz="1350" b="0" i="0">
                <a:solidFill>
                  <a:srgbClr val="111827"/>
                </a:solidFill>
              </a:rPr>
              <a:t>• 要懶惰：安排恢復，讓大腦有機會消化與重組。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4DDBF-BFF4-4A1D-8426-79F69E87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76500"/>
            <a:ext cx="3048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8D69A-895C-4436-AAF8-D79B3BD0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C7E8"/>
                </a:solidFill>
              </a:defRPr>
            </a:pPr>
            <a:r>
              <a:rPr sz="1350" b="1" i="0">
                <a:solidFill>
                  <a:srgbClr val="5BC7E8"/>
                </a:solidFill>
              </a:rPr>
              <a:t>您的儀式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1A047-632D-4141-88EC-32F68CC8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38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每週三個 90 分鐘</a:t>
            </a:r>
          </a:p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先做博論／研究</a:t>
            </a:r>
          </a:p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再做課程設計</a:t>
            </a:r>
          </a:p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最後處理系務決策</a:t>
            </a:r>
          </a:p>
        </p:txBody>
      </p:sp>
    </p:spTree>
    <p:extLst>
      <p:ext uri="{BB962C8B-B14F-4D97-AF65-F5344CB8AC3E}">
        <p14:creationId xmlns:p14="http://schemas.microsoft.com/office/powerpoint/2010/main" val="10405890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32EF8D-2218-4A58-A299-E8C322B6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深度工作力｜原則二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DB91B-2495-4E8F-A4AB-9FF24D6E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94AD0-1B99-437F-8168-A8D846CE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BBA83-2457-467C-ACDD-24FF3DE3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原則二：學會擁抱無聊，重新訓練注意力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3B91B8-F7FB-483B-AF28-D732B06F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如果每個空檔都立刻打開手機，大腦就很難在困難任務上維持足夠時間。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73C8E-0572-4A97-AC25-C977BDD7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5BC7E8"/>
                </a:solidFill>
              </a:defRPr>
            </a:pPr>
            <a:r>
              <a:rPr sz="1875" b="1" i="0">
                <a:solidFill>
                  <a:srgbClr val="5BC7E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FDE40-0967-4DF3-81F8-40EEA75A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86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不逃避分心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56C94-D263-4F71-8CAD-7FA28817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把分心安排在固定時段，而不是讓分心隨時打斷工作。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E249B-343F-4833-9554-A353CC17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5BC7E8"/>
                </a:solidFill>
              </a:defRPr>
            </a:pPr>
            <a:r>
              <a:rPr sz="1875" b="1" i="0">
                <a:solidFill>
                  <a:srgbClr val="5BC7E8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98D096-F638-47B7-81EB-0E60FDB5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623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像老羅斯福工作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FEA24-6444-4602-A12A-20F15916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623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用短而密集的衝刺，處理最重要的認知任務。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2A1DB-1F5B-4FF2-966A-BD3050DC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5BC7E8"/>
                </a:solidFill>
              </a:defRPr>
            </a:pPr>
            <a:r>
              <a:rPr sz="1875" b="1" i="0">
                <a:solidFill>
                  <a:srgbClr val="5BC7E8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79970-6DFE-4E87-89EF-C8C9B886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生產性冥想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1FE36-1497-4419-8749-03EE770C5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386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在散步、通勤或運動時，只讓心智處理一個問題。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9C15D7-3C45-4759-85E6-86A81009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5BC7E8"/>
                </a:solidFill>
              </a:defRPr>
            </a:pPr>
            <a:r>
              <a:rPr sz="1875" b="1" i="0">
                <a:solidFill>
                  <a:srgbClr val="5BC7E8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9E9639-F8C4-46CF-B797-EB6050AC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14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記憶訓練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6A0081-2728-467A-8FC8-9ECCB599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1490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刻意練習讓注意力停留，知道自己能夠承受單調與延遲回饋。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DE8FA-C4F9-4BC2-A502-9B8811D3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29300"/>
            <a:ext cx="10287000" cy="3238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CDEA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94507-956F-46FE-A9E9-BC1CA61D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76925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324F"/>
                </a:solidFill>
              </a:defRPr>
            </a:pPr>
            <a:r>
              <a:rPr sz="1275" b="1" i="0">
                <a:solidFill>
                  <a:srgbClr val="16324F"/>
                </a:solidFill>
              </a:rPr>
              <a:t>應用在 AI 工作：讓 AI 做批次處理，人保留長時間的問題定義、判斷與驗證。</a:t>
            </a:r>
          </a:p>
        </p:txBody>
      </p:sp>
    </p:spTree>
    <p:extLst>
      <p:ext uri="{BB962C8B-B14F-4D97-AF65-F5344CB8AC3E}">
        <p14:creationId xmlns:p14="http://schemas.microsoft.com/office/powerpoint/2010/main" val="4293866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C6D4D-A4BC-4FE2-AD49-DC2DA821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深度工作力｜原則三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02FB7A-FA1D-4D99-BD83-33BB5E16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3CE6F6-260F-4E9B-9507-C2C28292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C08B1-E614-4E14-B1A3-E6FF6865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原則三：不要因為工具有一點好處，就把注意力交出去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372E6-CF01-4BDD-A8A3-5C4D3EC8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作者不是主張拒絕所有科技，而是要求工具先通過價值判斷。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13D449-0DF3-4D2F-98BD-D02BD61F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9720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A6477-3D17-45A6-B4AC-C5413D08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7DE1"/>
                </a:solidFill>
              </a:defRPr>
            </a:pPr>
            <a:r>
              <a:rPr sz="1875" b="1" i="0">
                <a:solidFill>
                  <a:srgbClr val="2F7DE1"/>
                </a:solidFill>
              </a:rPr>
              <a:t>重要少數法則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92735-A691-4674-BD69-A74213F7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2"/>
                </a:solidFill>
              </a:defRPr>
            </a:pPr>
            <a:r>
              <a:rPr sz="1425" b="0" i="0">
                <a:solidFill>
                  <a:srgbClr val="5B6472"/>
                </a:solidFill>
              </a:rPr>
              <a:t>只保留明顯支持重要目標的工具。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5B6472"/>
                </a:solidFill>
              </a:defRPr>
            </a:pPr>
            <a:r>
              <a:rPr sz="1425" b="0" i="0">
                <a:solidFill>
                  <a:srgbClr val="5B6472"/>
                </a:solidFill>
              </a:rPr>
              <a:t>工具的判斷標準不是『它有沒有一點好處』，而是『它對最重要目標的淨效益是否足夠大』。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18EA7-327E-4F06-8358-1CA9FA84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4972050" cy="29146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D481E-3FA2-44A1-A06F-43BAFCFB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5BC7E8"/>
                </a:solidFill>
              </a:defRPr>
            </a:pPr>
            <a:r>
              <a:rPr sz="1875" b="1" i="0">
                <a:solidFill>
                  <a:srgbClr val="5BC7E8"/>
                </a:solidFill>
              </a:rPr>
              <a:t>對您的工具盤點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C5A47-3C3B-4919-81B0-60DF88BF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保留：Claude Code、MCP、爬蟲、Obsidian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分流：社群通知、即時訊息、低價值瀏覽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原則：每個工具都要有任務邊界與關閉時間</a:t>
            </a:r>
          </a:p>
        </p:txBody>
      </p:sp>
    </p:spTree>
    <p:extLst>
      <p:ext uri="{BB962C8B-B14F-4D97-AF65-F5344CB8AC3E}">
        <p14:creationId xmlns:p14="http://schemas.microsoft.com/office/powerpoint/2010/main" val="11893160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8CA213-0507-477C-8FAC-913ED6F81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深度工作力｜原則四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24D64-2975-4A7E-B223-298872C7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A4A11-B1DE-4461-80AC-1BC7666E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5C484-C0BE-435B-92A3-99D14480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原則四：排除淺薄事務，讓高認知工作有固定地盤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4DD7D-EB79-41F0-89DA-254B32CB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書中五項策略的共同目標，是讓淺薄工作不能無限擴張。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C6D52-AFF7-4391-A0F4-FF92F22D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時間方塊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3A5EF-ED6C-49E1-9D38-197CE333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336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安排工作日的每一分鐘；臨時事件可以改寫，但不能讓整天失去結構。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C8E94-ADE9-4F16-AAD1-52F404FE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91BE7-5A8C-4BBD-BE4B-DC43728C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量化深度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C8B9B-42AE-4BC5-A736-92C7F402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記錄活動的深度與成果，不只記錄忙了幾小時。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04D17-F1C9-4B00-B571-C425E55B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A0F75-E95D-4DD2-B4E5-61D5929D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設定上限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0EF99-0A2D-4518-8774-F2D696B5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433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確認淺薄工作的時間比率，必要時設定每日或每週上限。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752901-8C49-43F8-B354-A67AC402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423C6-D955-4A62-92B9-172E00EF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固定收工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54078-91FA-4A1E-86B9-4637EFA5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4815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在一個時間點結束工作，讓大腦知道何時可以恢復。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77AB0-9317-4C3F-B083-86B87A03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F826BF-B482-468B-9356-AD38DAB6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降低可及性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B1FFB8-5EEC-4515-BD28-DCB2E2D8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530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建立可聯絡邊界，讓真正急迫的事情走明確管道。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AF28A6-E4AC-4741-BCC4-12A0D7E4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000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F943CE-C398-4A52-AB0A-9A249E7A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324F"/>
                </a:solidFill>
              </a:defRPr>
            </a:pPr>
            <a:r>
              <a:rPr sz="1425" b="1" i="0">
                <a:solidFill>
                  <a:srgbClr val="16324F"/>
                </a:solidFill>
              </a:rPr>
              <a:t>您的版本：每天兩次集中回覆，其餘時間保護博論、教學設計與系務決策。</a:t>
            </a:r>
          </a:p>
        </p:txBody>
      </p:sp>
    </p:spTree>
    <p:extLst>
      <p:ext uri="{BB962C8B-B14F-4D97-AF65-F5344CB8AC3E}">
        <p14:creationId xmlns:p14="http://schemas.microsoft.com/office/powerpoint/2010/main" val="2579437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7B9E4-9361-4BA9-9B78-AF5720D0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深度工作力｜小結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505DE-2789-413E-ABF5-409D45D1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E46F8-C7BF-4DF7-985B-E21BDDCB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AADFB6-80C1-44FD-9EC8-E06CF426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《深度工作力》的真正核心：把注意力當成有限資源管理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60E76-8F27-4400-A8F1-E29E922A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方法不是越多越好；有效的是能讓深度工作穩定發生的少數規則。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FC12C-2FE3-4D3B-B841-EEF79649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0287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98767B-38AD-44D1-B0A8-5A992F57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儀式 → 專注 → 產出 → 回顧 → 再設計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651FE-EFB8-42B6-A687-781B710B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可採用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ABFAB-7135-4443-8F15-623A4C97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時間方塊、深度儀式、工具篩選、淺薄上限、收工儀式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D3F98-4081-430D-AD3C-AA1D1FA3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29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C95D"/>
                </a:solidFill>
              </a:defRPr>
            </a:pPr>
            <a:r>
              <a:rPr sz="1575" b="1" i="0">
                <a:solidFill>
                  <a:srgbClr val="F4C95D"/>
                </a:solidFill>
              </a:rPr>
              <a:t>需在地化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369CD-3EA3-44F1-8C24-C2342C9E0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五點半收工、固定不午睡、完全不回信等，需配合系務責任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B86C7A-637C-49FA-8AC3-1E5666F6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AA981"/>
                </a:solidFill>
              </a:defRPr>
            </a:pPr>
            <a:r>
              <a:rPr sz="1575" b="1" i="0">
                <a:solidFill>
                  <a:srgbClr val="3AA981"/>
                </a:solidFill>
              </a:rPr>
              <a:t>不可誤解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95BDB-C608-4376-A697-9565D867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深度工作不是拒絕合作，而是把合作安排在不破壞核心思考的邊界內</a:t>
            </a:r>
          </a:p>
        </p:txBody>
      </p:sp>
    </p:spTree>
    <p:extLst>
      <p:ext uri="{BB962C8B-B14F-4D97-AF65-F5344CB8AC3E}">
        <p14:creationId xmlns:p14="http://schemas.microsoft.com/office/powerpoint/2010/main" val="20949932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56AF0-FA76-4E29-9410-CC33392B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兩本書的交會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0C219-667C-4214-AAC1-5836D826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8079B-D57C-41EA-B2CC-18174AB3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23C84-7819-4327-86FC-54BAAEB7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兩本書接在一起，形成『建立能力—保護能力—交付成果』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10F4B-EF86-44F4-A6C1-6A3D25EF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第一本處理學習與能力資本；第二本處理注意力與產出制度。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752C19-C06A-4C17-89DB-539C250A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623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7C2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2FB94-080D-41A1-9088-DB7DFB97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2286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A5F9E-36F8-40F9-970C-E16B1F40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718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2F7DE1"/>
                </a:solidFill>
              </a:defRPr>
            </a:pPr>
            <a:r>
              <a:rPr sz="2400" b="1" i="0">
                <a:solidFill>
                  <a:srgbClr val="2F7DE1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C163F8-A10B-4A65-90A6-8D3BDBF1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028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建立能力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55BA2-EAB4-4AF9-B3CA-8C1E59A7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486150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學習系統</a:t>
            </a:r>
          </a:p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研究圈</a:t>
            </a:r>
          </a:p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長期計畫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294DF0-9333-4937-9387-5FB1E31E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286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C7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2CFD3-9D5E-4E6A-9D71-6945B585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718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5BC7E8"/>
                </a:solidFill>
              </a:defRPr>
            </a:pPr>
            <a:r>
              <a:rPr sz="2400" b="1" i="0">
                <a:solidFill>
                  <a:srgbClr val="5BC7E8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46629-1911-44EE-91D9-03503C91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28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保護注意力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9A9641-2983-48B2-8D36-12B3D6AC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86150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深度儀式</a:t>
            </a:r>
          </a:p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工具篩選</a:t>
            </a:r>
          </a:p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淺薄上限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9BBC6-A14E-4EFA-97D3-6BA55247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2860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4C9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AF5CA-A7C6-4463-95CB-BA0796C8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718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4C95D"/>
                </a:solidFill>
              </a:defRPr>
            </a:pPr>
            <a:r>
              <a:rPr sz="2400" b="1" i="0">
                <a:solidFill>
                  <a:srgbClr val="F4C95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DFC414-4DDF-4B69-BC3A-A8E76386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289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7"/>
                </a:solidFill>
              </a:defRPr>
            </a:pPr>
            <a:r>
              <a:rPr sz="1650" b="1" i="0">
                <a:solidFill>
                  <a:srgbClr val="111827"/>
                </a:solidFill>
              </a:rPr>
              <a:t>交付成果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4EBCC-56F5-45A8-8DE1-77D7D4B8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133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論文</a:t>
            </a:r>
          </a:p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教材</a:t>
            </a:r>
          </a:p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遊戲原型</a:t>
            </a:r>
          </a:p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系務決策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0C8F80-5A87-4518-A16D-A7E5077C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324F"/>
                </a:solidFill>
              </a:defRPr>
            </a:pPr>
            <a:r>
              <a:rPr sz="1500" b="1" i="0">
                <a:solidFill>
                  <a:srgbClr val="16324F"/>
                </a:solidFill>
              </a:rPr>
              <a:t>若只有學習，容易變成收藏；若只有專注，容易變成高效率地做錯事。兩本書需要一起使用。</a:t>
            </a:r>
          </a:p>
        </p:txBody>
      </p:sp>
    </p:spTree>
    <p:extLst>
      <p:ext uri="{BB962C8B-B14F-4D97-AF65-F5344CB8AC3E}">
        <p14:creationId xmlns:p14="http://schemas.microsoft.com/office/powerpoint/2010/main" val="2336005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B94D2-B87D-4CBF-82C9-CB2E0618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個人化建言｜教學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E8621-299A-47A3-8F2F-22D19A73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CA5E9-7E6B-4D25-8DBD-3CE92E3E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6C3F3-48CB-4680-993D-A419FFBD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教學：把深度學習轉成學生看得見的作品路徑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AA9ACE-F2BD-4F90-A7A6-3DE63D76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您的課程同時包含 Unity、遊戲企劃、劇本與設計理論，適合用『短週期回饋＋長期代表作』。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23AA7-DD65-4564-B4C7-2FBCE003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課程開始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95D47-28F4-4C84-85C8-4BC2C0DF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241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每門課只定一項學期代表作：可玩原型、設計文件或完整劇本。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081BB-5C02-4007-8DE5-445318FD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46A9F-57B9-4434-B861-DC378BCE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每週節奏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33CDC-9354-41A3-8695-A3DF2F97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固定一個 50 分鐘深度學習單位，再加一個 10 分鐘回顧與下一步。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94C3E5-6917-4583-8300-472268AAE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ED2BF-305F-4184-B5C7-0A552326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課堂互動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815795-EF39-4426-A212-ACDD6092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243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要求每位學生每週提出一個具體問題，避免只等老師講解。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3E449-F489-4AC5-86B5-E803F140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5018B-4C76-450C-AAAD-38A577E2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E1"/>
                </a:solidFill>
              </a:defRPr>
            </a:pPr>
            <a:r>
              <a:rPr sz="1575" b="1" i="0">
                <a:solidFill>
                  <a:srgbClr val="2F7DE1"/>
                </a:solidFill>
              </a:rPr>
              <a:t>期末驗收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32D2F-5539-42F4-A7E5-C37C8511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2440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不只看成績，還看作品、版本紀錄、反思與能否向他人說明設計選擇。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63EEA-8091-49E4-A888-A3381B24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7902713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22E2B-EED9-4538-8EA8-6FE80ABA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個人化建言｜博論研究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9DC649-C217-42D3-BDAD-2ADD9FBA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52D18-193E-447E-A9D5-9DE1996E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F6C96-7351-4C49-8901-C2D1C34A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博論：用深度工作保護研究問題，用 AI 清除研究雜務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B05A9-D784-438C-92B9-0F8DEC76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情感運算與 NPC 情緒設計需要長時間理解文獻、建立模型與反覆驗證。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516C6-152E-4ED1-802A-41505304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33337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4319A0-35CD-4ACC-BDFA-0454985B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BC7E8"/>
                </a:solidFill>
              </a:defRPr>
            </a:pPr>
            <a:r>
              <a:rPr sz="1650" b="1" i="0">
                <a:solidFill>
                  <a:srgbClr val="5BC7E8"/>
                </a:solidFill>
              </a:rPr>
              <a:t>深度區段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210935-C7AA-4DDB-A026-2E4B8754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257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每週三個 90 分鐘</a:t>
            </a:r>
          </a:p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一次只處理一個研究問題</a:t>
            </a:r>
          </a:p>
          <a:p xmlns:a="http://schemas.openxmlformats.org/drawingml/2006/main">
            <a:pPr algn="l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結束時留下可交接的下一步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7610D-F18C-4306-8C85-1A388974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43150"/>
            <a:ext cx="33337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4EB25-B7C2-4BFB-8810-7F606EE6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7DE1"/>
                </a:solidFill>
              </a:defRPr>
            </a:pPr>
            <a:r>
              <a:rPr sz="1650" b="1" i="0">
                <a:solidFill>
                  <a:srgbClr val="2F7DE1"/>
                </a:solidFill>
              </a:rPr>
              <a:t>AI／Daemon 區段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8A77A-C64E-4B29-9ECE-AC084572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2385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文獻格式轉換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初步分類與去重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逐字稿、翻譯、索引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不代替核心理論判斷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58413-A2D8-499B-99C7-7AA2BAFD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43150"/>
            <a:ext cx="33337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7F5ED"/>
          </a:solidFill>
          <a:ln xmlns:a="http://schemas.openxmlformats.org/drawingml/2006/main" w="9525">
            <a:solidFill>
              <a:srgbClr val="E9DCA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2E61B-AA69-4899-A828-1D907D14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479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06E00"/>
                </a:solidFill>
              </a:defRPr>
            </a:pPr>
            <a:r>
              <a:rPr sz="1650" b="1" i="0">
                <a:solidFill>
                  <a:srgbClr val="A06E00"/>
                </a:solidFill>
              </a:rPr>
              <a:t>研究驗證區段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959027-3988-48A7-A3FB-86F1D9C0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38500"/>
            <a:ext cx="266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來源可追溯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保留反例與限制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區分資料、推論與結論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形成可重現紀錄</a:t>
            </a:r>
          </a:p>
        </p:txBody>
      </p:sp>
    </p:spTree>
    <p:extLst>
      <p:ext uri="{BB962C8B-B14F-4D97-AF65-F5344CB8AC3E}">
        <p14:creationId xmlns:p14="http://schemas.microsoft.com/office/powerpoint/2010/main" val="175849870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7E61C-83C8-4C6B-9B69-CDA09314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個人化建言｜系務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07508-A675-4F9C-8D4B-F88239CE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76C37-1601-4C59-AC4A-8717C36A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8015A-233F-4853-9AF5-7ED08273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系務：把淺薄工作集中，把重要決策保留下來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1857F-C214-4259-A1A5-F82D6D9B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系主任工作不可能完全離線；可行做法是把回覆、會議與決策設計成不同層級。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C8877B-7C98-4D5C-9E22-EFEE9077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32194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7712B-7757-4E84-A05A-B7674F60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7DE1"/>
                </a:solidFill>
              </a:defRPr>
            </a:pPr>
            <a:r>
              <a:rPr sz="1800" b="1" i="0">
                <a:solidFill>
                  <a:srgbClr val="2F7DE1"/>
                </a:solidFill>
              </a:rPr>
              <a:t>集中回覆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FF1C5-DE43-45C7-9DE6-1D72F5CA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64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每天兩個回覆時段；急件只走一個管道；其餘訊息進佇列。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883E1-5AB9-49CA-AE98-486BE785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32194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6882F-A580-49DB-90C3-3E182B96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BC7E8"/>
                </a:solidFill>
              </a:defRPr>
            </a:pPr>
            <a:r>
              <a:rPr sz="1800" b="1" i="0">
                <a:solidFill>
                  <a:srgbClr val="5BC7E8"/>
                </a:solidFill>
              </a:rPr>
              <a:t>決策前置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D5F1E-22C2-43B8-AC78-A3DD982B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29000"/>
            <a:ext cx="264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會議前先收齊資料與選項，會議只處理需要共同判斷的部分。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A4EEB-4653-4A8C-BCC9-446283A7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76500"/>
            <a:ext cx="3219450" cy="2324100"/>
          </a:xfrm>
          <a:prstGeom xmlns:a="http://schemas.openxmlformats.org/drawingml/2006/main" prst="roundRect">
            <a:avLst>
              <a:gd name="adj" fmla="val 491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7BA912-9B4D-4202-83F9-B5980765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4C95D"/>
                </a:solidFill>
              </a:defRPr>
            </a:pPr>
            <a:r>
              <a:rPr sz="1800" b="1" i="0">
                <a:solidFill>
                  <a:srgbClr val="F4C95D"/>
                </a:solidFill>
              </a:rPr>
              <a:t>可交接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B39EB-B62C-4FF9-8AAA-254BF28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429000"/>
            <a:ext cx="2647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每項系務任務都有負責人、截止日、狀態、風險與下一步。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870A9-5F2F-4811-821F-6598C647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48300"/>
            <a:ext cx="1038225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B363E-C060-4CBB-BF8C-1F32E784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管理器的任務不是替您做決策，而是讓您不用把注意力浪費在找資料、找人、找進度。</a:t>
            </a:r>
          </a:p>
        </p:txBody>
      </p:sp>
    </p:spTree>
    <p:extLst>
      <p:ext uri="{BB962C8B-B14F-4D97-AF65-F5344CB8AC3E}">
        <p14:creationId xmlns:p14="http://schemas.microsoft.com/office/powerpoint/2010/main" val="16260007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2D5F12-77FE-482A-A2E9-3ACF0A07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個人化建言｜AI 工作流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83BF6-2731-4D89-9447-D6E64789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BB16E-1BF5-486A-8311-C9D6EFD2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25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EF662-F5DE-4201-A3DA-240CE1FD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Claude Code／MCP：讓 AI 清除淺薄工作，但把深度判斷留在人手上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27670-084A-4A06-A934-05D87D74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兩本書的精神不是少用工具，而是讓工具服務於一條清楚的能力與產出主線。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7B24C-C901-4788-9EA0-59FEE233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076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0721B-CB5F-4D5E-8061-366BDD14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7DE1"/>
                </a:solidFill>
              </a:defRPr>
            </a:pPr>
            <a:r>
              <a:rPr sz="1650" b="1" i="0">
                <a:solidFill>
                  <a:srgbClr val="2F7DE1"/>
                </a:solidFill>
              </a:rPr>
              <a:t>交給 AI／Daemon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05F3F-1026-4CD1-A9A9-3198152B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384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格式轉換、字幕下載、OCR、翻譯初稿、去重、索引、批次測試、狀態彙整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AA3E6-BCBB-48C1-9233-AEC6F976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076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E9DC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BDA29-724E-4CA0-8B31-FE592EEB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4C95D"/>
                </a:solidFill>
              </a:defRPr>
            </a:pPr>
            <a:r>
              <a:rPr sz="1650" b="1" i="0">
                <a:solidFill>
                  <a:srgbClr val="F4C95D"/>
                </a:solidFill>
              </a:rPr>
              <a:t>您先定義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5DB64E-5830-46AC-B8AD-AC5AEA9D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研究問題、課程成果、遊戲體驗、系務優先順序、倫理與授權邊界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25DE1-33FF-4EDC-BC8F-343982A0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10763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6DF1A-E129-4E92-8E43-C0CD71991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AA981"/>
                </a:solidFill>
              </a:defRPr>
            </a:pPr>
            <a:r>
              <a:rPr sz="1650" b="1" i="0">
                <a:solidFill>
                  <a:srgbClr val="3AA981"/>
                </a:solidFill>
              </a:rPr>
              <a:t>您必須驗證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9061A-D36E-43C8-A690-F23FA8E4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244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來源、版本、數據、反例、學生情境、模型假設、最後決策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5E61B-EF10-43D0-8F62-94118F35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324F"/>
                </a:solidFill>
              </a:defRPr>
            </a:pPr>
            <a:r>
              <a:rPr sz="1425" b="1" i="0">
                <a:solidFill>
                  <a:srgbClr val="16324F"/>
                </a:solidFill>
              </a:rPr>
              <a:t>這樣的分工才能讓 Claude Code、MCP、Dashboard 與 Daemon 形成工作系統，而不是工具堆。</a:t>
            </a:r>
          </a:p>
        </p:txBody>
      </p:sp>
    </p:spTree>
    <p:extLst>
      <p:ext uri="{BB962C8B-B14F-4D97-AF65-F5344CB8AC3E}">
        <p14:creationId xmlns:p14="http://schemas.microsoft.com/office/powerpoint/2010/main" val="131278503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FA6768-E426-4CA4-AA9C-90143BD1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個人化建言｜藝術資料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567CA-BDE1-49A7-A4F5-90F54492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D4586-ABE4-40E7-9431-022F9293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620FF-64AE-4C10-9C67-7E5C50C6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藝術研究：把來源、文本與洞見放進同一條可追溯流程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C1401-5B5D-4D80-A51B-E7103C5D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這是您提到的名古屋美術館、Paul Klee、蔦屋書店畫冊與 Internet Archive 資料的實際版本。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034AC-68ED-41CC-B139-817F60A5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D92E60-6889-45E6-ABA5-FC6173B4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F7DE1"/>
                </a:solidFill>
              </a:defRPr>
            </a:pPr>
            <a:r>
              <a:rPr sz="1500" b="1" i="0">
                <a:solidFill>
                  <a:srgbClr val="2F7DE1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2D2FC5-2ECA-4C4E-A637-CF1120F2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收集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BF02B-CB4C-4FB7-BB5F-68B13B7F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觀展筆記、畫冊、電子書、網頁來源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9605B-9E93-4D30-9F78-CC3C7883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5270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A4E82-6B27-4869-B382-37E3E4CD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BC7E8"/>
                </a:solidFill>
              </a:defRPr>
            </a:pPr>
            <a:r>
              <a:rPr sz="1500" b="1" i="0">
                <a:solidFill>
                  <a:srgbClr val="5BC7E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90C8F-7F8C-46A8-9209-25D1A665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956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處理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F30156-4E57-482F-97E5-EECA438E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2905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下載、OCR、翻譯、清洗、去重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9585D-6081-4EBE-9E07-85110913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5270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AC336-376A-4FBF-9578-5DB0C7BA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4C95D"/>
                </a:solidFill>
              </a:defRPr>
            </a:pPr>
            <a:r>
              <a:rPr sz="1500" b="1" i="0">
                <a:solidFill>
                  <a:srgbClr val="F4C95D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CF79D-50CA-42BB-A594-A3779A3E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956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理解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0DD19-9E6D-47AD-A999-E95179D5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2905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藝術家、作品、展覽、評論與概念標籤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5CA8EF-E5BD-4D2F-8DDE-41EC010B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5270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23FA30-FBE4-48D4-822D-432BC9F0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AA981"/>
                </a:solidFill>
              </a:defRPr>
            </a:pPr>
            <a:r>
              <a:rPr sz="1500" b="1" i="0">
                <a:solidFill>
                  <a:srgbClr val="3AA981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CC1FD-C9CE-413A-B863-0C70A9CE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956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827"/>
                </a:solidFill>
              </a:defRPr>
            </a:pPr>
            <a:r>
              <a:rPr sz="1800" b="1" i="0">
                <a:solidFill>
                  <a:srgbClr val="111827"/>
                </a:solidFill>
              </a:rPr>
              <a:t>產出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CAADA1-E93F-4B6E-8F4D-11A237E8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29050"/>
            <a:ext cx="188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研究筆記、課程素材、引用、寫作草稿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F20FC-E9BD-4FB2-A113-A7F04D4E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477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2E3A86-E687-46ED-B1D0-57C2BB93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Dashboard 顯示：來源、處理狀態、待審核項目、引用位置與下一步；不讓資料只散落在資料夾裡。</a:t>
            </a:r>
          </a:p>
        </p:txBody>
      </p:sp>
    </p:spTree>
    <p:extLst>
      <p:ext uri="{BB962C8B-B14F-4D97-AF65-F5344CB8AC3E}">
        <p14:creationId xmlns:p14="http://schemas.microsoft.com/office/powerpoint/2010/main" val="140392089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60FA1-A7FA-4953-B4B2-F4193913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個人化建言｜SESSION 與背景工作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15B219-E478-411D-B18C-BD64EE94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347DA-B500-45EB-A006-B832D1C8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27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35705-B0DD-4C08-AB0E-B976BEBA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AI 工作系統：Session 管理器負責調度，Daemon 負責長時間執行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414E9-C96B-41B6-875B-56377D70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這一頁對應您實際描述的 Claude Code Session、Repo、MCP、爬蟲與 Obsidian 同步。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9686F-9904-459B-857C-0C92BC1A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2194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474BA-35D3-46D9-BF9F-9ABCCB88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BC7E8"/>
                </a:solidFill>
              </a:defRPr>
            </a:pPr>
            <a:r>
              <a:rPr sz="1650" b="1" i="0">
                <a:solidFill>
                  <a:srgbClr val="5BC7E8"/>
                </a:solidFill>
              </a:rPr>
              <a:t>Session 管理器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51DC8-AE1C-426C-A355-7037CD3B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專案／Repo／工作目錄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任務狀態與交接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Session 互相傳訊</a:t>
            </a:r>
          </a:p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失敗與待確認項目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C50FA-396A-4EC0-848A-348AAF9E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32194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7E4A4-C657-4148-A857-960C0C53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F7DE1"/>
                </a:solidFill>
              </a:defRPr>
            </a:pPr>
            <a:r>
              <a:rPr sz="1650" b="1" i="0">
                <a:solidFill>
                  <a:srgbClr val="2F7DE1"/>
                </a:solidFill>
              </a:rPr>
              <a:t>Daemon Workers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8FF6E-E334-40C6-A2DD-3A8F2230C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247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藝術資料處理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字幕／語音／翻譯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社群爬蟲與輿情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Obsidian 背景同步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FD10E-2669-4147-98A6-75AA0B43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43150"/>
            <a:ext cx="2743200" cy="27813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5D9"/>
          </a:solidFill>
          <a:ln xmlns:a="http://schemas.openxmlformats.org/drawingml/2006/main" w="9525">
            <a:solidFill>
              <a:srgbClr val="E9DCA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135F6-F28D-401F-ACC9-925FCE06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479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A06E00"/>
                </a:solidFill>
              </a:defRPr>
            </a:pPr>
            <a:r>
              <a:rPr sz="1650" b="1" i="0">
                <a:solidFill>
                  <a:srgbClr val="A06E00"/>
                </a:solidFill>
              </a:rPr>
              <a:t>人保留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97F8C-F802-4B6C-88F7-08AD468A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095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研究問題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課程目標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系務優先順序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倫理與授權</a:t>
            </a:r>
          </a:p>
          <a:p xmlns:a="http://schemas.openxmlformats.org/drawingml/2006/main">
            <a:pPr algn="l">
              <a:defRPr sz="1500" b="0" i="0">
                <a:solidFill>
                  <a:srgbClr val="5B6472"/>
                </a:solidFill>
              </a:defRPr>
            </a:pPr>
            <a:r>
              <a:rPr sz="1500" b="0" i="0">
                <a:solidFill>
                  <a:srgbClr val="5B6472"/>
                </a:solidFill>
              </a:rPr>
              <a:t>最後驗證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A0084-4B82-4710-9D9A-FD029C04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324F"/>
                </a:solidFill>
              </a:defRPr>
            </a:pPr>
            <a:r>
              <a:rPr sz="1425" b="1" i="0">
                <a:solidFill>
                  <a:srgbClr val="16324F"/>
                </a:solidFill>
              </a:rPr>
              <a:t>不要把所有工作塞進一個 Daemon；先建立共同任務格式，再讓不同 Worker 各自穩定。</a:t>
            </a:r>
          </a:p>
        </p:txBody>
      </p:sp>
    </p:spTree>
    <p:extLst>
      <p:ext uri="{BB962C8B-B14F-4D97-AF65-F5344CB8AC3E}">
        <p14:creationId xmlns:p14="http://schemas.microsoft.com/office/powerpoint/2010/main" val="1247555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B65727-38EA-4AD8-B96E-97454ADA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個人化建言｜四週試行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BBE84-EAE9-41D8-96A1-96D779CC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636DF-3EE8-4D26-9FE3-CF18ADB9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E82EC-FCC2-49F2-B80B-A802E4B3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先做四週小實驗，再決定哪些規則值得長期保留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8A19B-57EC-4C27-9D63-B523D4B5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不要一次改造整個生活；用可量測的結果淘汰無效規則。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FF155-F1F2-4192-B634-54C8FE0B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400300" cy="24955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0F0095-5F03-4943-B216-64312676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F7DE1"/>
                </a:solidFill>
              </a:defRPr>
            </a:pPr>
            <a:r>
              <a:rPr sz="1425" b="1" i="0">
                <a:solidFill>
                  <a:srgbClr val="2F7DE1"/>
                </a:solidFill>
              </a:rPr>
              <a:t>第 1 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61224-6CFD-49C9-BEDE-B0BD3685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建立基線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50B577-D8F3-4026-88E6-4F11AA59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每天只記三件事：深度分鐘數、被打斷次數、唯一高價值產出。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BA3FC-9B8A-4815-B31C-2C834F03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2400300" cy="24955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06237-6EF1-4F2B-B524-B88A5D3B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098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BC7E8"/>
                </a:solidFill>
              </a:defRPr>
            </a:pPr>
            <a:r>
              <a:rPr sz="1425" b="1" i="0">
                <a:solidFill>
                  <a:srgbClr val="5BC7E8"/>
                </a:solidFill>
              </a:rPr>
              <a:t>第 2 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83A3E-CEC2-4233-BFD5-D146D1B5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051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保護研究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5ED44C-ADD4-4706-A980-65FF6267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5760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固定兩個 90 分鐘研究時段；開始前不開信箱與社群。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3F462-79CB-45A7-8AA2-52E2005A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2400300" cy="24955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71D4D-7543-440D-8EBE-AF9D4746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AA981"/>
                </a:solidFill>
              </a:defRPr>
            </a:pPr>
            <a:r>
              <a:rPr sz="1425" b="1" i="0">
                <a:solidFill>
                  <a:srgbClr val="3AA981"/>
                </a:solidFill>
              </a:rPr>
              <a:t>第 3 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99DA4-24BA-43FE-A0EA-4EF8FC64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分流工作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A2026-F699-4307-99CF-8F0A1A62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把 AI／Daemon 可處理的任務放入佇列；人只處理定義與驗證。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977B79-8821-41C8-9F96-209F62F8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400300" cy="24955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E8EDF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E230D-6B0D-40A1-A3FA-60148B62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C95D"/>
                </a:solidFill>
              </a:defRPr>
            </a:pPr>
            <a:r>
              <a:rPr sz="1425" b="1" i="0">
                <a:solidFill>
                  <a:srgbClr val="F4C95D"/>
                </a:solidFill>
              </a:rPr>
              <a:t>第 4 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6BBAF-CBBD-45AC-89B6-BA2AE1EC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0515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827"/>
                </a:solidFill>
              </a:defRPr>
            </a:pPr>
            <a:r>
              <a:rPr sz="1725" b="1" i="0">
                <a:solidFill>
                  <a:srgbClr val="111827"/>
                </a:solidFill>
              </a:rPr>
              <a:t>回顧調整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7F2F4-354B-42AA-9D73-A260D93F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5760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</a:defRPr>
            </a:pPr>
            <a:r>
              <a:rPr sz="1275" b="0" i="0">
                <a:solidFill>
                  <a:srgbClr val="5B6472"/>
                </a:solidFill>
              </a:rPr>
              <a:t>比較產出、壓力與中斷；只保留有效規則，寫入工作手冊。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9DEE3-C3DC-4DA6-88D0-5E0489A1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51560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2AF76-112D-42BD-9AE7-F60EF138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成功標準：不是工時變長，而是每週多完成一項真正重要的成果。</a:t>
            </a:r>
          </a:p>
        </p:txBody>
      </p:sp>
    </p:spTree>
    <p:extLst>
      <p:ext uri="{BB962C8B-B14F-4D97-AF65-F5344CB8AC3E}">
        <p14:creationId xmlns:p14="http://schemas.microsoft.com/office/powerpoint/2010/main" val="13046269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DF4CB2-FD2E-45C9-AF28-DD5F42B1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F7DE1"/>
                </a:solidFill>
              </a:defRPr>
            </a:pPr>
            <a:r>
              <a:rPr sz="900" b="1" i="0">
                <a:solidFill>
                  <a:srgbClr val="2F7DE1"/>
                </a:solidFill>
              </a:rPr>
              <a:t>首頁卡片版摘要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255C4-4D5E-4DDD-8358-DBFC7C93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2C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1CB54A-415B-4134-B0FD-C615A6DB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91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472"/>
                </a:solidFill>
              </a:defRPr>
            </a:pPr>
            <a:r>
              <a:rPr sz="900" b="1" i="0">
                <a:solidFill>
                  <a:srgbClr val="5B6472"/>
                </a:solidFill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420EF-C2FE-491A-A0B8-E96207A5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827"/>
                </a:solidFill>
              </a:defRPr>
            </a:pPr>
            <a:r>
              <a:rPr sz="2700" b="1" i="0">
                <a:solidFill>
                  <a:srgbClr val="111827"/>
                </a:solidFill>
              </a:rPr>
              <a:t>首頁投影片卡片可只留下這一張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773CC-0B75-4416-A5D6-565B6DA8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</a:defRPr>
            </a:pPr>
            <a:r>
              <a:rPr sz="1350" b="0" i="0">
                <a:solidFill>
                  <a:srgbClr val="5B6472"/>
                </a:solidFill>
              </a:rPr>
              <a:t>完整內容保留在本簡報；卡片只呈現閱讀主線與下一步。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A2610-8680-4E0C-89FA-4BA1322F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09800"/>
            <a:ext cx="8763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C12F3-F165-4979-8806-1837774E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71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C7E8"/>
                </a:solidFill>
              </a:defRPr>
            </a:pPr>
            <a:r>
              <a:rPr sz="1350" b="1" i="0">
                <a:solidFill>
                  <a:srgbClr val="5BC7E8"/>
                </a:solidFill>
              </a:rPr>
              <a:t>兩本書的一句話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861D4-F8CE-47B0-B235-D5B2BCAE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86100"/>
            <a:ext cx="5143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建立能力，</a:t>
            </a:r>
          </a:p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保護注意力，</a:t>
            </a:r>
          </a:p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交付成果。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4348F-BE50-4EFF-8C3B-CDA21B29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2420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DDEAF7"/>
                </a:solidFill>
              </a:defRPr>
            </a:pPr>
            <a:r>
              <a:rPr sz="1425" b="0" i="0">
                <a:solidFill>
                  <a:srgbClr val="DDEAF7"/>
                </a:solidFill>
              </a:rPr>
              <a:t>深度學習力 × 深度工作力</a:t>
            </a:r>
          </a:p>
          <a:p xmlns:a="http://schemas.openxmlformats.org/drawingml/2006/main">
            <a:pPr algn="l">
              <a:defRPr sz="1425" b="0" i="0">
                <a:solidFill>
                  <a:srgbClr val="DDEAF7"/>
                </a:solidFill>
              </a:defRPr>
            </a:pPr>
            <a:r>
              <a:rPr sz="1425" b="0" i="0">
                <a:solidFill>
                  <a:srgbClr val="DDEAF7"/>
                </a:solidFill>
              </a:rPr>
              <a:t>教學｜博論｜系務｜AI 工作流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930AF-E092-4DA2-8C79-D73A42AE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7212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324F"/>
                </a:solidFill>
              </a:defRPr>
            </a:pPr>
            <a:r>
              <a:rPr sz="1425" b="1" i="0">
                <a:solidFill>
                  <a:srgbClr val="16324F"/>
                </a:solidFill>
              </a:rPr>
              <a:t>下一步：每週三個 90 分鐘，先給博論與代表性成果。</a:t>
            </a:r>
          </a:p>
        </p:txBody>
      </p:sp>
    </p:spTree>
    <p:extLst>
      <p:ext uri="{BB962C8B-B14F-4D97-AF65-F5344CB8AC3E}">
        <p14:creationId xmlns:p14="http://schemas.microsoft.com/office/powerpoint/2010/main" val="11325964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2026-08-09T06:03:24.6560000Z</dcterms:created>
  <dcterms:modified xsi:type="dcterms:W3CDTF">2026-08-09T06:03:24.6560000Z</dcterms:modified>
</coreProperties>
</file>