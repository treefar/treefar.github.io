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49808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已安裝，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還需要 n8n 嗎？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21488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重點摘要與導入判斷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5394960"/>
            <a:ext cx="6720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結論：先用 Hermes，n8n 暫緩；遇到大量固定行政流程再補上。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34656" y="1060704"/>
            <a:ext cx="3310128" cy="950976"/>
          </a:xfrm>
          <a:prstGeom prst="roundRect">
            <a:avLst/>
          </a:prstGeom>
          <a:solidFill>
            <a:srgbClr val="DDF3F2"/>
          </a:solidFill>
          <a:ln>
            <a:solidFill>
              <a:srgbClr val="DDF3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089136" y="2103120"/>
            <a:ext cx="0" cy="685800"/>
          </a:xfrm>
          <a:prstGeom prst="line">
            <a:avLst/>
          </a:prstGeom>
          <a:noFill/>
          <a:ln w="26670">
            <a:solidFill>
              <a:srgbClr val="DDF3F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8357616" y="285292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主軸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089136" y="3657600"/>
            <a:ext cx="0" cy="685800"/>
          </a:xfrm>
          <a:prstGeom prst="line">
            <a:avLst/>
          </a:prstGeom>
          <a:noFill/>
          <a:ln w="26670">
            <a:solidFill>
              <a:srgbClr val="DDF3F2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534656" y="4480560"/>
            <a:ext cx="3310128" cy="950976"/>
          </a:xfrm>
          <a:prstGeom prst="roundRect">
            <a:avLst/>
          </a:prstGeom>
          <a:solidFill>
            <a:srgbClr val="FCE8C4"/>
          </a:solidFill>
          <a:ln>
            <a:solidFill>
              <a:srgbClr val="FCE8C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332720" y="5440680"/>
            <a:ext cx="841248" cy="329184"/>
          </a:xfrm>
          <a:prstGeom prst="roundRect">
            <a:avLst/>
          </a:prstGeom>
          <a:solidFill>
            <a:srgbClr val="30281A">
              <a:alpha val="88000"/>
            </a:srgbClr>
          </a:solidFill>
          <a:ln>
            <a:solidFill>
              <a:srgbClr val="30281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63276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7C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2026｜個人工具導入建議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Decision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一頁結論：Hermes-first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不是二選一；是先後順序與分工問題。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993392"/>
            <a:ext cx="1051560" cy="347472"/>
          </a:xfrm>
          <a:prstGeom prst="roundRect">
            <a:avLst/>
          </a:prstGeom>
          <a:solidFill>
            <a:srgbClr val="DDF3F2"/>
          </a:solidFill>
          <a:ln>
            <a:solidFill>
              <a:srgbClr val="DDF3F2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3337560" cy="1371600"/>
          </a:xfrm>
          <a:prstGeom prst="roundRect">
            <a:avLst/>
          </a:prstGeom>
          <a:solidFill>
            <a:srgbClr val="DDF3F2"/>
          </a:solidFill>
          <a:ln>
            <a:solidFill>
              <a:srgbClr val="DDF3F2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 Hermes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處理摘要、搜尋、判斷、排程、通知。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08576" y="1993392"/>
            <a:ext cx="1051560" cy="347472"/>
          </a:xfrm>
          <a:prstGeom prst="roundRect">
            <a:avLst/>
          </a:prstGeom>
          <a:solidFill>
            <a:srgbClr val="FCE8C4"/>
          </a:solidFill>
          <a:ln>
            <a:solidFill>
              <a:srgbClr val="FCE8C4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暫緩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43984" y="2514600"/>
            <a:ext cx="3337560" cy="1371600"/>
          </a:xfrm>
          <a:prstGeom prst="roundRect">
            <a:avLst/>
          </a:prstGeom>
          <a:solidFill>
            <a:srgbClr val="FCE8C4"/>
          </a:solidFill>
          <a:ln>
            <a:solidFill>
              <a:srgbClr val="FCE8C4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 不急著裝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避免增加另一套維護、OAuth、Docker 與備份成本。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94192" y="1993392"/>
            <a:ext cx="1234440" cy="347472"/>
          </a:xfrm>
          <a:prstGeom prst="roundRect">
            <a:avLst/>
          </a:prstGeom>
          <a:solidFill>
            <a:srgbClr val="E5F4E8"/>
          </a:solidFill>
          <a:ln>
            <a:solidFill>
              <a:srgbClr val="E5F4E8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2514600"/>
            <a:ext cx="3337560" cy="1371600"/>
          </a:xfrm>
          <a:prstGeom prst="roundRect">
            <a:avLst/>
          </a:prstGeom>
          <a:solidFill>
            <a:srgbClr val="E5F4E8"/>
          </a:solidFill>
          <a:ln>
            <a:solidFill>
              <a:srgbClr val="E5F4E8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需要時再補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大量固定流程、稽核、重跑、多人維護時再導入。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32504" y="3200400"/>
            <a:ext cx="310896" cy="0"/>
          </a:xfrm>
          <a:prstGeom prst="line">
            <a:avLst/>
          </a:prstGeom>
          <a:noFill/>
          <a:ln w="21590">
            <a:solidFill>
              <a:srgbClr val="606C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818120" y="3200400"/>
            <a:ext cx="310896" cy="0"/>
          </a:xfrm>
          <a:prstGeom prst="line">
            <a:avLst/>
          </a:prstGeom>
          <a:noFill/>
          <a:ln w="21590">
            <a:solidFill>
              <a:srgbClr val="606C7A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58368" y="46451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核心判斷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48256" y="4645152"/>
            <a:ext cx="8924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像會思考的數位助理；n8n 像按 SOP 運轉的自動生產線。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" y="6455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× n8n 導入判斷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2823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與 n8n：本質不同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3258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先看任務是「需要判斷」還是「需要嚴格重複」。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41248" y="1874520"/>
            <a:ext cx="2286000" cy="530352"/>
          </a:xfrm>
          <a:prstGeom prst="roundRect">
            <a:avLst/>
          </a:prstGeom>
          <a:solidFill>
            <a:srgbClr val="DDF3F2"/>
          </a:solidFill>
          <a:ln>
            <a:solidFill>
              <a:srgbClr val="DDF3F2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052560" y="1874520"/>
            <a:ext cx="2286000" cy="530352"/>
          </a:xfrm>
          <a:prstGeom prst="roundRect">
            <a:avLst/>
          </a:prstGeom>
          <a:solidFill>
            <a:srgbClr val="FCE8C4"/>
          </a:solidFill>
          <a:ln>
            <a:solidFill>
              <a:srgbClr val="FCE8C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306324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DF3F2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目標導向、可理解情境、可調整策略。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977640"/>
            <a:ext cx="306324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DDF3F2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研究、摘要、GitHub 專案理解、臨時任務。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2743200"/>
            <a:ext cx="306324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FCE8C4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工作流引擎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節點固定、條件明確、每次照 SOP 執行。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3977640"/>
            <a:ext cx="306324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FCE8C4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批次資料、欄位寫入、失敗重跑、稽核紀錄。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51960" y="2331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 / 搜尋 / 生成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059936" y="2999232"/>
            <a:ext cx="4023360" cy="0"/>
          </a:xfrm>
          <a:prstGeom prst="line">
            <a:avLst/>
          </a:prstGeom>
          <a:noFill/>
          <a:ln w="24130">
            <a:solidFill>
              <a:srgbClr val="007C7A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251960" y="4114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搬運 / 條件 / 寫入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83296" y="4782312"/>
            <a:ext cx="-4023360" cy="0"/>
          </a:xfrm>
          <a:prstGeom prst="line">
            <a:avLst/>
          </a:prstGeom>
          <a:noFill/>
          <a:ln w="2413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572768" y="574243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最佳架構：Hermes 思考，Python 精準處理，n8n 視覺化行政管線。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" y="6455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× n8n 導入判斷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2823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Hermes-first use cases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先交給 Hermes 的工作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這些工作需要理解、判斷、摘要與調整策略。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53328" y="3438144"/>
            <a:ext cx="-2743200" cy="-1289304"/>
          </a:xfrm>
          <a:prstGeom prst="line">
            <a:avLst/>
          </a:prstGeom>
          <a:noFill/>
          <a:ln w="1905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144768" y="3429000"/>
            <a:ext cx="2743200" cy="-1280160"/>
          </a:xfrm>
          <a:prstGeom prst="line">
            <a:avLst/>
          </a:prstGeom>
          <a:noFill/>
          <a:ln w="1905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9904" y="3657600"/>
            <a:ext cx="-2743200" cy="1280160"/>
          </a:xfrm>
          <a:prstGeom prst="line">
            <a:avLst/>
          </a:prstGeom>
          <a:noFill/>
          <a:ln w="1905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81344" y="3657600"/>
            <a:ext cx="2743200" cy="1280160"/>
          </a:xfrm>
          <a:prstGeom prst="line">
            <a:avLst/>
          </a:prstGeom>
          <a:noFill/>
          <a:ln w="1905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08192" y="3547872"/>
            <a:ext cx="0" cy="1801368"/>
          </a:xfrm>
          <a:prstGeom prst="line">
            <a:avLst/>
          </a:prstGeom>
          <a:noFill/>
          <a:ln w="1905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937760" y="2926080"/>
            <a:ext cx="1755648" cy="1170432"/>
          </a:xfrm>
          <a:prstGeom prst="ellipse">
            <a:avLst/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70432" y="1755648"/>
            <a:ext cx="2743200" cy="859536"/>
          </a:xfrm>
          <a:prstGeom prst="roundRect">
            <a:avLst/>
          </a:prstGeom>
          <a:solidFill>
            <a:srgbClr val="DDF3F2"/>
          </a:solidFill>
          <a:ln>
            <a:solidFill>
              <a:srgbClr val="DDF3F2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博論文獻雷達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1755648"/>
            <a:ext cx="2743200" cy="859536"/>
          </a:xfrm>
          <a:prstGeom prst="roundRect">
            <a:avLst/>
          </a:prstGeom>
          <a:solidFill>
            <a:srgbClr val="DDEBFF"/>
          </a:solidFill>
          <a:ln>
            <a:solidFill>
              <a:srgbClr val="DDEB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📩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每日系務摘要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4626864"/>
            <a:ext cx="2743200" cy="859536"/>
          </a:xfrm>
          <a:prstGeom prst="roundRect">
            <a:avLst/>
          </a:prstGeom>
          <a:solidFill>
            <a:srgbClr val="E8E3FF"/>
          </a:solidFill>
          <a:ln>
            <a:solidFill>
              <a:srgbClr val="E8E3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GitHub／Unity 週報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4626864"/>
            <a:ext cx="2743200" cy="859536"/>
          </a:xfrm>
          <a:prstGeom prst="roundRect">
            <a:avLst/>
          </a:prstGeom>
          <a:solidFill>
            <a:srgbClr val="FCE8C4"/>
          </a:solidFill>
          <a:ln>
            <a:solidFill>
              <a:srgbClr val="FCE8C4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🔎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與工具情報監測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0016" y="5413248"/>
            <a:ext cx="2788920" cy="640080"/>
          </a:xfrm>
          <a:prstGeom prst="roundRect">
            <a:avLst/>
          </a:prstGeom>
          <a:solidFill>
            <a:srgbClr val="E5F4E8"/>
          </a:solidFill>
          <a:ln>
            <a:solidFill>
              <a:srgbClr val="E5F4E8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🎧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車上聽的有聲摘要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6455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× n8n 導入判斷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2823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When n8n becomes useful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n8n 什麼時候才值得補上？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當流程需要可重複、可追蹤、可重跑，n8n 的價值才明顯。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08" y="1883664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E0D6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大量招生名單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逐筆檢查、分流、更新狀態，不能重複寄信。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64224" y="1883664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E0D6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經費與帳目比對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發票、明細帳、預算表欄位需精準比對。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E0D6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正式大量寄信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先產生草稿，再人工核准，保留紀錄。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64224" y="3310128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E0D6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多人共同維護 SOP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助理或系辦需要看流程圖與執行紀錄。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5010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55648" y="4974336"/>
            <a:ext cx="9015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 Hermes 出現跳步、重複寫入、失敗難追蹤，才是 n8n 登場的訊號。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" y="6455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× n8n 導入判斷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92840" y="642823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建議導入順序：先驗證，再擴充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用兩週低風險測試，判斷是否真的省時。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176272" y="3154680"/>
            <a:ext cx="2011680" cy="0"/>
          </a:xfrm>
          <a:prstGeom prst="line">
            <a:avLst/>
          </a:prstGeom>
          <a:noFill/>
          <a:ln w="2540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230368" y="3154680"/>
            <a:ext cx="2011680" cy="0"/>
          </a:xfrm>
          <a:prstGeom prst="line">
            <a:avLst/>
          </a:prstGeom>
          <a:noFill/>
          <a:ln w="2540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84464" y="3154680"/>
            <a:ext cx="2011680" cy="0"/>
          </a:xfrm>
          <a:prstGeom prst="line">
            <a:avLst/>
          </a:prstGeom>
          <a:noFill/>
          <a:ln w="2540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04672" y="2331720"/>
            <a:ext cx="1719072" cy="1572768"/>
          </a:xfrm>
          <a:prstGeom prst="ellipse">
            <a:avLst/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環境檢查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2331720"/>
            <a:ext cx="1719072" cy="1572768"/>
          </a:xfrm>
          <a:prstGeom prst="ellipse">
            <a:avLst/>
          </a:prstGeom>
          <a:solidFill>
            <a:srgbClr val="DDF3F2"/>
          </a:solidFill>
          <a:ln>
            <a:solidFill>
              <a:srgbClr val="DDF3F2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唯讀流程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76288" y="2331720"/>
            <a:ext cx="1719072" cy="1572768"/>
          </a:xfrm>
          <a:prstGeom prst="ellipse">
            <a:avLst/>
          </a:prstGeom>
          <a:solidFill>
            <a:srgbClr val="FCE8C4"/>
          </a:solidFill>
          <a:ln>
            <a:solidFill>
              <a:srgbClr val="FCE8C4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兩週觀察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12096" y="2331720"/>
            <a:ext cx="1719072" cy="1572768"/>
          </a:xfrm>
          <a:prstGeom prst="ellipse">
            <a:avLst/>
          </a:prstGeom>
          <a:solidFill>
            <a:srgbClr val="007C7A"/>
          </a:solidFill>
          <a:ln>
            <a:solidFill>
              <a:srgbClr val="007C7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必要時補 n8n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" y="475488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 Cron、Google Workspace、GitHub、Telegram、no-agent 腳本。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72784" y="475488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先只輸出報告，不寄信、不刪信、不寫入正式資料。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234440" y="543153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成功標準：每週至少省 1 小時，且沒有造成額外檢查負擔。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" y="6455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× n8n 導入判斷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2823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Safety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安全原則：先唯讀，再授權寫入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系務、招生、帳務與學生資料都不適合一開始就全自動。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08" y="1993392"/>
            <a:ext cx="2377440" cy="1024128"/>
          </a:xfrm>
          <a:prstGeom prst="roundRect">
            <a:avLst/>
          </a:prstGeom>
          <a:solidFill>
            <a:srgbClr val="DDF3F2"/>
          </a:solidFill>
          <a:ln>
            <a:solidFill>
              <a:srgbClr val="DDF3F2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唯讀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讀信件、讀行事曆、讀 Drive，不改資料。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01568" y="1993392"/>
            <a:ext cx="2377440" cy="1024128"/>
          </a:xfrm>
          <a:prstGeom prst="roundRect">
            <a:avLst/>
          </a:prstGeom>
          <a:solidFill>
            <a:srgbClr val="DDEBFF"/>
          </a:solidFill>
          <a:ln>
            <a:solidFill>
              <a:srgbClr val="DDEB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草稿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只產生摘要、信件草稿、報告。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53328" y="1993392"/>
            <a:ext cx="2377440" cy="1024128"/>
          </a:xfrm>
          <a:prstGeom prst="roundRect">
            <a:avLst/>
          </a:prstGeom>
          <a:solidFill>
            <a:srgbClr val="FCE8C4"/>
          </a:solidFill>
          <a:ln>
            <a:solidFill>
              <a:srgbClr val="FCE8C4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人工核准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寄信、建事件、寫入表格前先確認。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05088" y="1993392"/>
            <a:ext cx="2377440" cy="1024128"/>
          </a:xfrm>
          <a:prstGeom prst="roundRect">
            <a:avLst/>
          </a:prstGeom>
          <a:solidFill>
            <a:srgbClr val="E5F4E8"/>
          </a:solidFill>
          <a:ln>
            <a:solidFill>
              <a:srgbClr val="E5F4E8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F8F4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正式流程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通過兩週穩定測試後才擴權。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63824" y="2505456"/>
            <a:ext cx="182880" cy="0"/>
          </a:xfrm>
          <a:prstGeom prst="line">
            <a:avLst/>
          </a:prstGeom>
          <a:noFill/>
          <a:ln w="1905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15584" y="2505456"/>
            <a:ext cx="182880" cy="0"/>
          </a:xfrm>
          <a:prstGeom prst="line">
            <a:avLst/>
          </a:prstGeom>
          <a:noFill/>
          <a:ln w="1905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67344" y="2505456"/>
            <a:ext cx="182880" cy="0"/>
          </a:xfrm>
          <a:prstGeom prst="line">
            <a:avLst/>
          </a:prstGeom>
          <a:noFill/>
          <a:ln w="19050">
            <a:solidFill>
              <a:srgbClr val="E7E0D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9808" y="3675888"/>
            <a:ext cx="10332720" cy="0"/>
          </a:xfrm>
          <a:prstGeom prst="line">
            <a:avLst/>
          </a:prstGeom>
          <a:noFill/>
          <a:ln w="12700">
            <a:solidFill>
              <a:srgbClr val="E7E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41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C4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部署提醒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57984" y="4005072"/>
            <a:ext cx="9089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裝在個人 Windows 電腦上，關機或休眠就不會執行。真正每日任務需常駐主機、VPS 或 NAS。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920240" y="48006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個資與 API 金鑰：只給最小權限；測試用假資料；外寄與刪改一定要人工確認。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66928" y="6455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× n8n 導入判斷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2823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下一步：先讓 Hermes 盤點環境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把這段任務交給 Hermes；只檢查、不修改。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41248" y="1920240"/>
            <a:ext cx="10515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7E0D6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請盤點目前 Hermes 安裝環境，確認 cron、Google Workspace Skill、GitHub 或 MCP、Webhook、通知通道、Python no-agent 排程是否可用。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只做檢查，不要寄信、刪信、修改 Gmail、Calendar、Drive、Sheets。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接著規劃三個低風險流程：每日行程摘要、每週人工情感文獻雷達、每週 GitHub 專案變化摘要。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5192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列出每個流程需要的 Skill、OAuth、API、排程、輸出位置、失敗通知與安全限制，等我確認後再建立。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5840" y="5705856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最終建議：Hermes-first；n8n 只在固定批次行政流程需要稽核時加入。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6C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Hermes × n8n 導入判斷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92840" y="642823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vs n8n 重點摘要</dc:title>
  <dc:subject>Hermes 與 n8n 是否需要同時安裝：重點摘要</dc:subject>
  <dc:creator>OpenAI</dc:creator>
  <cp:lastModifiedBy>OpenAI</cp:lastModifiedBy>
  <cp:revision>1</cp:revision>
  <dcterms:created xsi:type="dcterms:W3CDTF">2026-08-09T00:31:05Z</dcterms:created>
  <dcterms:modified xsi:type="dcterms:W3CDTF">2026-08-09T00:31:05Z</dcterms:modified>
</cp:coreProperties>
</file>