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來源主幹：PressPlay Academy 公開課程頁「深度專注行動指南｜12週達成工作高產出 × 數位斷捨離 × 超速學習」；延伸依據：Cal Newport Deep Work/Time Blocking、Scott H. Young Ultralearning、Attention Residue、retrieval practice、spacing/interleaving 等研究。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PressPlay 公開頁強調 12 週、深度工作、數位斷捨離、超速學習三大模組。此頁將其改寫為使用者的系務、博士研究、AI/Unity 三條主線。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概念來源：Sophie Leroy (2009) attention residue 研究；典型工作日需要在專案、任務和會議間切換，切換後若上一任務未收束會影響下一任務表現。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Leroy (2009) 兩個實驗指出，人需要停止想前一任務才能完整轉移注意力；未完成任務造成注意力轉換困難與表現下降。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整合 Cal Newport deep work/shallow work 觀點與使用者場景。此頁是將系主任工作、博士研究與 AI/Unity 學習按認知深度與切換成本重排。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公式為本簡報整合模型：以 Newport 的 deep work/time blocking 與 Young 的 skill learning/direct practice 為基礎，加入使用者實務場景。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 Newport 的 Time-Block Planner 說明 time blockers 會給一天中的時間明確用途，並在被打亂後更新計畫；也強調減少對訊息的被動反應。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Minimalism 的核心在於有意識地選擇科技；Cal Newport 的 30-day digital declutter 通常區分必要科技與 optional technology。此頁加入 AI rabbit hole 防護。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Scott Young 將 ultralearning 定義為 aggressive self-directed learning；2026 年文章中仍強調 focus 與 directness，並提醒 AI 可能讓人用「AI 代做練習」逃避真實任務。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來源：Roediger et al. (2011) 指出 retrieval practice 相較 repeated studying 可顯著強化長期記憶；Thompson et al. (2023) 評述 spaced learning、interleaving、retrieval practice 是提升長期保留的證據策略；Samani et al. (2021) 顯示 interleaved practice 可提升記憶與問題解決表現。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Scott Young 2026 年重新檢視 ultralearning 與 AI：AI 有助於 meta-learning、生成練習題與回饋，但 focus/directness 仍不可被取代，並警告不要逃避真實任務。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此頁取材於 PressPlay 12週挑戰結構，並融合 Newport/Young 方法後客製成使用者的研究、系務、AI/Unity 產出流程。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週節奏依使用者固定週四 17:00 視覺小說工作坊與系務/研究/AI學習多角色客製化。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此頁依使用者角色客製化，整合 time blocking 與 deep work。重點是工作日設計，不是待辦清單堆疊。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此頁為使用者場景延伸：動畫與遊戲設計系教學、學生專題、系務招生與博士研究整合。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本頁是行動清單。指標以使用者高壓行政與研究並行狀態設計，避免過度繁瑣的生產力系統。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整體結論：以 Deep Work、Digital Minimalism、Ultralearning 與學習科學為基礎，客製為使用者的研究、行政與 AI 創作作業系統。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完整來源列於投影片。簡報沒有使用 PressPlay 付費課程內部教材，僅基於公開課程頁與公開文獻整合。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door_scene_a_young_person_wor_batch_3.png">    </p:cNvPr>
          <p:cNvPicPr>
            <a:picLocks noChangeAspect="1"/>
          </p:cNvPicPr>
          <p:nvPr/>
        </p:nvPicPr>
        <p:blipFill>
          <a:blip r:embed="rId1"/>
          <a:srcRect l="2000" r="5953" t="4000" b="4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914400"/>
            <a:ext cx="8046720" cy="640080"/>
          </a:xfrm>
          <a:prstGeom prst="rect">
            <a:avLst/>
          </a:prstGeom>
          <a:solidFill>
            <a:srgbClr val="0D1B2A">
              <a:alpha val="86000"/>
            </a:srgbClr>
          </a:solidFill>
          <a:ln>
            <a:solidFill>
              <a:srgbClr val="0D1B2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深度專注行動指南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94944" y="1664208"/>
            <a:ext cx="8595360" cy="621792"/>
          </a:xfrm>
          <a:prstGeom prst="rect">
            <a:avLst/>
          </a:prstGeom>
          <a:solidFill>
            <a:srgbClr val="0D1B2A">
              <a:alpha val="86000"/>
            </a:srgbClr>
          </a:solidFill>
          <a:ln>
            <a:solidFill>
              <a:srgbClr val="0D1B2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AF2F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樹遠老師版：把注意力從行政碎片化，轉回研究、AI 遊戲創作與教學產出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31520" y="513892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 Work × Digital Minimalism × Ultralearning × AI Workflow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504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1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精簡講義型 PPTX｜2026.08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1520" y="5870448"/>
            <a:ext cx="6126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3D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本簡報依公開課程頁面與公開文獻重組，不含付費課程內部教材。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結論先講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核心判斷：這門課值得學，但更該改造成工作 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原課程的三個模組可以保留；真正要客製的是您的使用場景。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956816"/>
            <a:ext cx="4572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不是「做更多」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615184"/>
            <a:ext cx="484632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而是把有限的高品質注意力，優先配置到「最難被替代」的工作。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35040" y="1828800"/>
            <a:ext cx="1755648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 Work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保護深度工作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92440" y="1828800"/>
            <a:ext cx="1755648" cy="1024128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Digital Minimalism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重設科技邊界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49840" y="1828800"/>
            <a:ext cx="1755648" cy="1024128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Ultralearning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用專案學能力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53328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您的三條主線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657600"/>
            <a:ext cx="1810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A｜系務行政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招生、評鑑、會議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批次處理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092440" y="3657600"/>
            <a:ext cx="1810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B｜博士研究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人工情感、論文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深度保護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10149840" y="3657600"/>
            <a:ext cx="181051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C｜AI × Unity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原型、教材、作品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超速學習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94944" y="4983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簡報目標：把抽象時間管理轉成明天能用的行動系統。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問題定義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真正稀缺的不是時間，是「可連續思考」的時間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一小時被切成 8 段，看起來很忙；但很少形成可累積的研究或創作。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76656" y="2240280"/>
            <a:ext cx="93268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論文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47088" y="2240280"/>
            <a:ext cx="932688" cy="530352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816352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240280"/>
            <a:ext cx="932688" cy="530352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Email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986784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87952" y="2240280"/>
            <a:ext cx="932688" cy="530352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157216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8384" y="2240280"/>
            <a:ext cx="932688" cy="530352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27648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8816" y="2240280"/>
            <a:ext cx="932688" cy="530352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公文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98080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99248" y="2240280"/>
            <a:ext cx="932688" cy="530352"/>
          </a:xfrm>
          <a:prstGeom prst="rect">
            <a:avLst/>
          </a:prstGeom>
          <a:solidFill>
            <a:srgbClr val="3A86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AI工具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68512" y="235915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0" y="2240280"/>
            <a:ext cx="932688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回論文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68096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表面：工作 1 小時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968496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實際：深度上下文反覆重載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8096" y="4005072"/>
            <a:ext cx="79552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對您最傷的不是回訊息本身，而是研究／程式／企劃的「上下文」被反覆清空。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98280" y="3657600"/>
            <a:ext cx="214884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 10 秒干擾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可能換來 5 分鐘重啟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認知科學基礎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注意力殘留：大腦不是硬碟，不能瞬間切換資料夾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要從「減少干擾」升級成「減少模式切換」。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20116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Task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博士論文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11880" y="1965960"/>
            <a:ext cx="2011680" cy="1005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Interrupt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訊息 / 公文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97296" y="22128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82512" y="1965960"/>
            <a:ext cx="2011680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Task B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Unity / 研究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06840" y="1719072"/>
            <a:ext cx="2331720" cy="1481328"/>
          </a:xfrm>
          <a:prstGeom prst="rect">
            <a:avLst/>
          </a:prstGeom>
          <a:solidFill>
            <a:srgbClr val="FFF0EA"/>
          </a:solidFill>
          <a:ln w="12700">
            <a:solidFill>
              <a:srgbClr val="F6C7B5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殘留：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上一件事仍佔用工作記憶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7673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具體做法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" y="4187952"/>
            <a:ext cx="2212848" cy="566928"/>
          </a:xfrm>
          <a:prstGeom prst="rect">
            <a:avLst/>
          </a:prstGeom>
          <a:solidFill>
            <a:srgbClr val="EEF7F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同類工作批次化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10128" y="4187952"/>
            <a:ext cx="2212848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切換前寫下下一步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9008" y="4187952"/>
            <a:ext cx="2212848" cy="566928"/>
          </a:xfrm>
          <a:prstGeom prst="rect">
            <a:avLst/>
          </a:prstGeom>
          <a:solidFill>
            <a:srgbClr val="FFF5E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深度工作前關掉入口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47888" y="4187952"/>
            <a:ext cx="2395728" cy="566928"/>
          </a:xfrm>
          <a:prstGeom prst="rect">
            <a:avLst/>
          </a:prstGeom>
          <a:solidFill>
            <a:srgbClr val="F1F3F5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會議後留 10 分鐘清場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376672"/>
            <a:ext cx="97840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重點：不是把人變成機器，而是幫大腦保留進入深層思考的路徑。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工作分類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不要只管理待辦事項，要管理「工作模式」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待辦清單把所有事看成同一格；大腦不是這樣運作。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8096" y="1874520"/>
            <a:ext cx="226771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深度研究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8096" y="2880360"/>
            <a:ext cx="2267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論文架構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人工情感模型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核心教材設計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4681728"/>
            <a:ext cx="2267712" cy="438912"/>
          </a:xfrm>
          <a:prstGeom prst="rect">
            <a:avLst/>
          </a:prstGeom>
          <a:solidFill>
            <a:srgbClr val="F3F6F7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深度：高｜切換成本：高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611880" y="1874520"/>
            <a:ext cx="2267712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Analysis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分析決策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2880360"/>
            <a:ext cx="2267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招生數據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課程調整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工具評估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11880" y="4681728"/>
            <a:ext cx="2267712" cy="438912"/>
          </a:xfrm>
          <a:prstGeom prst="rect">
            <a:avLst/>
          </a:prstGeom>
          <a:solidFill>
            <a:srgbClr val="F3F6F7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深度：中｜切換成本：中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6455664" y="1874520"/>
            <a:ext cx="2267712" cy="822960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Admin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行政批次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664" y="2880360"/>
            <a:ext cx="2267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公文 / 會議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 / 表單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採購 / 回覆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55664" y="4681728"/>
            <a:ext cx="2267712" cy="438912"/>
          </a:xfrm>
          <a:prstGeom prst="rect">
            <a:avLst/>
          </a:prstGeom>
          <a:solidFill>
            <a:srgbClr val="F3F6F7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深度：低｜切換成本：中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9299448" y="1874520"/>
            <a:ext cx="2267712" cy="822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Communication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溝通窗口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99448" y="2880360"/>
            <a:ext cx="22677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 / Email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師生協調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外部邀約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299448" y="4681728"/>
            <a:ext cx="2267712" cy="438912"/>
          </a:xfrm>
          <a:prstGeom prst="rect">
            <a:avLst/>
          </a:prstGeom>
          <a:solidFill>
            <a:srgbClr val="F3F6F7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深度：低｜切換成本：中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原則：同一時段盡量維持同一 Mode；不要讓溝通窗口侵蝕 Deep Mode。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生產力公式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424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有意義產出 ≈ 專注 × 時間 × 技能 × 方向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94944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DDE7E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這不是加法，而更接近乘法：其中任何一項接近 0，整體產出就被拉低。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22960" y="2971800"/>
            <a:ext cx="1143000" cy="11430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10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專注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" y="4370832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不被切換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Focus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14016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B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0" y="2971800"/>
            <a:ext cx="1143000" cy="1143000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310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27248" y="4370832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連續區塊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48656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B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92240" y="2971800"/>
            <a:ext cx="1143000" cy="114300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310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1888" y="4370832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可用能力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Skill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83296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B4B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326880" y="2971800"/>
            <a:ext cx="1143000" cy="11430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3310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96528" y="4370832"/>
            <a:ext cx="2194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高價值目標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8F1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Direction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5920" y="5504688"/>
            <a:ext cx="8778240" cy="685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對您最關鍵：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先提升「專注」與「方向」；行政量不會消失，但可被壓縮與批次化。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生產力公式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時間區塊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 Blocking：先把最難替代的工作排進去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不要問「今天有哪些事」；先問「今天哪 90 分鐘要保護給誰」。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08:30–10:00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1609344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博士研究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論文 / 模型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10:00–10:30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60320" y="2450592"/>
            <a:ext cx="1609344" cy="987552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訊息批次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Email / LINE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4462272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10:40–12:00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62272" y="2450592"/>
            <a:ext cx="1609344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Deep Work 2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× Unity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364224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13:30–15:00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4224" y="2450592"/>
            <a:ext cx="1609344" cy="987552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系務 / 會議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行政處理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266176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15:15–16:20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66176" y="2450592"/>
            <a:ext cx="1609344" cy="987552"/>
          </a:xfrm>
          <a:prstGeom prst="rect">
            <a:avLst/>
          </a:prstGeom>
          <a:solidFill>
            <a:srgbClr val="3A86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 / 老師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溝通窗口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10168128" y="1920240"/>
            <a:ext cx="1609344" cy="38404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16:30–17:00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168128" y="2450592"/>
            <a:ext cx="1609344" cy="987552"/>
          </a:xfrm>
          <a:prstGeom prst="rect">
            <a:avLst/>
          </a:prstGeom>
          <a:solidFill>
            <a:srgbClr val="52606D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Shutdown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收尾與明日下一步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768096" y="4169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三個規則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4590288"/>
            <a:ext cx="3090672" cy="585216"/>
          </a:xfrm>
          <a:prstGeom prst="rect">
            <a:avLst/>
          </a:prstGeom>
          <a:solidFill>
            <a:srgbClr val="F1F7F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深度區塊不開 LINE / Email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60520" y="4590288"/>
            <a:ext cx="3090672" cy="585216"/>
          </a:xfrm>
          <a:prstGeom prst="rect">
            <a:avLst/>
          </a:prstGeom>
          <a:solidFill>
            <a:srgbClr val="FFF5E9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行政與溝通安排明確窗口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4590288"/>
            <a:ext cx="3090672" cy="585216"/>
          </a:xfrm>
          <a:prstGeom prst="rect">
            <a:avLst/>
          </a:prstGeom>
          <a:solidFill>
            <a:srgbClr val="EEF2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8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被打亂就重畫，不是放棄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559612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每天只要守住 1–2 個 60–90 分鐘深度區塊，就能明顯改變研究與創作累積。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ist_indoor_still_life_desk_scene_batch_2.png">    </p:cNvPr>
          <p:cNvPicPr>
            <a:picLocks noChangeAspect="1"/>
          </p:cNvPicPr>
          <p:nvPr/>
        </p:nvPicPr>
        <p:blipFill>
          <a:blip r:embed="rId1"/>
          <a:srcRect l="0" r="11955" t="5000" b="7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數位極簡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數位斷捨離：不是戒工具，是重新授權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科技不能決定您的工作日；它只能服務您真正要完成的事。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2084832"/>
            <a:ext cx="196596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必要工具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246120" y="2084832"/>
            <a:ext cx="196596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使用時段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0" y="2084832"/>
            <a:ext cx="1965960" cy="914400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移除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低價值刺激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092440" y="2084832"/>
            <a:ext cx="1965960" cy="914400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重導向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真實產出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14400" y="3931920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AI 工具也一樣：ChatGPT / Claude / Codex 是工具，不是新的無底洞。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834640" y="4864608"/>
            <a:ext cx="6492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原則：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 AI Session = 一個明確 Objective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Ultralearning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超速學習：不要只「看教學」，要做出可驗證作品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能力不是收藏資料產生的，而是在真實任務、回饋與修正中長出來。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80744" y="1938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Meta-learning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先畫路線圖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我要學到能做什麼？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3584448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87952" y="1938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Directness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2514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直接做目標任務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少看影片，多做 Build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391656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995160" y="1938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1656" y="2514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拆弱點反覆練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程式、動畫、UI、敘事分開補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9198864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802368" y="19385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Feedback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98864" y="2514600"/>
            <a:ext cx="23317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快速取得回饋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學生試玩、同儕、AI critic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868680" y="4498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建議的個人學習專案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882896"/>
            <a:ext cx="2880360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12週做一個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情緒 NPC Unity 原型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77640" y="50749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43400" y="4882896"/>
            <a:ext cx="3017520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同步產出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博士論文小節 / 教材 / 展示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71232" y="507492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55280" y="4882896"/>
            <a:ext cx="2834640" cy="786384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每週回顧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Build、筆記、下一步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Evidence-based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學習科學：記住與會用，靠的是回想、間隔、混合與回饋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這一頁最適合轉給學生，也適合您自己的博士閱讀與 Unity 學習。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8288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0" y="19293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關掉資料，自己說一次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9110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讀論文後先回想 5 個重點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828800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Spacing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26080" y="288950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拉開時間重複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8712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隔天 / 3天 / 7天再回想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1828800" cy="566928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Interleaving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3849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混合題型與技能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831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動畫＋程式＋UI＋Build 混合練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1828800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48097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錯誤要被看見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4791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試玩、教師、同儕、AI 批判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97280" y="5669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讀完 ≠ 學會；收藏 ≠ 產出；熟悉感 ≠ 能力。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時代的更新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6070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負責擴張；人類負責收斂、判斷與負責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76656" y="18653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AI 放在深度工作前後，而不是讓 AI 變成新的分心入口。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743200"/>
            <a:ext cx="214884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問題定義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3438144"/>
            <a:ext cx="2148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人類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我要解哪個具體問題？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127248" y="34290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B8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75888" y="2743200"/>
            <a:ext cx="2148840" cy="502920"/>
          </a:xfrm>
          <a:prstGeom prst="rect">
            <a:avLst/>
          </a:prstGeom>
          <a:solidFill>
            <a:srgbClr val="3A86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資料擴張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75888" y="3438144"/>
            <a:ext cx="2148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搜尋、摘要、產生路線圖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61888" y="34290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B8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10528" y="2743200"/>
            <a:ext cx="2148840" cy="502920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深度收斂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10528" y="3438144"/>
            <a:ext cx="2148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人類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批判、重組、建模型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796528" y="34290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9B8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45168" y="2743200"/>
            <a:ext cx="214884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真實輸出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45168" y="3438144"/>
            <a:ext cx="2148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世界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PPT、論文、Build、課程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828800" y="5230368"/>
            <a:ext cx="8412480" cy="749808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防呆句：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「這 90 分鐘只完成一個 Objective，不開第二條研究支線。」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× Deep Work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12週行動圖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12週精簡版：用四個階段建立自己的深度專注系統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把「課程概念」轉成您每週可以執行、可以檢核的節奏。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1938528"/>
            <a:ext cx="2148840" cy="475488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W1–W3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2148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盤點與止血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記錄干擾、切工作次數、深度時間；先救回注意力。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3639312" y="1938528"/>
            <a:ext cx="214884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W4–W6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39312" y="2578608"/>
            <a:ext cx="2148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保護深度區塊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 60–90 分鐘工作儀式；行政與訊息批次化。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6473952" y="1938528"/>
            <a:ext cx="214884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W7–W9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73952" y="2578608"/>
            <a:ext cx="2148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超速學習專案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選一個 AI × Unity 或論文小專案，直接做出可驗證成果。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9308592" y="1938528"/>
            <a:ext cx="2148840" cy="475488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W10–W12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08592" y="2578608"/>
            <a:ext cx="21488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輸出與固定化</a:t>
            </a:r>
            <a:endParaRPr lang="en-US" sz="1480" dirty="0"/>
          </a:p>
          <a:p>
            <a:pPr algn="l" indent="0" marL="0">
              <a:buNone/>
            </a:pPr>
            <a:r>
              <a:rPr lang="en-US" sz="148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把成果變成 PPT、教材、論文章節與工作模板。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914400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一週只問三件事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486400"/>
            <a:ext cx="2971800" cy="512064"/>
          </a:xfrm>
          <a:prstGeom prst="rect">
            <a:avLst/>
          </a:prstGeom>
          <a:solidFill>
            <a:srgbClr val="EEF7F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本週保護了幾小時 Deep Work？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572000" y="5486400"/>
            <a:ext cx="2971800" cy="512064"/>
          </a:xfrm>
          <a:prstGeom prst="rect">
            <a:avLst/>
          </a:prstGeom>
          <a:solidFill>
            <a:srgbClr val="EEF2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3A8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產出了什麼可交付成果？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0" y="5486400"/>
            <a:ext cx="2971800" cy="512064"/>
          </a:xfrm>
          <a:prstGeom prst="rect">
            <a:avLst/>
          </a:prstGeom>
          <a:solidFill>
            <a:srgbClr val="FFF2E8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下週要刪掉哪個低價值刺激？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週節奏模板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每週節奏：把行政壓力關進固定窗口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行政不會消失；但它不應該整天開著水龍頭。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192024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2496312"/>
            <a:ext cx="19202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246120"/>
            <a:ext cx="1920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 2 個深度區塊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列出本週最小產出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62656" y="1965960"/>
            <a:ext cx="192024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962656" y="2496312"/>
            <a:ext cx="1920240" cy="566928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62656" y="3246120"/>
            <a:ext cx="1920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博士論文 / 文獻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上午優先保護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66944" y="1965960"/>
            <a:ext cx="192024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66944" y="2496312"/>
            <a:ext cx="1920240" cy="566928"/>
          </a:xfrm>
          <a:prstGeom prst="rect">
            <a:avLst/>
          </a:prstGeom>
          <a:solidFill>
            <a:srgbClr val="3A86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66944" y="3246120"/>
            <a:ext cx="1920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× Unity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可執行原型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71232" y="1965960"/>
            <a:ext cx="192024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週四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71232" y="2496312"/>
            <a:ext cx="1920240" cy="566928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71232" y="3246120"/>
            <a:ext cx="1920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17:00 視覺小說工作坊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回收學生問題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75520" y="1965960"/>
            <a:ext cx="192024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875520" y="2496312"/>
            <a:ext cx="1920240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75520" y="3246120"/>
            <a:ext cx="1920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 / 系務 / 回顧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整理下週下一步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8680" y="52486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建議：若當週系務爆量，至少守住「兩個上午 90 分鐘」給博士研究或 AI/Unity。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2011680" y="5797296"/>
            <a:ext cx="8138160" cy="384048"/>
          </a:xfrm>
          <a:prstGeom prst="rect">
            <a:avLst/>
          </a:prstGeom>
          <a:solidFill>
            <a:srgbClr val="F1F7F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可配合：Google Calendar / Todoist / Notion / Obsidian / 紙本 Time Block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每日模板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主任 × 博士生 × AI創作者：一天的最小可行模板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不是要求每天完美，只要求每天有一個可累積的深度產出。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8745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上午 90 分鐘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71800" y="19019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博士研究 / 論文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9019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不開訊息；結束前寫下一步</a:t>
            </a:r>
            <a:endParaRPr lang="en-US" sz="153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1874520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上午 30 分鐘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8620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訊息批次處理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09360" y="28620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LINE / Email / 表單一次清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822960" y="3749040"/>
            <a:ext cx="1874520" cy="512064"/>
          </a:xfrm>
          <a:prstGeom prst="rect">
            <a:avLst/>
          </a:prstGeom>
          <a:solidFill>
            <a:srgbClr val="F2A65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下午 90 分鐘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38221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系務與行政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8221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會議、招生、教師協調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822960" y="4709160"/>
            <a:ext cx="1874520" cy="512064"/>
          </a:xfrm>
          <a:prstGeom prst="rect">
            <a:avLst/>
          </a:prstGeom>
          <a:solidFill>
            <a:srgbClr val="2A9D8F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傍晚 45–60 分鐘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4782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× Unity 或教材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478231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做一個小功能 / 小範例</a:t>
            </a:r>
            <a:endParaRPr lang="en-US" sz="1530" dirty="0"/>
          </a:p>
        </p:txBody>
      </p:sp>
      <p:sp>
        <p:nvSpPr>
          <p:cNvPr id="19" name="Text 17"/>
          <p:cNvSpPr/>
          <p:nvPr/>
        </p:nvSpPr>
        <p:spPr>
          <a:xfrm>
            <a:off x="1645920" y="5541264"/>
            <a:ext cx="886968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每天只要留下 3 行紀錄：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今天的 Deep Work 分鐘數｜完成的 Output｜明天第一步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realistic_indoor_office_study_scene_wide_shot_o_batch_1.png">    </p:cNvPr>
          <p:cNvPicPr>
            <a:picLocks noChangeAspect="1"/>
          </p:cNvPicPr>
          <p:nvPr/>
        </p:nvPicPr>
        <p:blipFill>
          <a:blip r:embed="rId1"/>
          <a:srcRect l="0" r="7953" t="3000" b="50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教學與系務應用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9966960" cy="621792"/>
          </a:xfrm>
          <a:prstGeom prst="rect">
            <a:avLst/>
          </a:prstGeom>
          <a:solidFill>
            <a:srgbClr val="0D1B2A">
              <a:alpha val="82000"/>
            </a:srgbClr>
          </a:solidFill>
          <a:ln>
            <a:solidFill>
              <a:srgbClr val="0D1B2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這不只是一門個人生產力課，也能變成學生能力培養工具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2514600" cy="10972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學生專題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每週 Build + 回饋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少談理想，多出版本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3703320" y="2971800"/>
            <a:ext cx="2514600" cy="10972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教師教學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Retrieval / Feedback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設計課堂練習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83680" y="2971800"/>
            <a:ext cx="2514600" cy="10972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系務治理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行政批次化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招生資料變 Dashboard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464040" y="2971800"/>
            <a:ext cx="2514600" cy="1097280"/>
          </a:xfrm>
          <a:prstGeom prst="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博士研究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行政資料轉研究素材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形成一魚三吃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51560" y="507492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關鍵不是「變得更忙」，而是讓每一份注意力都能留下作品、資料或論述。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應用轉化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Action 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明天就能開始：最小可行版本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先做小，但要能持續；先求穩定，再求強度。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856232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刪除或隱藏 1 個最會滑掉時間的入口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60604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在行事曆放入 2 個 90 分鐘 Deep Work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1440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35584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LINE / Email 改成每日 2–3 個窗口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1440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10565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 1 個 12週超速學習專案：AI 情緒 NPC / 論文一章 / 招生 Dashboard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485546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每天收尾寫 3 行：完成什麼、卡在哪、明天第一步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0120" y="5715000"/>
            <a:ext cx="10058400" cy="51206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評估指標：一週後，是否至少累積 6 小時 Deep Work，並產生 1 個可交付 Output？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最後記住這六句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深度專注不是自律表演，而是工作設計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21762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176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忙碌不是產出。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60120" y="30449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注意力比時間更稀缺。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60120" y="39136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86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3913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先保護 Deep Work，再處理雜事。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217920" y="217627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1762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不要只讀資料，要回想與輸出。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217920" y="30449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DBD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不要只看教學，要直接做作品。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7920" y="39136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39136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要幫你減少低價值負擔，不是增加新分心。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234440" y="5650992"/>
            <a:ext cx="9692640" cy="566928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2E7E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把注意力保留給：博士研究、AI × 遊戲創作、教學品質與系所長期發展。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核心結論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1381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研究來源與延伸閱讀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326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簡報內容為公開資料整理、研究轉譯與個人場景客製化。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樹遠老師版：深度專注行動指南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87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PressPlay Academy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深度專注行動指南｜12週達成工作高產出 × 數位斷捨離 × 超速學習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pressplay.cc/project/6F253579C1747C5E0B1515425CC764A2/about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Cal Newport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596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Time-Block Planner；Deep Work：專注於高認知需求工作的能力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7315200" y="2596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timeblockplanner.com；porchlightbooks.com/products/deep-work-cal-newport-9781455586691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3649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Scott H. Young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33649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Ultralearning、AI 時代修正、Directness / Retrieval / Feedback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315200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scotthyoung.com/blog/2026/04/29/ultralearning-ai/；2024/05/14/ultralearning-vs-get-better-at-anything/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4133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Sophie Leroy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0" y="41330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Attention Residue：工作切換後注意力殘留影響表現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7315200" y="4133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ideas.repec.org/a/eee/jobhdp/v109y2009i2p168-181.html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49011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Learning Science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43200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17202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Retrieval practice、Spacing、Interleaving 與長期記憶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7315200" y="49011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pubmed.ncbi.nlm.nih.gov/20951630/；37683816；pmc.ncbi.nlm.nih.gov/articles/PMC8589969/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9D8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建議使用方式：可直接當教師研習、學生專題方法課或個人工作流重整的 45–60 分鐘簡報。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深度專注行動指南：樹遠老師版</dc:title>
  <dc:subject>深度專注、數位斷捨離、超速學習與 AI 時代工作系統</dc:subject>
  <dc:creator>OpenAI / ChatGPT</dc:creator>
  <cp:lastModifiedBy>OpenAI / ChatGPT</cp:lastModifiedBy>
  <cp:revision>1</cp:revision>
  <dcterms:created xsi:type="dcterms:W3CDTF">2026-08-09T03:39:13Z</dcterms:created>
  <dcterms:modified xsi:type="dcterms:W3CDTF">2026-08-09T03:39:13Z</dcterms:modified>
</cp:coreProperties>
</file>