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fa96d2f8c845e2" /><Relationship Type="http://schemas.openxmlformats.org/officeDocument/2006/relationships/extended-properties" Target="/docProps/app.xml" Id="Ra3a9fadccf684d8d" /><Relationship Type="http://schemas.openxmlformats.org/officeDocument/2006/relationships/officeDocument" Target="/ppt/presentation.xml" Id="R80f49b31be7041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05b49af52646a5"/>
  </p:sldMasterIdLst>
  <p:notesMasterIdLst>
    <p:notesMasterId xmlns:r="http://schemas.openxmlformats.org/officeDocument/2006/relationships" r:id="Ra466b77555854668"/>
  </p:notesMasterIdLst>
  <p:sldIdLst>
    <p:sldId xmlns:r="http://schemas.openxmlformats.org/officeDocument/2006/relationships" id="256" r:id="R79326d4b30174ce3"/>
    <p:sldId xmlns:r="http://schemas.openxmlformats.org/officeDocument/2006/relationships" id="257" r:id="R93502796f0634225"/>
    <p:sldId xmlns:r="http://schemas.openxmlformats.org/officeDocument/2006/relationships" id="258" r:id="R293de67218d447d9"/>
    <p:sldId xmlns:r="http://schemas.openxmlformats.org/officeDocument/2006/relationships" id="259" r:id="R10a91d598b9346c0"/>
    <p:sldId xmlns:r="http://schemas.openxmlformats.org/officeDocument/2006/relationships" id="260" r:id="Rdd74c6ca346f4001"/>
    <p:sldId xmlns:r="http://schemas.openxmlformats.org/officeDocument/2006/relationships" id="261" r:id="R1d795be280b84d3b"/>
    <p:sldId xmlns:r="http://schemas.openxmlformats.org/officeDocument/2006/relationships" id="262" r:id="Rc775deea215e4324"/>
    <p:sldId xmlns:r="http://schemas.openxmlformats.org/officeDocument/2006/relationships" id="263" r:id="R0c796c219cc74814"/>
    <p:sldId xmlns:r="http://schemas.openxmlformats.org/officeDocument/2006/relationships" id="264" r:id="R7f40ece0fc544af5"/>
    <p:sldId xmlns:r="http://schemas.openxmlformats.org/officeDocument/2006/relationships" id="265" r:id="R27a25e612ecf43ad"/>
    <p:sldId xmlns:r="http://schemas.openxmlformats.org/officeDocument/2006/relationships" id="266" r:id="Re4b4b216fe064989"/>
    <p:sldId xmlns:r="http://schemas.openxmlformats.org/officeDocument/2006/relationships" id="267" r:id="R45531a2eec9040d1"/>
    <p:sldId xmlns:r="http://schemas.openxmlformats.org/officeDocument/2006/relationships" id="268" r:id="R83807eb48a944eb9"/>
    <p:sldId xmlns:r="http://schemas.openxmlformats.org/officeDocument/2006/relationships" id="269" r:id="R7f2b7bd019f04660"/>
    <p:sldId xmlns:r="http://schemas.openxmlformats.org/officeDocument/2006/relationships" id="270" r:id="Rf65e60bc46cb40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7d36750e844b21" /><Relationship Type="http://schemas.openxmlformats.org/officeDocument/2006/relationships/slideMaster" Target="/ppt/slideMasters/slideMaster1.xml" Id="Rf905b49af52646a5" /><Relationship Type="http://schemas.openxmlformats.org/officeDocument/2006/relationships/notesMaster" Target="/ppt/notesMasters/notesMaster1.xml" Id="Ra466b77555854668" /><Relationship Type="http://schemas.openxmlformats.org/officeDocument/2006/relationships/presProps" Target="/ppt/presProps.xml" Id="Rfd581772e2374d6b" /><Relationship Type="http://schemas.openxmlformats.org/officeDocument/2006/relationships/tableStyles" Target="/ppt/tableStyles.xml" Id="R6a6aa0b00d834d79" /><Relationship Type="http://schemas.openxmlformats.org/officeDocument/2006/relationships/slide" Target="/ppt/slides/slide1.xml" Id="R79326d4b30174ce3" /><Relationship Type="http://schemas.openxmlformats.org/officeDocument/2006/relationships/slide" Target="/ppt/slides/slide2.xml" Id="R93502796f0634225" /><Relationship Type="http://schemas.openxmlformats.org/officeDocument/2006/relationships/slide" Target="/ppt/slides/slide3.xml" Id="R293de67218d447d9" /><Relationship Type="http://schemas.openxmlformats.org/officeDocument/2006/relationships/slide" Target="/ppt/slides/slide4.xml" Id="R10a91d598b9346c0" /><Relationship Type="http://schemas.openxmlformats.org/officeDocument/2006/relationships/slide" Target="/ppt/slides/slide5.xml" Id="Rdd74c6ca346f4001" /><Relationship Type="http://schemas.openxmlformats.org/officeDocument/2006/relationships/slide" Target="/ppt/slides/slide6.xml" Id="R1d795be280b84d3b" /><Relationship Type="http://schemas.openxmlformats.org/officeDocument/2006/relationships/slide" Target="/ppt/slides/slide7.xml" Id="Rc775deea215e4324" /><Relationship Type="http://schemas.openxmlformats.org/officeDocument/2006/relationships/slide" Target="/ppt/slides/slide8.xml" Id="R0c796c219cc74814" /><Relationship Type="http://schemas.openxmlformats.org/officeDocument/2006/relationships/slide" Target="/ppt/slides/slide9.xml" Id="R7f40ece0fc544af5" /><Relationship Type="http://schemas.openxmlformats.org/officeDocument/2006/relationships/slide" Target="/ppt/slides/slide10.xml" Id="R27a25e612ecf43ad" /><Relationship Type="http://schemas.openxmlformats.org/officeDocument/2006/relationships/slide" Target="/ppt/slides/slide11.xml" Id="Re4b4b216fe064989" /><Relationship Type="http://schemas.openxmlformats.org/officeDocument/2006/relationships/slide" Target="/ppt/slides/slide12.xml" Id="R45531a2eec9040d1" /><Relationship Type="http://schemas.openxmlformats.org/officeDocument/2006/relationships/slide" Target="/ppt/slides/slide13.xml" Id="R83807eb48a944eb9" /><Relationship Type="http://schemas.openxmlformats.org/officeDocument/2006/relationships/slide" Target="/ppt/slides/slide14.xml" Id="R7f2b7bd019f04660" /><Relationship Type="http://schemas.openxmlformats.org/officeDocument/2006/relationships/slide" Target="/ppt/slides/slide15.xml" Id="Rf65e60bc46cb40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89228ea4ef47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f8ab36db7d4c94" /><Relationship Type="http://schemas.openxmlformats.org/officeDocument/2006/relationships/notesMaster" Target="/ppt/notesMasters/notesMaster1.xml" Id="R6826058c59ad4a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a7291752f044ef" /><Relationship Type="http://schemas.openxmlformats.org/officeDocument/2006/relationships/notesMaster" Target="/ppt/notesMasters/notesMaster1.xml" Id="Rfa7218028d9741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1340bb84cb4bc1" /><Relationship Type="http://schemas.openxmlformats.org/officeDocument/2006/relationships/notesMaster" Target="/ppt/notesMasters/notesMaster1.xml" Id="Rb06ca78207bf4c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1a72861b104aed" /><Relationship Type="http://schemas.openxmlformats.org/officeDocument/2006/relationships/notesMaster" Target="/ppt/notesMasters/notesMaster1.xml" Id="R4db7d34f35224e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43e094f9b84f93" /><Relationship Type="http://schemas.openxmlformats.org/officeDocument/2006/relationships/notesMaster" Target="/ppt/notesMasters/notesMaster1.xml" Id="R06e397b6854045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96c1e0ea2b4e9b" /><Relationship Type="http://schemas.openxmlformats.org/officeDocument/2006/relationships/notesMaster" Target="/ppt/notesMasters/notesMaster1.xml" Id="R9877f339c6ee42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64dcad35914c82" /><Relationship Type="http://schemas.openxmlformats.org/officeDocument/2006/relationships/notesMaster" Target="/ppt/notesMasters/notesMaster1.xml" Id="R94faf50b947041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25387fcfaf439b" /><Relationship Type="http://schemas.openxmlformats.org/officeDocument/2006/relationships/notesMaster" Target="/ppt/notesMasters/notesMaster1.xml" Id="R7a3de4f08c7f4e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603ed571e44fc1" /><Relationship Type="http://schemas.openxmlformats.org/officeDocument/2006/relationships/notesMaster" Target="/ppt/notesMasters/notesMaster1.xml" Id="Rbf4556d73c9a43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539300e504418e" /><Relationship Type="http://schemas.openxmlformats.org/officeDocument/2006/relationships/notesMaster" Target="/ppt/notesMasters/notesMaster1.xml" Id="R65459cf6925542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04041720254293" /><Relationship Type="http://schemas.openxmlformats.org/officeDocument/2006/relationships/notesMaster" Target="/ppt/notesMasters/notesMaster1.xml" Id="R39f8e9be2b9a4d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1af8c6e18d40c7" /><Relationship Type="http://schemas.openxmlformats.org/officeDocument/2006/relationships/notesMaster" Target="/ppt/notesMasters/notesMaster1.xml" Id="Rfe930545f8c94f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adc61416a1465e" /><Relationship Type="http://schemas.openxmlformats.org/officeDocument/2006/relationships/notesMaster" Target="/ppt/notesMasters/notesMaster1.xml" Id="R2d43ef0dae5046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25205a386a4388" /><Relationship Type="http://schemas.openxmlformats.org/officeDocument/2006/relationships/notesMaster" Target="/ppt/notesMasters/notesMaster1.xml" Id="R33ef6398a7734b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190ec455c24d14" /><Relationship Type="http://schemas.openxmlformats.org/officeDocument/2006/relationships/notesMaster" Target="/ppt/notesMasters/notesMaster1.xml" Id="R3707da009ddf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Gary Talks Stuff 頻道：https://www.youtube.com/@garytalksstuff/videos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Opus 4.7 是另一種模型: https://www.youtube.com/watch?v=WOMdoiy9Qas</a:t>
            </a:r>
          </a:p>
          <a:p xmlns:a="http://schemas.openxmlformats.org/drawingml/2006/main">
            <a:r>
              <a:t>- Mythos：舊提示詞正在拖垮新模型？: https://www.youtube.com/watch?v=MdZWB8eC83Q</a:t>
            </a:r>
          </a:p>
          <a:p xmlns:a="http://schemas.openxmlformats.org/drawingml/2006/main">
            <a:r>
              <a:t>- Opus 4.7 與 Claude Code 降智危機: https://www.youtube.com/watch?v=3e_YTF3id_8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Opus 4.7 是另一種模型: https://www.youtube.com/watch?v=WOMdoiy9Qas</a:t>
            </a:r>
          </a:p>
          <a:p xmlns:a="http://schemas.openxmlformats.org/drawingml/2006/main">
            <a:r>
              <a:t>- Opus 4.7 與 Claude Code 降智危機: https://www.youtube.com/watch?v=3e_YTF3id_8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Mythos：舊提示詞正在拖垮新模型？: https://www.youtube.com/watch?v=MdZWB8eC83Q</a:t>
            </a:r>
          </a:p>
          <a:p xmlns:a="http://schemas.openxmlformats.org/drawingml/2006/main">
            <a:r>
              <a:t>- Opus 4.7 與 Claude Code 降智危機: https://www.youtube.com/watch?v=3e_YTF3id_8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Opus 4.7 是另一種模型: https://www.youtube.com/watch?v=WOMdoiy9Qas</a:t>
            </a:r>
          </a:p>
          <a:p xmlns:a="http://schemas.openxmlformats.org/drawingml/2006/main">
            <a:r>
              <a:t>- Opus 4.7 與 Claude Code 降智危機: https://www.youtube.com/watch?v=3e_YTF3id_8</a:t>
            </a:r>
          </a:p>
          <a:p xmlns:a="http://schemas.openxmlformats.org/drawingml/2006/main">
            <a:r>
              <a:t>- AI 改 code 一直改 A 壞 B？你缺的是這五個步驟: https://www.youtube.com/watch?v=CMs8YMU6_RM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Mythos：模型解析能力分析: https://www.youtube.com/watch?v=e6fdbYlUPZE</a:t>
            </a:r>
          </a:p>
          <a:p xmlns:a="http://schemas.openxmlformats.org/drawingml/2006/main">
            <a:r>
              <a:t>- Mythos：舊提示詞正在拖垮新模型？: https://www.youtube.com/watch?v=MdZWB8eC83Q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- Anthropic Managed Agents 解析: https://www.youtube.com/watch?v=LFvsSCFVBm0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Managed Agents 解析: https://www.youtube.com/watch?v=LFvsSCFVBm0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Skills：為什麼大家跟進？: https://www.youtube.com/watch?v=b8ZmokNWjw0</a:t>
            </a:r>
          </a:p>
          <a:p xmlns:a="http://schemas.openxmlformats.org/drawingml/2006/main">
            <a:r>
              <a:t>- Skill 實戰教學: https://www.youtube.com/watch?v=PuqX3Kv2ino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我讓 Fable 當腦，Sonnet 當手，省了一半 Token: https://www.youtube.com/watch?v=ZLM6Qy7pAHk</a:t>
            </a:r>
          </a:p>
          <a:p xmlns:a="http://schemas.openxmlformats.org/drawingml/2006/main">
            <a:r>
              <a:t>- Claude Fable 5 使用心得: https://www.youtube.com/watch?v=L5LLzXrKFIY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- AI 時代怎麼創業？Anthropic Playbook: https://www.youtube.com/watch?v=PxPWaP7mXFM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AI 課程 Day 4+5：怎麼放心讓 AI 上正式環境？: https://www.youtube.com/watch?v=h7abDtqN9gs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- Anthropic Managed Agents 解析: https://www.youtube.com/watch?v=LFvsSCFVBm0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- Harness Engineering：100 萬行程式碼，0 行人寫: https://www.youtube.com/watch?v=ugKW_Dv37Bk</a:t>
            </a:r>
          </a:p>
          <a:p xmlns:a="http://schemas.openxmlformats.org/drawingml/2006/main">
            <a:r>
              <a:t>- Skill 實戰教學: https://www.youtube.com/watch?v=PuqX3Kv2ino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Mythos：模型解析能力分析: https://www.youtube.com/watch?v=e6fdbYlUPZE</a:t>
            </a:r>
          </a:p>
          <a:p xmlns:a="http://schemas.openxmlformats.org/drawingml/2006/main">
            <a:r>
              <a:t>- Opus 4.7 是另一種模型: https://www.youtube.com/watch?v=WOMdoiy9Qas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Opus 4.7 是另一種模型: https://www.youtube.com/watch?v=WOMdoiy9Qas</a:t>
            </a:r>
          </a:p>
          <a:p xmlns:a="http://schemas.openxmlformats.org/drawingml/2006/main">
            <a:r>
              <a:t>- Mythos：舊提示詞正在拖垮新模型？: https://www.youtube.com/watch?v=MdZWB8eC83Q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b544f67e449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53153f172649b8" /><Relationship Type="http://schemas.openxmlformats.org/officeDocument/2006/relationships/slideLayout" Target="/ppt/slideLayouts/slideLayout1.xml" Id="R0ee5e3d4e2a7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e5e3d4e2a7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db072ef5f4c4a" /><Relationship Type="http://schemas.openxmlformats.org/officeDocument/2006/relationships/notesSlide" Target="/ppt/notesSlides/notesSlide1.xml" Id="Rbf47cb0d24c944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5fa13810e47bb" /><Relationship Type="http://schemas.openxmlformats.org/officeDocument/2006/relationships/notesSlide" Target="/ppt/notesSlides/notesSlide2.xml" Id="R1b16a76b94f54c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9cc6a8e944067" /><Relationship Type="http://schemas.openxmlformats.org/officeDocument/2006/relationships/notesSlide" Target="/ppt/notesSlides/notesSlide3.xml" Id="R061524c0817640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c731b1217409c" /><Relationship Type="http://schemas.openxmlformats.org/officeDocument/2006/relationships/notesSlide" Target="/ppt/notesSlides/notesSlide4.xml" Id="R5fa5331256ec47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40ca4151d4aa3" /><Relationship Type="http://schemas.openxmlformats.org/officeDocument/2006/relationships/notesSlide" Target="/ppt/notesSlides/notesSlide5.xml" Id="R8de2f23b0acc46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60779d5634e6f" /><Relationship Type="http://schemas.openxmlformats.org/officeDocument/2006/relationships/notesSlide" Target="/ppt/notesSlides/notesSlide6.xml" Id="R8ae7a4ea05714a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6c9f8ea1e4c2b" /><Relationship Type="http://schemas.openxmlformats.org/officeDocument/2006/relationships/notesSlide" Target="/ppt/notesSlides/notesSlide7.xml" Id="Rd4e7895b33bb45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ba762c21b4e5c" /><Relationship Type="http://schemas.openxmlformats.org/officeDocument/2006/relationships/notesSlide" Target="/ppt/notesSlides/notesSlide8.xml" Id="Ra8546e291c814b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af26b45df4eaa" /><Relationship Type="http://schemas.openxmlformats.org/officeDocument/2006/relationships/notesSlide" Target="/ppt/notesSlides/notesSlide9.xml" Id="Rbea4033df6b845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975113d404c50" /><Relationship Type="http://schemas.openxmlformats.org/officeDocument/2006/relationships/notesSlide" Target="/ppt/notesSlides/notesSlide10.xml" Id="R3dcb7bedb13f43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5caad5d8b42a9" /><Relationship Type="http://schemas.openxmlformats.org/officeDocument/2006/relationships/notesSlide" Target="/ppt/notesSlides/notesSlide11.xml" Id="R07ab21bcd93f47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71703ed4a479f" /><Relationship Type="http://schemas.openxmlformats.org/officeDocument/2006/relationships/notesSlide" Target="/ppt/notesSlides/notesSlide12.xml" Id="R6f5f07b567824a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0b904643d4240" /><Relationship Type="http://schemas.openxmlformats.org/officeDocument/2006/relationships/notesSlide" Target="/ppt/notesSlides/notesSlide13.xml" Id="R4b597a7fcf684b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06996929d4571" /><Relationship Type="http://schemas.openxmlformats.org/officeDocument/2006/relationships/notesSlide" Target="/ppt/notesSlides/notesSlide14.xml" Id="Raeedcbf7cc0f48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c12af5d48423c" /><Relationship Type="http://schemas.openxmlformats.org/officeDocument/2006/relationships/notesSlide" Target="/ppt/notesSlides/notesSlide15.xml" Id="R269d5325226e4b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F4739-73D6-4F51-99E0-C746977F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4CB09-4ED0-4BF2-9422-E357FAE1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580C"/>
                </a:solidFill>
              </a:defRPr>
            </a:pPr>
            <a:r>
              <a:rPr sz="1200" b="1">
                <a:solidFill>
                  <a:srgbClr val="EA580C"/>
                </a:solidFill>
              </a:rPr>
              <a:t>主題四｜從模型升級到平台競爭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71ED8-416E-4FD9-9EA2-5F5DFB85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904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模型、產品與 AI 產業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6DA3E-EF70-4672-8E95-761D76A4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Opus、Mythos、Managed Agents 與企業導入：影片如何解讀產業變化？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794E9-32C9-4A3E-A4AC-E696E0F5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DD535-593B-43C4-9513-24D3B51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434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15 頁</a:t>
            </a:r>
          </a:p>
          <a:p xmlns:a="http://schemas.openxmlformats.org/drawingml/2006/main">
            <a:pPr algn="ctr">
              <a:defRPr sz="1500" b="1">
                <a:solidFill>
                  <a:srgbClr val="EA580C"/>
                </a:solidFill>
              </a:defRPr>
            </a:pPr>
            <a:r>
              <a:rPr sz="1500" b="1">
                <a:solidFill>
                  <a:srgbClr val="EA580C"/>
                </a:solidFill>
              </a:rPr>
              <a:t>依影片逐字稿整理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FA431-FA85-4F7C-8693-42DFA287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資料來源：Gary Talks Stuff 頻道｜內容為影片觀點整理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FB528-AF66-44F9-B70B-2498C418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2C0FA-B76A-45CB-88DF-C9FE7233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7C8FC-6364-44D2-BA7F-6B01904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1858774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5D100-7ADC-4E82-B1B8-C5521589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580C"/>
                </a:solidFill>
              </a:defRPr>
            </a:pPr>
            <a:r>
              <a:rPr sz="1200" b="1">
                <a:solidFill>
                  <a:srgbClr val="EA580C"/>
                </a:solidFill>
              </a:rPr>
              <a:t>核心句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941F7-871F-4C34-90C2-BF3F8CA8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「新模型不是把舊流程跑得更快，而是要求你重新設計流程。」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79B2C-2341-42D3-AA2D-4D48866A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Opus 4.7／Mythos 相關影片的共同觀察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1A147-2C58-4457-90D4-ECABE3BC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3EF32-B660-436E-8917-DAE6C87F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745FB-86D9-4A9B-BED9-6F2CA5C2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221372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7658F-ECB9-4217-BA65-BBAA7421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Opus 4.7：不是單純更強，而是行為不同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FB7DE-E26F-4521-B3F9-80C7CCC7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E05B1-F6CF-4377-B9C4-8B4EC0F1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影片觀察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A3FF1-E3D8-412E-98A2-9F9C3F99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模型可能在長任務、指令遵循、程式編寫或風格上展現不同取向。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AA2E6-E779-451A-8F63-AE194DDA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10B05-3306-4090-9DEB-164BFBE1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工作含義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200D2-1422-4F55-AE39-9A045F4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舊 Prompt、舊 checkpoint 與舊分工不一定仍然適合；要用案例重新比較，而不是只看版本號。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D719A-E3A1-4187-977F-E149EE7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6EA32-B2C0-40B1-943A-9A95E581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AA1B0-C5D5-4411-AB34-28B2142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768386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939FE-7FCB-4D1F-8E65-B4C203D9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舊提示詞可能成為新模型的限制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45E82-954F-4221-B45B-B50E5B8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1FF2A-4AC8-4C05-BABA-3A9CD515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26670-ECE9-4C24-A5BF-6AE2CB80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過度指定步驟，反而壓縮模型的推理空間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48711-5666-4171-A32C-23FCA5C3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4C307-57D6-49DD-8BCF-260022F8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沿用舊模型的偏好，讓新模型看起來像被降智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9209C-D4C8-4BC8-AB3D-0E3AD67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94289-779F-4CBE-8693-D2A71854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把歷史 workaround 當成永久規則，造成不必要的複雜度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0DB5E-F8B5-4657-A6F2-082A042B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1CE01-43FE-459C-AEA0-88575DFA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升級模型時，應該連同測試集與工作流一起重評估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83CB3-D32D-4698-911D-A7DDA926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F9480-2664-49D0-A6A3-0C0984A9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3ED4C-6E30-4680-8859-F4B53C5D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386094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D5451-C331-4E7E-A598-E629DBFF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看待模型波動，先把問題拆開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AD793-0234-4A20-B154-C0DA2177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C1BFD-09FB-4C7C-BC9A-DB0035DF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2BE21-E24D-4974-A5AE-917D0054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模型本身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571BA-0F3A-429D-A64D-7D538E45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能力、速度、上下文與輸出風格是否改變？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82CF1-33C3-4B27-AB75-EF676A09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7742E-B204-467C-B763-E15C7C6D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Prompt／上下文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D2C66-FF1C-4D52-B495-24A036EF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舊指令是否限制了新模型？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3435A-3F4D-4B4A-A0CF-180677E7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7BA9B-4DA8-41D3-A892-1FAE45A5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工具與環境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AAC06-85A3-4802-8E90-A25AD6D0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權限、MCP、檔案與評估是否一致？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55417-942A-4018-9519-0B05159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63210-0EA3-45B9-B7C5-BE0326C9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任務難度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8DF0C-931A-4E0B-B5CC-E45E10AE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是不是把不穩定的長任務交給了不合適的模型？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B59D2-36FD-43B7-9792-DCB6D6EF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71729-0E19-422E-A652-EEE697BC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C7213-52CC-42CD-A4C9-0259B1D2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40579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D3413-B29A-4063-8777-AD5AC436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Mythos 類新模型，看的不只是一張 benchmark 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F2B49-1C04-4A93-966A-E5812944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9E2E5-40A8-4EDA-A450-81A528A7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需要觀察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7725C-AF60-40C8-BC1E-93705C5F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解析、長上下文、工具使用、程式修改與安全邊界，是否真的改善工作結果。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A8890-A5AF-43A0-9F93-F77E6F8D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72EF4-6776-4858-AD15-FC03091A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需要保留距離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01AF4-0920-4311-8549-DBFADCAC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影片中的新模型名稱與能力判讀屬於頻道分析，不能直接當成獨立查證的產品事實。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2F86A-85AD-4966-935A-54490EC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8D9CC-8875-410B-9DA6-E593EFB3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7B377-F586-40EF-8556-1C7328E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830070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7725F-A296-40DF-98E8-95C68276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平台競爭正在從模型移向完整服務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5A6F2-F22C-487D-9A17-48E1B5D4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B97C2-C638-4126-B022-F8E1E7D8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C79BB-96BA-427E-9A13-75AEF8F0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模型公司開始提供 Agent、部署、企業支援與流程整合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482FB-60DB-4D2E-9C41-9D644D9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D367B-4C46-431B-86F7-EC6B210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企業願意付費的不是一個聊天介面，而是可持續運作的工作成果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6F511-5A94-428F-88C7-BEFB481D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4642F-D910-47DE-871F-A81AAB7F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SOP、權限、資料、評估與導入服務會成為新的護城河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750A3-B58A-4726-BF4D-B1D8B2B2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977D8-7656-427C-8D1A-F5207229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單一模型的差異可能被工作流與分發能力放大或抵消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B0064-96CB-4D28-98FE-C34DA4B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85EF4-BD9A-42C4-9E24-97B298F0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10F11-60B9-414F-B5B4-B6C68E70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699392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84893-EAB2-4910-A8E3-30834F64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Managed Agents 可能改變新創的競爭位置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805F1-EE8A-44E9-A19A-C7BA41E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CB71E-24AA-49E9-B100-F8BFEEC9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9626E-7B19-477E-8E49-EE90A71C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0DEFF-9091-4FB5-8343-FFA6E61B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6784C-0235-4531-A1A0-313A65EC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模型平台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522DD-51AA-4288-931A-E96E8A30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直接提供 Agent 基礎能力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B27E2-9EA0-43F4-AEED-0E9C26DE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AA45F-B0EB-49EB-9076-B3A6AF70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C24B9-49FF-46B5-923E-52FD552A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垂直新創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D7447-1C97-46AE-BA88-CCA6DB4A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專注領域流程與資料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21524-DC60-4C1C-ABBF-3C867EB7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47DA6-B9A8-4EE3-9DC2-EA1F1BEB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DD9F4-2846-4D31-A495-E32C8F92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企業團隊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7DBED-2620-4CEB-BC50-2A347A50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把內部 SOP 系統化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EA5F7-178E-4DA8-9F66-D5A579E5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B89E5-7C88-49CC-943A-F3AD4CEC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46837-0565-4762-8941-E2F63096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服務整合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EB6F9-1596-43BA-A264-882F20B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負責導入、治理與成果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16F81-3AF4-4222-AC35-3B4BC032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02D5E-7267-4E46-A1EF-AAE9BA5A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804E7-9C21-437B-B815-114BF3D3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20757052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B9B5C-6DE6-48A2-9D0F-FCE4148D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Skills 的普及，代表流程本身正在產品化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35FBB-64EC-4F7B-9144-722DD743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E881F-5CB0-4043-A28C-7B312F03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對個人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F2175-135B-44C6-B6A1-0A5D37F4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把自己的做法封裝起來，降低每次重新說明與重新學習的成本。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7A540-DB7D-402D-97AC-07B3BDB4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A685B-7C05-4D93-A47F-B6BB200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580C"/>
                </a:solidFill>
              </a:defRPr>
            </a:pPr>
            <a:r>
              <a:rPr sz="1800" b="1">
                <a:solidFill>
                  <a:srgbClr val="EA580C"/>
                </a:solidFill>
              </a:rPr>
              <a:t>對組織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8EFC9-64CA-4CF1-8AC8-924751FB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把專業流程交給人與 Agent 共用，形成可移交、可審查的工作介面。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1CC99-E801-4BAC-B541-CDCD7AFB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C12A1-47B1-4EE7-9CFF-989AE048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EF87C-A9FF-4790-A086-0166DCBA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2012602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602EC-9BA5-452C-B97C-C0949BDC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Fable 與模型分工，反映的是成本結構的重新設計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7DFA9-93D4-46DD-88D2-BB68D784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10D13-F546-46A8-A1B4-6B0D4B3E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F3040-B5A2-4AA2-A868-99AB97D6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高能力模型負責理解、規劃與高風險判斷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5A134-3A79-49BB-BE0F-E037D7E9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6608E-97A6-4138-B8C8-860278A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較快模型負責大量、規則化與低風險執行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9E93B-DCCB-49E4-B6A8-D553F3EB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02993-BCB1-4B38-86D1-ABCC875E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把錢花在錯的步驟，會讓 Agent 工作流失去經濟性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A3B40-9926-4C4A-9E00-A4CB1B69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9A180-9CF1-4141-A079-366019FA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模型路由要搭配品質門檻，而不是只追求最低 token 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C4EE6-18EA-4053-BE80-76D8894B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B1128-27A1-47D6-A3FE-34A4060A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02C01-8AB7-40E3-95B2-C191DA76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8556778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5531E-6BBF-44B2-8EEE-B018FD18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580C"/>
                </a:solidFill>
              </a:defRPr>
            </a:pPr>
            <a:r>
              <a:rPr sz="1200" b="1">
                <a:solidFill>
                  <a:srgbClr val="EA580C"/>
                </a:solidFill>
              </a:rPr>
              <a:t>核心句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CA794-E382-4AC9-9A48-A1589F58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「真正的價值，是把組織的工作方式改造成可重複、可衡量的系統。」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01037-E246-46A8-8E23-8CE2B49D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Anthropic／OpenAI 企業導入影片的頻道歸納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809E7-2BE9-4B4E-8278-4FC401B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313D9-65AB-4A54-9909-D93806E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2BB79-DD4C-4A98-AC81-AE4F084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0084862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7273E-88A3-4EC0-93AE-61523805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判斷一個 AI 產品，不要只看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6C380-90CB-4658-AC07-1D1891A0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9CF12-F4FC-445E-ACB1-113801A2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73521-FE08-43E9-99A2-7FA79571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它解決的是高頻問題，還是只展示一次性的驚奇？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AA497-1921-4355-A16A-BB61EBB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E88F8-EB39-4832-8A2A-56CD6542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資料與權限是否能安全接入？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FAA87-341D-4429-B1E3-B01D9ACF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29C21-3339-4D9E-A965-79496A10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結果是否能評估、追蹤、回復與移交？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51225-CB25-4BD6-9C78-AB7A999B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0C597-1243-4A9F-9A16-A9BCAABB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成本、延遲與維護是否適合真實工作？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369CA-0A6E-4A52-8003-DCCDC56E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9591D-817F-42D6-8FE9-B64D16CC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CC860-B225-4D4C-A0F1-FE28FF97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862705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F3296-2B2D-4A2A-9387-ECFBC30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不同情境，應該看不同指標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C79DD-CC58-4281-9853-157AD48C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03E1F-36E4-4043-A2DC-6D19E24F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33FE1-98A7-440B-8C41-53A31DDB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個人效率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45E4A-93E3-4618-9460-B21FEAA4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完成時間、輸入成本、可重複性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78D56-D633-407A-87B1-82CFCE0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B459B-FDD1-490C-94CD-E2E7FE7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團隊協作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C2E4E-F6DD-4BC8-BFB7-B72EAD48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共享上下文、Review、交接成本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03674-D282-48FD-8832-CF6A717A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CC12C-394D-4097-B5CB-567B27B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企業部署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77014-DE81-46DE-9389-9A97D57A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權限、治理、可觀測性、風險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B57C7-EA94-4F60-86FE-262C71B1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C4539-61F4-4EED-872D-CAF333E4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A580C"/>
                </a:solidFill>
              </a:defRPr>
            </a:pPr>
            <a:r>
              <a:rPr sz="1425" b="1">
                <a:solidFill>
                  <a:srgbClr val="EA580C"/>
                </a:solidFill>
              </a:rPr>
              <a:t>平台競爭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3F4FE-DA58-4C1A-9D76-17BB9947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分發、資料、流程與生態系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CBF9E-65D3-4A0A-9B80-575F8C64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8B2B1-85E3-4994-91D2-9A41ACA3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30A26-D73D-443A-9DFA-10EEA79D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391091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0E8F7-CB80-4336-87BB-7079939E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影片中的產業判讀，應該保留哪些不確定性？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D014D-46DA-4581-92AB-5F736F64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2AE03-E9CB-4EB4-AD15-6F91191A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49511-7043-494F-B709-7FC737C4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產品名稱、版本與能力需要以官方資料重新核對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73F05-6ED8-4C2B-8BA3-7EA10F31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185D9-F00A-48C5-AFCC-2C5B0E3D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模型表現會受 Prompt、工具與任務設計影響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386BD-EC30-4897-AD05-76AC3FA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B6139-FEAA-4F1F-8877-A533E760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平台策略不等於短期營收或股價結果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412AD-347C-47AB-A36A-A86B9EF3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477F5-859B-4418-807C-C7B1EE62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把推測寫成情境，把事實寫成可追溯證據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4A81E-6FC3-455C-89AE-98CD4930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A3934-82E2-451C-BA67-B909FF06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BAB34-8240-40C1-8C48-CEC675A8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8423557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D8AE7-4AF6-479A-B151-A9A313B4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18F53-3C28-44F8-B172-78C59C44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不要被模型新聞牽著走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4F4D8-3C0D-4625-B800-07A5B38B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把每一次升級，轉成可比較的案例、可重現的測試與可調整的工作流。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1F23A-DBBB-4A7E-98D2-6A40FC2E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71835-404A-49CC-A762-A4E86F04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用真實任務測，不只看宣傳標題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0C418-7690-4DD0-8CB9-900AA764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93A56-2EDE-4CA4-A854-B835B0A2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把 Prompt、工具、評估一起版本化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462B0-FD59-45C8-A042-F7C679BB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28F53-C245-4FA9-B4E6-B261631C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把平台能力轉成你的領域流程與成果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9E15A-1AD1-496C-B0DE-4AB2EC73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8EC7A-C22C-46E8-87BA-65DC6F70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E6E51-C944-4CA4-BB7F-5E73CB1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A580C"/>
                </a:solidFill>
              </a:defRPr>
            </a:pPr>
            <a:r>
              <a:rPr sz="900" b="1">
                <a:solidFill>
                  <a:srgbClr val="EA580C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852368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2026-08-09T07:25:27.0290000Z</dcterms:created>
  <dcterms:modified xsi:type="dcterms:W3CDTF">2026-08-09T07:25:27.0290000Z</dcterms:modified>
</coreProperties>
</file>