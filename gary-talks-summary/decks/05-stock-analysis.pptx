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636322a51547ad" /><Relationship Type="http://schemas.openxmlformats.org/officeDocument/2006/relationships/extended-properties" Target="/docProps/app.xml" Id="R6322963fd8784f04" /><Relationship Type="http://schemas.openxmlformats.org/officeDocument/2006/relationships/officeDocument" Target="/ppt/presentation.xml" Id="Rcf0f50c4b2654c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ff2e58972b4f51"/>
  </p:sldMasterIdLst>
  <p:notesMasterIdLst>
    <p:notesMasterId xmlns:r="http://schemas.openxmlformats.org/officeDocument/2006/relationships" r:id="R27606692247f44fa"/>
  </p:notesMasterIdLst>
  <p:sldIdLst>
    <p:sldId xmlns:r="http://schemas.openxmlformats.org/officeDocument/2006/relationships" id="256" r:id="Reabe9e9284c9454b"/>
    <p:sldId xmlns:r="http://schemas.openxmlformats.org/officeDocument/2006/relationships" id="257" r:id="Raa5f2cb7254a4494"/>
    <p:sldId xmlns:r="http://schemas.openxmlformats.org/officeDocument/2006/relationships" id="258" r:id="Ra1865a9c8cc8404b"/>
    <p:sldId xmlns:r="http://schemas.openxmlformats.org/officeDocument/2006/relationships" id="259" r:id="R09ad4024a98e4a8b"/>
    <p:sldId xmlns:r="http://schemas.openxmlformats.org/officeDocument/2006/relationships" id="260" r:id="R9ee294c47d464139"/>
    <p:sldId xmlns:r="http://schemas.openxmlformats.org/officeDocument/2006/relationships" id="261" r:id="R23be4c6867d04de9"/>
    <p:sldId xmlns:r="http://schemas.openxmlformats.org/officeDocument/2006/relationships" id="262" r:id="R2a3b84e87b2440d4"/>
    <p:sldId xmlns:r="http://schemas.openxmlformats.org/officeDocument/2006/relationships" id="263" r:id="R006985c39878464e"/>
    <p:sldId xmlns:r="http://schemas.openxmlformats.org/officeDocument/2006/relationships" id="264" r:id="Rc50ecaa2ad8945ff"/>
    <p:sldId xmlns:r="http://schemas.openxmlformats.org/officeDocument/2006/relationships" id="265" r:id="Rab2fff5ea25a49dc"/>
    <p:sldId xmlns:r="http://schemas.openxmlformats.org/officeDocument/2006/relationships" id="266" r:id="Reb51f5099d1444c6"/>
    <p:sldId xmlns:r="http://schemas.openxmlformats.org/officeDocument/2006/relationships" id="267" r:id="R18376942b58846cb"/>
    <p:sldId xmlns:r="http://schemas.openxmlformats.org/officeDocument/2006/relationships" id="268" r:id="R759a8c33408343cb"/>
    <p:sldId xmlns:r="http://schemas.openxmlformats.org/officeDocument/2006/relationships" id="269" r:id="R55fc122fd1284c77"/>
    <p:sldId xmlns:r="http://schemas.openxmlformats.org/officeDocument/2006/relationships" id="270" r:id="Re65000d83ce440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5fe733ff8d42d7" /><Relationship Type="http://schemas.openxmlformats.org/officeDocument/2006/relationships/slideMaster" Target="/ppt/slideMasters/slideMaster1.xml" Id="Re5ff2e58972b4f51" /><Relationship Type="http://schemas.openxmlformats.org/officeDocument/2006/relationships/notesMaster" Target="/ppt/notesMasters/notesMaster1.xml" Id="R27606692247f44fa" /><Relationship Type="http://schemas.openxmlformats.org/officeDocument/2006/relationships/presProps" Target="/ppt/presProps.xml" Id="R2e9a0c6076d348d6" /><Relationship Type="http://schemas.openxmlformats.org/officeDocument/2006/relationships/tableStyles" Target="/ppt/tableStyles.xml" Id="R81d2f2d515784014" /><Relationship Type="http://schemas.openxmlformats.org/officeDocument/2006/relationships/slide" Target="/ppt/slides/slide1.xml" Id="Reabe9e9284c9454b" /><Relationship Type="http://schemas.openxmlformats.org/officeDocument/2006/relationships/slide" Target="/ppt/slides/slide2.xml" Id="Raa5f2cb7254a4494" /><Relationship Type="http://schemas.openxmlformats.org/officeDocument/2006/relationships/slide" Target="/ppt/slides/slide3.xml" Id="Ra1865a9c8cc8404b" /><Relationship Type="http://schemas.openxmlformats.org/officeDocument/2006/relationships/slide" Target="/ppt/slides/slide4.xml" Id="R09ad4024a98e4a8b" /><Relationship Type="http://schemas.openxmlformats.org/officeDocument/2006/relationships/slide" Target="/ppt/slides/slide5.xml" Id="R9ee294c47d464139" /><Relationship Type="http://schemas.openxmlformats.org/officeDocument/2006/relationships/slide" Target="/ppt/slides/slide6.xml" Id="R23be4c6867d04de9" /><Relationship Type="http://schemas.openxmlformats.org/officeDocument/2006/relationships/slide" Target="/ppt/slides/slide7.xml" Id="R2a3b84e87b2440d4" /><Relationship Type="http://schemas.openxmlformats.org/officeDocument/2006/relationships/slide" Target="/ppt/slides/slide8.xml" Id="R006985c39878464e" /><Relationship Type="http://schemas.openxmlformats.org/officeDocument/2006/relationships/slide" Target="/ppt/slides/slide9.xml" Id="Rc50ecaa2ad8945ff" /><Relationship Type="http://schemas.openxmlformats.org/officeDocument/2006/relationships/slide" Target="/ppt/slides/slide10.xml" Id="Rab2fff5ea25a49dc" /><Relationship Type="http://schemas.openxmlformats.org/officeDocument/2006/relationships/slide" Target="/ppt/slides/slide11.xml" Id="Reb51f5099d1444c6" /><Relationship Type="http://schemas.openxmlformats.org/officeDocument/2006/relationships/slide" Target="/ppt/slides/slide12.xml" Id="R18376942b58846cb" /><Relationship Type="http://schemas.openxmlformats.org/officeDocument/2006/relationships/slide" Target="/ppt/slides/slide13.xml" Id="R759a8c33408343cb" /><Relationship Type="http://schemas.openxmlformats.org/officeDocument/2006/relationships/slide" Target="/ppt/slides/slide14.xml" Id="R55fc122fd1284c77" /><Relationship Type="http://schemas.openxmlformats.org/officeDocument/2006/relationships/slide" Target="/ppt/slides/slide15.xml" Id="Re65000d83ce440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e67400a7ce46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66d002a9494838" /><Relationship Type="http://schemas.openxmlformats.org/officeDocument/2006/relationships/notesMaster" Target="/ppt/notesMasters/notesMaster1.xml" Id="Rc5118ea0196f45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2926c407a048ed" /><Relationship Type="http://schemas.openxmlformats.org/officeDocument/2006/relationships/notesMaster" Target="/ppt/notesMasters/notesMaster1.xml" Id="R4e554888c4294a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cc78d4c4424af9" /><Relationship Type="http://schemas.openxmlformats.org/officeDocument/2006/relationships/notesMaster" Target="/ppt/notesMasters/notesMaster1.xml" Id="R4032cdba260b4a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655c61101ae45b1" /><Relationship Type="http://schemas.openxmlformats.org/officeDocument/2006/relationships/notesMaster" Target="/ppt/notesMasters/notesMaster1.xml" Id="R5d8e779d9880431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e6c57e91abe42f6" /><Relationship Type="http://schemas.openxmlformats.org/officeDocument/2006/relationships/notesMaster" Target="/ppt/notesMasters/notesMaster1.xml" Id="R29e83e45e1114f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b9fa99c6964a58" /><Relationship Type="http://schemas.openxmlformats.org/officeDocument/2006/relationships/notesMaster" Target="/ppt/notesMasters/notesMaster1.xml" Id="Rfb865cb8f05144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d0709bfba9e48c3" /><Relationship Type="http://schemas.openxmlformats.org/officeDocument/2006/relationships/notesMaster" Target="/ppt/notesMasters/notesMaster1.xml" Id="R478179b3360b4e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0a1850acd44fb3" /><Relationship Type="http://schemas.openxmlformats.org/officeDocument/2006/relationships/notesMaster" Target="/ppt/notesMasters/notesMaster1.xml" Id="Rdf70763a36e442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0a518a86824d5f" /><Relationship Type="http://schemas.openxmlformats.org/officeDocument/2006/relationships/notesMaster" Target="/ppt/notesMasters/notesMaster1.xml" Id="R50778ae45bd1411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6b2fa3ec1848b9" /><Relationship Type="http://schemas.openxmlformats.org/officeDocument/2006/relationships/notesMaster" Target="/ppt/notesMasters/notesMaster1.xml" Id="R9808d6b9285d455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9e312fe39d8461a" /><Relationship Type="http://schemas.openxmlformats.org/officeDocument/2006/relationships/notesMaster" Target="/ppt/notesMasters/notesMaster1.xml" Id="R1465d0b67f1a43c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1870d1b68a49fe" /><Relationship Type="http://schemas.openxmlformats.org/officeDocument/2006/relationships/notesMaster" Target="/ppt/notesMasters/notesMaster1.xml" Id="R521fba322c674c2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b5d1c4e56044e03" /><Relationship Type="http://schemas.openxmlformats.org/officeDocument/2006/relationships/notesMaster" Target="/ppt/notesMasters/notesMaster1.xml" Id="Rc6dcfaf00c8141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39914d6f7d141b9" /><Relationship Type="http://schemas.openxmlformats.org/officeDocument/2006/relationships/notesMaster" Target="/ppt/notesMasters/notesMaster1.xml" Id="R61509d1f4e724d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d6c49c7df848bc" /><Relationship Type="http://schemas.openxmlformats.org/officeDocument/2006/relationships/notesMaster" Target="/ppt/notesMasters/notesMaster1.xml" Id="R064a09808ca849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Gary Talks Stuff 頻道：https://www.youtube.com/@garytalksstuff/videos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 財報後下跌 10%，為什麼反而加倉？: https://www.youtube.com/watch?v=KWAvlqxNVAk</a:t>
            </a:r>
          </a:p>
          <a:p xmlns:a="http://schemas.openxmlformats.org/drawingml/2006/main">
            <a:r>
              <a:t>- AI 正在殺死軟體股？: https://www.youtube.com/watch?v=8HoxCZrfKWo</a:t>
            </a:r>
          </a:p>
          <a:p xmlns:a="http://schemas.openxmlformats.org/drawingml/2006/main">
            <a:r>
              <a:t>- Bloom Energy：下一個五倍股？: https://www.youtube.com/watch?v=VbWh0Yhl_xM</a:t>
            </a:r>
          </a:p>
          <a:p xmlns:a="http://schemas.openxmlformats.org/drawingml/2006/main">
            <a:r>
              <a:t>- Amazon 財報後下跌 10% 反而是機會: https://www.youtube.com/watch?v=6gDfe3aTLH4</a:t>
            </a:r>
          </a:p>
          <a:p xmlns:a="http://schemas.openxmlformats.org/drawingml/2006/main">
            <a:r>
              <a:t>- Google 2026 成為市值第一？: https://www.youtube.com/watch?v=OAGdrYHz_5k</a:t>
            </a:r>
          </a:p>
          <a:p xmlns:a="http://schemas.openxmlformats.org/drawingml/2006/main">
            <a:r>
              <a:t>- 2026 美股七巨頭中估值最香的公司？Amazon: https://www.youtube.com/watch?v=si9nuqsnymY</a:t>
            </a:r>
          </a:p>
          <a:p xmlns:a="http://schemas.openxmlformats.org/drawingml/2006/main">
            <a:r>
              <a:t>- Oscar Health：美股健保業的 Uber: https://www.youtube.com/watch?v=-AHFhntQ07k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 財報後下跌 10%，為什麼反而加倉？: https://www.youtube.com/watch?v=KWAvlqxNVAk</a:t>
            </a:r>
          </a:p>
          <a:p xmlns:a="http://schemas.openxmlformats.org/drawingml/2006/main">
            <a:r>
              <a:t>- Amazon 財報後下跌 10% 反而是機會: https://www.youtube.com/watch?v=6gDfe3aTLH4</a:t>
            </a:r>
          </a:p>
          <a:p xmlns:a="http://schemas.openxmlformats.org/drawingml/2006/main">
            <a:r>
              <a:t>- Google 2026 成為市值第一？: https://www.youtube.com/watch?v=OAGdrYHz_5k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 財報後下跌 10%，為什麼反而加倉？: https://www.youtube.com/watch?v=KWAvlqxNVAk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 正在殺死軟體股？: https://www.youtube.com/watch?v=8HoxCZrfKWo</a:t>
            </a:r>
          </a:p>
          <a:p xmlns:a="http://schemas.openxmlformats.org/drawingml/2006/main">
            <a:r>
              <a:t>- Anthropic 與 OpenAI：模型本身不夠: https://www.youtube.com/watch?v=MlhsoWmyEKE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Bloom Energy：下一個五倍股？: https://www.youtube.com/watch?v=VbWh0Yhl_xM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Amazon 財報後下跌 10% 反而是機會: https://www.youtube.com/watch?v=6gDfe3aTLH4</a:t>
            </a:r>
          </a:p>
          <a:p xmlns:a="http://schemas.openxmlformats.org/drawingml/2006/main">
            <a:r>
              <a:t>- 2026 美股七巨頭中估值最香的公司？Amazon: https://www.youtube.com/watch?v=si9nuqsnymY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 2026 成為市值第一？: https://www.youtube.com/watch?v=OAGdrYHz_5k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- 2026 美股七巨頭中估值最香的公司？Amazon: https://www.youtube.com/watch?v=si9nuqsnymY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Oscar Health：美股健保業的 Uber: https://www.youtube.com/watch?v=-AHFhntQ07k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 財報後下跌 10%，為什麼反而加倉？: https://www.youtube.com/watch?v=KWAvlqxNVAk</a:t>
            </a:r>
          </a:p>
          <a:p xmlns:a="http://schemas.openxmlformats.org/drawingml/2006/main">
            <a:r>
              <a:t>- AI 正在殺死軟體股？: https://www.youtube.com/watch?v=8HoxCZrfKWo</a:t>
            </a:r>
          </a:p>
          <a:p xmlns:a="http://schemas.openxmlformats.org/drawingml/2006/main">
            <a:r>
              <a:t>- Bloom Energy：下一個五倍股？: https://www.youtube.com/watch?v=VbWh0Yhl_xM</a:t>
            </a:r>
          </a:p>
          <a:p xmlns:a="http://schemas.openxmlformats.org/drawingml/2006/main">
            <a:r>
              <a:t>- Amazon 財報後下跌 10% 反而是機會: https://www.youtube.com/watch?v=6gDfe3aTLH4</a:t>
            </a:r>
          </a:p>
          <a:p xmlns:a="http://schemas.openxmlformats.org/drawingml/2006/main">
            <a:r>
              <a:t>- Google 2026 成為市值第一？: https://www.youtube.com/watch?v=OAGdrYHz_5k</a:t>
            </a:r>
          </a:p>
          <a:p xmlns:a="http://schemas.openxmlformats.org/drawingml/2006/main">
            <a:r>
              <a:t>- 2026 美股七巨頭中估值最香的公司？Amazon: https://www.youtube.com/watch?v=si9nuqsnymY</a:t>
            </a:r>
          </a:p>
          <a:p xmlns:a="http://schemas.openxmlformats.org/drawingml/2006/main">
            <a:r>
              <a:t>- Oscar Health：美股健保業的 Uber: https://www.youtube.com/watch?v=-AHFhntQ07k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 財報後下跌 10%，為什麼反而加倉？: https://www.youtube.com/watch?v=KWAvlqxNVAk</a:t>
            </a:r>
          </a:p>
          <a:p xmlns:a="http://schemas.openxmlformats.org/drawingml/2006/main">
            <a:r>
              <a:t>- Amazon 財報後下跌 10% 反而是機會: https://www.youtube.com/watch?v=6gDfe3aTLH4</a:t>
            </a:r>
          </a:p>
          <a:p xmlns:a="http://schemas.openxmlformats.org/drawingml/2006/main">
            <a:r>
              <a:t>- Google 2026 成為市值第一？: https://www.youtube.com/watch?v=OAGdrYHz_5k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 財報後下跌 10%，為什麼反而加倉？: https://www.youtube.com/watch?v=KWAvlqxNVAk</a:t>
            </a:r>
          </a:p>
          <a:p xmlns:a="http://schemas.openxmlformats.org/drawingml/2006/main">
            <a:r>
              <a:t>- Bloom Energy：下一個五倍股？: https://www.youtube.com/watch?v=VbWh0Yhl_xM</a:t>
            </a:r>
          </a:p>
          <a:p xmlns:a="http://schemas.openxmlformats.org/drawingml/2006/main">
            <a:r>
              <a:t>- 2026 美股七巨頭中估值最香的公司？Amazon: https://www.youtube.com/watch?v=si9nuqsnymY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 財報後下跌 10%，為什麼反而加倉？: https://www.youtube.com/watch?v=KWAvlqxNVAk</a:t>
            </a:r>
          </a:p>
          <a:p xmlns:a="http://schemas.openxmlformats.org/drawingml/2006/main">
            <a:r>
              <a:t>- AI 正在殺死軟體股？: https://www.youtube.com/watch?v=8HoxCZrfKWo</a:t>
            </a:r>
          </a:p>
          <a:p xmlns:a="http://schemas.openxmlformats.org/drawingml/2006/main">
            <a:r>
              <a:t>- Google 2026 成為市值第一？: https://www.youtube.com/watch?v=OAGdrYHz_5k</a:t>
            </a:r>
          </a:p>
          <a:p xmlns:a="http://schemas.openxmlformats.org/drawingml/2006/main">
            <a:r>
              <a:t>- 2026 美股七巨頭中估值最香的公司？Amazon: https://www.youtube.com/watch?v=si9nuqsnymY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META 財報後下跌 10%，為什麼反而加倉？: https://www.youtube.com/watch?v=KWAvlqxNVAk</a:t>
            </a:r>
          </a:p>
          <a:p xmlns:a="http://schemas.openxmlformats.org/drawingml/2006/main">
            <a:r>
              <a:t>- AI 正在殺死軟體股？: https://www.youtube.com/watch?v=8HoxCZrfKWo</a:t>
            </a:r>
          </a:p>
          <a:p xmlns:a="http://schemas.openxmlformats.org/drawingml/2006/main">
            <a:r>
              <a:t>- Bloom Energy：下一個五倍股？: https://www.youtube.com/watch?v=VbWh0Yhl_xM</a:t>
            </a:r>
          </a:p>
          <a:p xmlns:a="http://schemas.openxmlformats.org/drawingml/2006/main">
            <a:r>
              <a:t>- Oscar Health：美股健保業的 Uber: https://www.youtube.com/watch?v=-AHFhntQ07k</a:t>
            </a:r>
          </a:p>
          <a:p xmlns:a="http://schemas.openxmlformats.org/drawingml/2006/main">
            <a:r>
              <a:t>內容為逐字稿的整理與歸納；非逐字引用時以影片觀點轉述。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45bb951b248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bb0f6c23144971" /><Relationship Type="http://schemas.openxmlformats.org/officeDocument/2006/relationships/slideLayout" Target="/ppt/slideLayouts/slideLayout1.xml" Id="Ra31da147cf604d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1da147cf604d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95c25332441c3" /><Relationship Type="http://schemas.openxmlformats.org/officeDocument/2006/relationships/notesSlide" Target="/ppt/notesSlides/notesSlide1.xml" Id="R9373c947d9d9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6b3eb55994556" /><Relationship Type="http://schemas.openxmlformats.org/officeDocument/2006/relationships/notesSlide" Target="/ppt/notesSlides/notesSlide2.xml" Id="R8ac35ba7280b4cf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f9549d0dd4ec8" /><Relationship Type="http://schemas.openxmlformats.org/officeDocument/2006/relationships/notesSlide" Target="/ppt/notesSlides/notesSlide3.xml" Id="Rf93813e9d3bb4d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7899b00d541e5" /><Relationship Type="http://schemas.openxmlformats.org/officeDocument/2006/relationships/notesSlide" Target="/ppt/notesSlides/notesSlide4.xml" Id="R97e36a50827b45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3787802ec4fd5" /><Relationship Type="http://schemas.openxmlformats.org/officeDocument/2006/relationships/notesSlide" Target="/ppt/notesSlides/notesSlide5.xml" Id="R2398f3d5478a48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aaeccd51840f1" /><Relationship Type="http://schemas.openxmlformats.org/officeDocument/2006/relationships/notesSlide" Target="/ppt/notesSlides/notesSlide6.xml" Id="R144976cef5da4b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c7537ffdc34c4a" /><Relationship Type="http://schemas.openxmlformats.org/officeDocument/2006/relationships/notesSlide" Target="/ppt/notesSlides/notesSlide7.xml" Id="R9b4838c5b9d34d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beef99a424179" /><Relationship Type="http://schemas.openxmlformats.org/officeDocument/2006/relationships/notesSlide" Target="/ppt/notesSlides/notesSlide8.xml" Id="R9117e86d768b48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c4c31471f420e" /><Relationship Type="http://schemas.openxmlformats.org/officeDocument/2006/relationships/notesSlide" Target="/ppt/notesSlides/notesSlide9.xml" Id="Rccda4f9044964c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1f30c27d541db" /><Relationship Type="http://schemas.openxmlformats.org/officeDocument/2006/relationships/notesSlide" Target="/ppt/notesSlides/notesSlide10.xml" Id="R49325edda48a46f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8e45d42644952" /><Relationship Type="http://schemas.openxmlformats.org/officeDocument/2006/relationships/notesSlide" Target="/ppt/notesSlides/notesSlide11.xml" Id="Re4f4044ced24403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aaf4bd8774b20" /><Relationship Type="http://schemas.openxmlformats.org/officeDocument/2006/relationships/notesSlide" Target="/ppt/notesSlides/notesSlide12.xml" Id="R7d738507cd76449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1267001bf41ac" /><Relationship Type="http://schemas.openxmlformats.org/officeDocument/2006/relationships/notesSlide" Target="/ppt/notesSlides/notesSlide13.xml" Id="Rd9305480314446a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41525b5e64dc4" /><Relationship Type="http://schemas.openxmlformats.org/officeDocument/2006/relationships/notesSlide" Target="/ppt/notesSlides/notesSlide14.xml" Id="Rc4734e1e1255451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f7e5da22f429b" /><Relationship Type="http://schemas.openxmlformats.org/officeDocument/2006/relationships/notesSlide" Target="/ppt/notesSlides/notesSlide15.xml" Id="R8fae9f5b098047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2EC3CB-6E7A-45BA-A900-581FA9C6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C5CB9B-58BD-49C6-8BFC-176CC217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59669"/>
                </a:solidFill>
              </a:defRPr>
            </a:pPr>
            <a:r>
              <a:rPr sz="1200" b="1">
                <a:solidFill>
                  <a:srgbClr val="059669"/>
                </a:solidFill>
              </a:rPr>
              <a:t>主題五｜頻道財經內容整理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105FE-AA78-4749-919D-FB9ABA54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9048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美股與 AI 投資觀點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C92B04-AE57-45B5-B36F-47B82A96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742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META、Amazon、Google、Bloom Energy、Oscar Health 與軟體股的影片敘事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199F3-A607-46A1-8D5D-4BFEDC55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D86FA0-8419-43DE-8501-3A49F7BA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434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15 頁</a:t>
            </a:r>
          </a:p>
          <a:p xmlns:a="http://schemas.openxmlformats.org/drawingml/2006/main">
            <a:pPr algn="ctr">
              <a:defRPr sz="1500" b="1">
                <a:solidFill>
                  <a:srgbClr val="059669"/>
                </a:solidFill>
              </a:defRPr>
            </a:pPr>
            <a:r>
              <a:rPr sz="1500" b="1">
                <a:solidFill>
                  <a:srgbClr val="059669"/>
                </a:solidFill>
              </a:rPr>
              <a:t>依影片逐字稿整理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91273-313F-4884-A50E-0F52342A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資料來源：Gary Talks Stuff 頻道｜內容為影片觀點整理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7EBBEE-0B02-452A-94DA-9319463F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02BBF-5423-469F-BF79-7E665B32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9F69CB-9A8F-4F77-92CD-4FFC5FA6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661344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6CA90-0A9E-404F-A045-E058E7DBE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59669"/>
                </a:solidFill>
              </a:defRPr>
            </a:pPr>
            <a:r>
              <a:rPr sz="1200" b="1">
                <a:solidFill>
                  <a:srgbClr val="059669"/>
                </a:solidFill>
              </a:rPr>
              <a:t>核心句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FFA62-D85D-4AA8-AAC3-481320D4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「以下是頻道影片中的投資敘事，不是最新行情，也不是投資建議。」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B7CF2-D2D3-49A6-A73D-7708D2B8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整理原則：把觀點與已查證事實分開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AE937-7D2F-4296-A759-3017CFE8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B9B2D-6058-4B28-BD19-D71024A7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D6E93-F585-4401-BDB1-2B6F198A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10053698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2706D5-27CC-42F6-86C5-C76363B3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影片反覆採用的投資閱讀框架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8831E-F102-4DF7-BB9B-BFEC584F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D39F6-8023-4C50-B52F-906F6189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7A42F-9CF8-4784-95FA-CC5DF32C1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627ED-575F-40B1-B4A1-4B47CA2A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7F984-C3F8-4EE1-BD60-65D9EAEA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事件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5566E-9558-4E7D-BC11-E1316F39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財報、下跌或產業變化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EB4041-1896-4B37-964C-1F37723F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92AE6C-44B5-4402-B3A8-8A8AB6F3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710F8-7F88-4F31-B64C-9FE1CBA2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基本面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E34A99-2605-48BF-A6B5-89FDD6C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收入、成本與競爭位置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3A844-3B79-4E96-941B-91700433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587AB1-5320-422C-866C-8926A815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ADD142-3BE4-4E7C-ACBE-60F86CC6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長期題材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1777C6-82C2-460E-9929-8504F58F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AI、能源、醫療等需求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C5AA58-9ADE-44F4-8310-FC21D60B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157A3-E08E-4F48-8EB0-16BE08AF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B2F776-4704-4D57-8646-63F3993B4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估值與風險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115E4E-91EB-44A2-9DF6-D25F8ABAF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市場已反映多少？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43F1CB-D52A-49AC-A025-35A46952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217407-1058-465F-BD88-7CAC2C85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06A785-D483-48C4-A08E-593C29B0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485820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72F16-A457-4DE9-80C0-9C653B9D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META：財報後下跌，影片把它看成重新定價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DFEA9-52CE-4C69-93AA-1A53D865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DFCEB-1018-44E6-9207-5EFC98E4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影片主張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19282-E5F3-4A18-9F77-F363EEAD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短期股價下跌不必然等於長期基本面惡化，若市場過度反應，反而可能提供加倉理由。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1FEF1-30D2-4B4C-A6DC-5B2DBAAA7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412A92-AABE-43BC-858B-602E5380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閱讀時要查證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E2ED6E-8675-459A-98A8-2FC78FA8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財報數字、資本支出、AI 投資回報、廣告景氣與估值，必須回到最新公告核對。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F6C1E-8C0F-4675-90E0-C031E25A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2592F9-27C7-4F67-AAF0-D53DFE0C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DAB2C-2BEB-40E4-8A39-A33CC43D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1015782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8340D-74C6-4351-B43F-E24C9E9A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軟體股：AI 是破壞者，也是需求來源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7CB9C-3874-4583-ABF3-2631D68B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E50A0-9D02-40A3-AC68-FCA95496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1670A-5207-4C30-BF80-2E61CFE2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悲觀敘事：AI 讓部分軟體功能被直接生成，壓縮傳統產品價值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C518E-9A5D-4344-89EF-31D0AB33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DF4E8B-85AF-43CC-8DCF-573BDF78E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樂觀敘事：企業導入 AI 反而需要更多雲端、資料、治理與協作工具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0E529-B8B8-4120-8526-0B7CAD7A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3DB54C-CDE3-4DE9-A508-DECB2C2D9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關鍵不在『軟體會不會消失』，而在誰掌握工作流與分發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2DE552-AC0E-4AE8-97DE-56C38FF9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DEFD45-F3D0-49E6-A9FB-42749CC8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投資判斷要拆分產品替代風險與基礎設施受益風險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16A59-653E-4132-9B47-62A83BBA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8D2D7D-ECC6-4B4F-8BCB-D2140C6B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6FAB0-D66C-47E9-960D-7DA15A03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4905031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BB8186-0695-402E-A40C-D8A678A12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Bloom Energy：AI 電力需求帶來的想像空間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97D33-E8CD-4EFE-9765-62320F25E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5D86E6-167B-4E4C-8625-4D9E98A2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影片敘事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7EE57C-4D37-4351-BC13-97931E34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AI 資料中心需要穩定能源，能源與電力基礎設施可能成為 AI 產業鏈的受益者。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60BE7-9E13-406A-A919-9FA9FD84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43B6C-4D13-46DE-9CBB-B1155265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風險問題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45355F-722B-4ADB-A298-BDD780A6A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成長預期、資本密集度、政策、客戶集中與估值波動，都可能讓『五倍股』敘事落差很大。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76A910-259F-4809-BEEA-69616729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BB614-145F-426A-B0A0-1150F133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F641A-F078-4F8F-A007-4FD161B5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14297749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3D0B1-5D11-4C5F-8331-8673A214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Amazon：財報後下跌，影片尋找市場忽略的價值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90816-425F-4752-9966-F8F736EE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136B2-2921-437A-85B9-9D39F99F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影片關注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5C8F3-FC52-45B8-A5A2-BEB058E2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AWS、電商、廣告與 AI 投資之間的長期組合，而不是只看單季股價反應。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6FB93C-49B3-4295-8798-12097C1E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6CADAD-84EA-4E2A-92DC-9F39D39A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應拆開檢查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AC333-B6CF-4C13-8B0B-ED8C1261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雲端成長、利潤率、資本支出、消費需求與估值，不能只用單一故事包在一起。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57FF7-D7CA-4C7B-87BB-80AAC478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0994E-B6AE-4762-8FDC-21FD7F2B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0EC20-84E5-49C9-B54D-FEF92E09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487181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A7280-83B8-4295-B29C-D965FEBDB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Google：護城河來自資料、分發與基礎設施的組合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F5937-5D1B-4407-8C11-DD508132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F84B2-2A20-42BD-8965-88FF8C51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BBB9C1-37A0-4798-A818-DC2F2B03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搜尋與廣告仍是現金流來源，但 AI 會改變使用者入口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0694C-88D2-4538-A9EC-13A6C65A8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4B6AE1-B569-4DA5-9E83-3380408C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雲端、模型、資料中心與產品生態形成相互支援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5DA78-AB93-482F-B5E9-F8C21B69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635705-98B1-4FB7-BB3D-D28E32AC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影片提出市值第一的可能性，但那是情境推演，不是確定預測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592C93-3C2F-480F-A2F6-BCF61CBB6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C7385-4731-4F78-861F-616DBB50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真正要追蹤的是護城河能否轉成可持續的利潤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9AB2D-628E-4381-9130-7568FF57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93FDED-F298-4061-92C2-25424B32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98C78D-2F6B-4A3D-B1BF-65ADADCA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766301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968F0-CC9F-4710-B0A2-8895B86D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Amazon 估值：便宜不等於安全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A7259-2CF9-4C0A-A3A8-A13EC922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3D2FD1-01E2-4FB8-B43A-2535314F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可能的機會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5C5DB-FDFB-4E65-A72F-EFF14685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若市場只用短期情緒定價，長期現金流與多事業組合可能被低估。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43723-BF0E-48E5-BF29-308F19E7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BF4913-15C9-4010-A728-66208A41F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可能的陷阱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FD085-F82D-497C-B181-4C3DF083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低估值也可能反映成長放緩、資本支出上升、競爭或利潤率壓力。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F42D8-E903-4728-923D-A609DEF8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ACE73-910D-41E1-AF8A-8A55A1C0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0D5C54-5386-47E4-8B34-C1EC9D0E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93885321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8AA20F-38AF-4C1B-93F4-CD4C24E71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Oscar Health：把健保服務做成平台的想像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82079-8D76-47F0-A7E3-C8FFCD3E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05679-2142-43CF-A4AC-37A6F4AB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影片敘事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07476A-F09F-4119-97D5-8DE5AF17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以 Uber 類比，強調使用者體驗、資料與服務整合可能改變傳統健保流程。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C1CAEB-7A77-4AC5-93A0-B656D057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46A0D-C194-4602-9152-A9B441B4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59669"/>
                </a:solidFill>
              </a:defRPr>
            </a:pPr>
            <a:r>
              <a:rPr sz="1800" b="1">
                <a:solidFill>
                  <a:srgbClr val="059669"/>
                </a:solidFill>
              </a:rPr>
              <a:t>產業難點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E2A4C-E76A-4010-9A7D-06313F01F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醫療政策、理賠風險、監管、獲客成本與獲利模式，需要比一般平台更嚴格地檢查。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690AF-D866-4565-A515-98828FAB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7DC7FD-EE8E-4E22-A231-05FFB10F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71A0C6-1675-449F-86CB-744718DB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3985728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4B54DE-6173-4BFE-861C-4262D70B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七個案例放在一起，看的其實是不同 AI 受益位置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297E53-13DC-42A9-8A0E-C26D79BA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4B3A8-05B1-415B-BAAD-E3A5DE4A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17B4E7-E347-4C7C-9170-A546D323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平台／廣告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E542F-4E63-4B4D-9D12-6CF5A673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META、Google：AI 改變入口，也加深資料與分發競爭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A3805-1C61-468B-8A04-AA694D1E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8ED23-0938-4F85-B323-E0851C18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雲端／電商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95109D-C976-4C20-9102-8D97D59A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Amazon：AI 投資與多元現金流的組合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BE53CB-AB2E-4171-871B-36A40594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90505-10CD-425D-8E9F-C83A4947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軟體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1D76E-6EA2-48EF-BA9A-EF1B0246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產品被替代與導入 AI 的新需求同時存在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0C9C9-30C2-4EC3-AD61-1C8DF1D8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C0A1A-FE8D-43D0-999E-96FC1B59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能源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C8D70-BDA8-4AE2-8819-78A24A48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Bloom Energy：AI 資料中心的基礎設施敘事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A02998-233A-4343-85DB-FE52D4CE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720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203BC5-356F-4653-B7A2-0BB1A3A2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59669"/>
                </a:solidFill>
              </a:defRPr>
            </a:pPr>
            <a:r>
              <a:rPr sz="1425" b="1">
                <a:solidFill>
                  <a:srgbClr val="059669"/>
                </a:solidFill>
              </a:rPr>
              <a:t>醫療服務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8EF536-E2AB-4DA4-A0D5-AC60FEFB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9149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Oscar Health：流程與體驗平台化的想像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0D6A73-CCF0-47A8-9D28-BE36C8FD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126A2-7EDF-4197-8602-95906C81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1C59A8-0597-4939-8C4F-5A290919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9115858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EC234C-2680-4AE6-A38B-DCD91CBF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看財報影片時，最需要補上的四項查證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130A7-9DAE-41EC-9849-79C813AD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A0BA1-C385-48D7-BC0F-8BAA6FA3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0ABEF-E604-4A4F-9E31-61D7EF74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影片對應的財報季度與發布日期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D25862-7C48-4FED-B805-BE77E267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6D8C4-05DB-4494-BA40-DACE4C87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營收、毛利、現金流與資本支出等原始數字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422222-5FE2-45D1-9BB6-CAA7F36C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FEE4F-1BF5-4129-BBBC-A9CEB26C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當前股價、估值與市場已反映的預期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B20A5-523A-4509-84BD-819A3D23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62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64FEA-F200-4AE9-B4AA-4A9741BA3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958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多空情境、失敗條件與部位風險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112E50-20B9-4EF5-8F11-6B5754CC2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B8245-576D-4BBD-87C3-61333FD4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4FAE74-314E-48EF-B113-EC07657B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867743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D5981C-A1D7-4EB8-BBC1-B636921E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把影片觀點轉成自己的研究筆記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04127-C6D8-4446-8236-0DC751E8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8C6CF-988B-4E88-9135-2E71CD77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4983E-6903-4587-8C84-25B13F8F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A62A8-B396-4AEA-B5CB-35B68A50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58A910-D192-478E-A6F9-C4AA63FB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記錄主張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BB89C-F7DB-4CC9-B7C3-A6BF66C2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影片說什麼？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35138-4CF7-4FFD-97EA-E8E3476C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4B53D3-737B-45BF-A1F2-576ED0A0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527798-E9A9-4DE3-90E3-B1A1A6EB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找證據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8A7D7-9C09-453D-90AF-55839A2E2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哪些數字可核對？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FF2245-56D7-46D4-AB9A-7DB30B39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BB461-66AB-469B-A624-3662C792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62EEF-91ED-458F-86C2-FCE870E40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列反例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CA46E3-B5BA-4696-A125-9562C8F4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什麼情況會失敗？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EC136-B493-4D3D-AF29-31675497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5E179-0CA5-4E6D-82C7-A2D6A8CB1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7E5532-AC84-4DFF-A972-018BDEE5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設定追蹤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1812B5-0AB1-44B0-B897-1FB8C411E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何時重新檢查？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28B1F0-375A-41D9-80FE-3991199F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CA5C8B-1C10-4009-91D7-569350B5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F622A4-B2BF-4464-9EA3-D12DC549F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0701937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840E34-CEB5-4243-AD65-C8D62CAC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多空分析至少要同時看三個面向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68E1E-AFDF-4D88-B32C-435979D4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BAEC2-505D-4CB7-9FB5-4C4FE0D5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D189A-FA0E-499B-85D2-2A66D652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公司：收入、成本、現金流與競爭位置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62760-4527-47A3-9D29-42FA7450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16F33-088B-4614-9C91-CD21C737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產業：需求是否成長，還是只是敘事升溫？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8FE29D-35E5-4723-8F4F-78357AF0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5BC76-238A-47CD-AECF-02F60F034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57650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價格：目前估值是否已經反映最樂觀情境？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32F675-AEE7-4B84-BF8A-261186CF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BEAEA-36E5-4D0D-B280-07855567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B2CE9-7CEF-4DC5-9837-AFD9C144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76225951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6C135C-AA9C-4318-8ED4-06CFA469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9C717-A320-4A5C-B2CD-59E08331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287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把故事當成起點，不要當成結論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1BD14-1976-4A96-AA78-52DD3CB4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頻道影片提供觀察角度；真正的投資判斷仍需要日期、數據、估值與風險管理。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656F4-E2B2-44BD-993C-B6125A5B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189FC-399D-4E37-810F-38718641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先標記：這是影片觀點，還是已查證事實？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186D9-CFEA-4200-A4B6-F84266A7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EF0223-91D9-454C-A5F8-28ECF4BC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再核對：財報、公告與當前估值是否支持？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C0072-63ED-4A87-B7DE-72658CEA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7C8E4-5D7C-4492-B412-713256C1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最後決定：如果看錯，損失與退出條件是什麼？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9F658-D4A3-4C2B-9FF6-3581707F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CE562-F375-4753-BE5C-60BA9D9D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Gary Talks Stuff｜逐字稿主題整理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C3E44-F522-4787-B821-C0D28EDE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59669"/>
                </a:solidFill>
              </a:defRPr>
            </a:pPr>
            <a:r>
              <a:rPr sz="900" b="1">
                <a:solidFill>
                  <a:srgbClr val="059669"/>
                </a:solidFill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245457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2026-08-09T07:25:28.3420000Z</dcterms:created>
  <dcterms:modified xsi:type="dcterms:W3CDTF">2026-08-09T07:25:28.3420000Z</dcterms:modified>
</coreProperties>
</file>