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97b0315bc0143a7" /><Relationship Type="http://schemas.openxmlformats.org/officeDocument/2006/relationships/extended-properties" Target="/docProps/app.xml" Id="R4a44d088415a448a" /><Relationship Type="http://schemas.openxmlformats.org/officeDocument/2006/relationships/officeDocument" Target="/ppt/presentation.xml" Id="Rad2387e67bcf480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a54e328b68841d1"/>
  </p:sldMasterIdLst>
  <p:notesMasterIdLst>
    <p:notesMasterId xmlns:r="http://schemas.openxmlformats.org/officeDocument/2006/relationships" r:id="R8746ccc5216c44ec"/>
  </p:notesMasterIdLst>
  <p:sldIdLst>
    <p:sldId xmlns:r="http://schemas.openxmlformats.org/officeDocument/2006/relationships" id="256" r:id="Re230fbc7f2ce49af"/>
    <p:sldId xmlns:r="http://schemas.openxmlformats.org/officeDocument/2006/relationships" id="257" r:id="Ra9aa46a427d84e46"/>
    <p:sldId xmlns:r="http://schemas.openxmlformats.org/officeDocument/2006/relationships" id="258" r:id="Rbef47973ad7043e0"/>
    <p:sldId xmlns:r="http://schemas.openxmlformats.org/officeDocument/2006/relationships" id="259" r:id="R555a780e74b34a1a"/>
    <p:sldId xmlns:r="http://schemas.openxmlformats.org/officeDocument/2006/relationships" id="260" r:id="R78cec2abc2284424"/>
    <p:sldId xmlns:r="http://schemas.openxmlformats.org/officeDocument/2006/relationships" id="261" r:id="R753728fb5a9f4d11"/>
    <p:sldId xmlns:r="http://schemas.openxmlformats.org/officeDocument/2006/relationships" id="262" r:id="R1a7f8af6b5244fc0"/>
    <p:sldId xmlns:r="http://schemas.openxmlformats.org/officeDocument/2006/relationships" id="263" r:id="Rbbd1a2c2566c4a87"/>
    <p:sldId xmlns:r="http://schemas.openxmlformats.org/officeDocument/2006/relationships" id="264" r:id="R74c6e62e4dd94ee0"/>
    <p:sldId xmlns:r="http://schemas.openxmlformats.org/officeDocument/2006/relationships" id="265" r:id="Rd0963e927fb749c9"/>
    <p:sldId xmlns:r="http://schemas.openxmlformats.org/officeDocument/2006/relationships" id="266" r:id="Rc41df686eceb4cfb"/>
    <p:sldId xmlns:r="http://schemas.openxmlformats.org/officeDocument/2006/relationships" id="267" r:id="Rea347d08ae364b14"/>
    <p:sldId xmlns:r="http://schemas.openxmlformats.org/officeDocument/2006/relationships" id="268" r:id="Re7272a1c4a324415"/>
    <p:sldId xmlns:r="http://schemas.openxmlformats.org/officeDocument/2006/relationships" id="269" r:id="R2ceeb15298924944"/>
    <p:sldId xmlns:r="http://schemas.openxmlformats.org/officeDocument/2006/relationships" id="270" r:id="Re19a991a54a04c90"/>
    <p:sldId xmlns:r="http://schemas.openxmlformats.org/officeDocument/2006/relationships" id="271" r:id="Rb092841110c2465a"/>
    <p:sldId xmlns:r="http://schemas.openxmlformats.org/officeDocument/2006/relationships" id="272" r:id="R8f7910896fbc4e4b"/>
    <p:sldId xmlns:r="http://schemas.openxmlformats.org/officeDocument/2006/relationships" id="273" r:id="R117e527faa314e2f"/>
    <p:sldId xmlns:r="http://schemas.openxmlformats.org/officeDocument/2006/relationships" id="274" r:id="Re07c5df2b8594ee4"/>
    <p:sldId xmlns:r="http://schemas.openxmlformats.org/officeDocument/2006/relationships" id="275" r:id="Rffa1591948c249e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5b3aa7df4184b65" /><Relationship Type="http://schemas.openxmlformats.org/officeDocument/2006/relationships/slideMaster" Target="/ppt/slideMasters/slideMaster1.xml" Id="R6a54e328b68841d1" /><Relationship Type="http://schemas.openxmlformats.org/officeDocument/2006/relationships/notesMaster" Target="/ppt/notesMasters/notesMaster1.xml" Id="R8746ccc5216c44ec" /><Relationship Type="http://schemas.openxmlformats.org/officeDocument/2006/relationships/presProps" Target="/ppt/presProps.xml" Id="R335db7b7b3064e2f" /><Relationship Type="http://schemas.openxmlformats.org/officeDocument/2006/relationships/tableStyles" Target="/ppt/tableStyles.xml" Id="R6cd6553a11a8472b" /><Relationship Type="http://schemas.openxmlformats.org/officeDocument/2006/relationships/slide" Target="/ppt/slides/slide1.xml" Id="Re230fbc7f2ce49af" /><Relationship Type="http://schemas.openxmlformats.org/officeDocument/2006/relationships/slide" Target="/ppt/slides/slide2.xml" Id="Ra9aa46a427d84e46" /><Relationship Type="http://schemas.openxmlformats.org/officeDocument/2006/relationships/slide" Target="/ppt/slides/slide3.xml" Id="Rbef47973ad7043e0" /><Relationship Type="http://schemas.openxmlformats.org/officeDocument/2006/relationships/slide" Target="/ppt/slides/slide4.xml" Id="R555a780e74b34a1a" /><Relationship Type="http://schemas.openxmlformats.org/officeDocument/2006/relationships/slide" Target="/ppt/slides/slide5.xml" Id="R78cec2abc2284424" /><Relationship Type="http://schemas.openxmlformats.org/officeDocument/2006/relationships/slide" Target="/ppt/slides/slide6.xml" Id="R753728fb5a9f4d11" /><Relationship Type="http://schemas.openxmlformats.org/officeDocument/2006/relationships/slide" Target="/ppt/slides/slide7.xml" Id="R1a7f8af6b5244fc0" /><Relationship Type="http://schemas.openxmlformats.org/officeDocument/2006/relationships/slide" Target="/ppt/slides/slide8.xml" Id="Rbbd1a2c2566c4a87" /><Relationship Type="http://schemas.openxmlformats.org/officeDocument/2006/relationships/slide" Target="/ppt/slides/slide9.xml" Id="R74c6e62e4dd94ee0" /><Relationship Type="http://schemas.openxmlformats.org/officeDocument/2006/relationships/slide" Target="/ppt/slides/slide10.xml" Id="Rd0963e927fb749c9" /><Relationship Type="http://schemas.openxmlformats.org/officeDocument/2006/relationships/slide" Target="/ppt/slides/slide11.xml" Id="Rc41df686eceb4cfb" /><Relationship Type="http://schemas.openxmlformats.org/officeDocument/2006/relationships/slide" Target="/ppt/slides/slide12.xml" Id="Rea347d08ae364b14" /><Relationship Type="http://schemas.openxmlformats.org/officeDocument/2006/relationships/slide" Target="/ppt/slides/slide13.xml" Id="Re7272a1c4a324415" /><Relationship Type="http://schemas.openxmlformats.org/officeDocument/2006/relationships/slide" Target="/ppt/slides/slide14.xml" Id="R2ceeb15298924944" /><Relationship Type="http://schemas.openxmlformats.org/officeDocument/2006/relationships/slide" Target="/ppt/slides/slide15.xml" Id="Re19a991a54a04c90" /><Relationship Type="http://schemas.openxmlformats.org/officeDocument/2006/relationships/slide" Target="/ppt/slides/slide16.xml" Id="Rb092841110c2465a" /><Relationship Type="http://schemas.openxmlformats.org/officeDocument/2006/relationships/slide" Target="/ppt/slides/slide17.xml" Id="R8f7910896fbc4e4b" /><Relationship Type="http://schemas.openxmlformats.org/officeDocument/2006/relationships/slide" Target="/ppt/slides/slide18.xml" Id="R117e527faa314e2f" /><Relationship Type="http://schemas.openxmlformats.org/officeDocument/2006/relationships/slide" Target="/ppt/slides/slide19.xml" Id="Re07c5df2b8594ee4" /><Relationship Type="http://schemas.openxmlformats.org/officeDocument/2006/relationships/slide" Target="/ppt/slides/slide20.xml" Id="Rffa1591948c249e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00d845fab84431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49cc51b95834e43" /><Relationship Type="http://schemas.openxmlformats.org/officeDocument/2006/relationships/notesMaster" Target="/ppt/notesMasters/notesMaster1.xml" Id="R1a8bf7929f5944e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3b76c9c604245d8" /><Relationship Type="http://schemas.openxmlformats.org/officeDocument/2006/relationships/notesMaster" Target="/ppt/notesMasters/notesMaster1.xml" Id="Rc2fb1345c6e1432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4e18a8eea4c4c01" /><Relationship Type="http://schemas.openxmlformats.org/officeDocument/2006/relationships/notesMaster" Target="/ppt/notesMasters/notesMaster1.xml" Id="R9c17a58cd18b4df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3797df6807e4291" /><Relationship Type="http://schemas.openxmlformats.org/officeDocument/2006/relationships/notesMaster" Target="/ppt/notesMasters/notesMaster1.xml" Id="R5bc1b490062f4e4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dd3a216c6a945c0" /><Relationship Type="http://schemas.openxmlformats.org/officeDocument/2006/relationships/notesMaster" Target="/ppt/notesMasters/notesMaster1.xml" Id="R367dd1ed2d5848b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ecf06bfc67746f9" /><Relationship Type="http://schemas.openxmlformats.org/officeDocument/2006/relationships/notesMaster" Target="/ppt/notesMasters/notesMaster1.xml" Id="R142261640c8f409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cccf82de20b4c78" /><Relationship Type="http://schemas.openxmlformats.org/officeDocument/2006/relationships/notesMaster" Target="/ppt/notesMasters/notesMaster1.xml" Id="R7997cb2541fb47f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117642351874a68" /><Relationship Type="http://schemas.openxmlformats.org/officeDocument/2006/relationships/notesMaster" Target="/ppt/notesMasters/notesMaster1.xml" Id="R0991f087d7e445c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2296988b4de4951" /><Relationship Type="http://schemas.openxmlformats.org/officeDocument/2006/relationships/notesMaster" Target="/ppt/notesMasters/notesMaster1.xml" Id="R5372d3bf24b84e7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ca1092ad38b480c" /><Relationship Type="http://schemas.openxmlformats.org/officeDocument/2006/relationships/notesMaster" Target="/ppt/notesMasters/notesMaster1.xml" Id="R16c107f10e51470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33f8195c6bd48d5" /><Relationship Type="http://schemas.openxmlformats.org/officeDocument/2006/relationships/notesMaster" Target="/ppt/notesMasters/notesMaster1.xml" Id="R9f577ba8da8f414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b5968ca6f274181" /><Relationship Type="http://schemas.openxmlformats.org/officeDocument/2006/relationships/notesMaster" Target="/ppt/notesMasters/notesMaster1.xml" Id="R43f4b688c585497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68cb66a55ba4eff" /><Relationship Type="http://schemas.openxmlformats.org/officeDocument/2006/relationships/notesMaster" Target="/ppt/notesMasters/notesMaster1.xml" Id="Rf4a25cd628c3473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c76db66ea5a4007" /><Relationship Type="http://schemas.openxmlformats.org/officeDocument/2006/relationships/notesMaster" Target="/ppt/notesMasters/notesMaster1.xml" Id="R9602f11ee51344c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cdea300f3a52407e" /><Relationship Type="http://schemas.openxmlformats.org/officeDocument/2006/relationships/notesMaster" Target="/ppt/notesMasters/notesMaster1.xml" Id="R51eabeb96a784d09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221dd65d0f294f80" /><Relationship Type="http://schemas.openxmlformats.org/officeDocument/2006/relationships/notesMaster" Target="/ppt/notesMasters/notesMaster1.xml" Id="R592ef1f96f3d4f4d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0eec59dde4fa4692" /><Relationship Type="http://schemas.openxmlformats.org/officeDocument/2006/relationships/notesMaster" Target="/ppt/notesMasters/notesMaster1.xml" Id="Rc2bf9a86f0e44573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f490f0fbf68b44bb" /><Relationship Type="http://schemas.openxmlformats.org/officeDocument/2006/relationships/notesMaster" Target="/ppt/notesMasters/notesMaster1.xml" Id="Rfd641197c08d470a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349c8e55fdc449f4" /><Relationship Type="http://schemas.openxmlformats.org/officeDocument/2006/relationships/notesMaster" Target="/ppt/notesMasters/notesMaster1.xml" Id="R2f44d89ea1e449ae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391695929ae8402d" /><Relationship Type="http://schemas.openxmlformats.org/officeDocument/2006/relationships/notesMaster" Target="/ppt/notesMasters/notesMaster1.xml" Id="R9c5a373692374a0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Gary Talks Stuff 頻道：https://www.youtube.com/@garytalksstuff/videos</a:t>
            </a:r>
          </a:p>
          <a:p xmlns:a="http://schemas.openxmlformats.org/drawingml/2006/main">
            <a:r>
              <a:t>內容為逐字稿的整理與歸納；非逐字引用時以影片觀點轉述。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多工具工作流: https://www.youtube.com/watch?v=QHHTcYBEIEo</a:t>
            </a:r>
          </a:p>
          <a:p xmlns:a="http://schemas.openxmlformats.org/drawingml/2006/main">
            <a:r>
              <a:t>- Anthropic 與 OpenAI：模型本身不夠: https://www.youtube.com/watch?v=MlhsoWmyEKE</a:t>
            </a:r>
          </a:p>
          <a:p xmlns:a="http://schemas.openxmlformats.org/drawingml/2006/main">
            <a:r>
              <a:t>- Loop Engineering：專家還在 Prompting 嗎？: https://www.youtube.com/watch?v=kGYFSDd-ZVY</a:t>
            </a:r>
          </a:p>
          <a:p xmlns:a="http://schemas.openxmlformats.org/drawingml/2006/main">
            <a:r>
              <a:t>內容為逐字稿的整理與歸納；非逐字引用時以影片觀點轉述。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Google Vibe Coding／Agentic Engineering Day 1: https://www.youtube.com/watch?v=GzHfE50N8x4</a:t>
            </a:r>
          </a:p>
          <a:p xmlns:a="http://schemas.openxmlformats.org/drawingml/2006/main">
            <a:r>
              <a:t>- Harness Engineering：100 萬行程式碼，0 行人寫: https://www.youtube.com/watch?v=ugKW_Dv37Bk</a:t>
            </a:r>
          </a:p>
          <a:p xmlns:a="http://schemas.openxmlformats.org/drawingml/2006/main">
            <a:r>
              <a:t>內容為逐字稿的整理與歸納；非逐字引用時以影片觀點轉述。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Stanford AI 系統課程：從 LLM 到 Agentic Workflow: https://www.youtube.com/watch?v=eKW9ITaltWw</a:t>
            </a:r>
          </a:p>
          <a:p xmlns:a="http://schemas.openxmlformats.org/drawingml/2006/main">
            <a:r>
              <a:t>- Google AI Course Days 2+3：MCP、A2A、Skills: https://www.youtube.com/watch?v=XTCP1qoa3cc</a:t>
            </a:r>
          </a:p>
          <a:p xmlns:a="http://schemas.openxmlformats.org/drawingml/2006/main">
            <a:r>
              <a:t>- Harness Engineering：100 萬行程式碼，0 行人寫: https://www.youtube.com/watch?v=ugKW_Dv37Bk</a:t>
            </a:r>
          </a:p>
          <a:p xmlns:a="http://schemas.openxmlformats.org/drawingml/2006/main">
            <a:r>
              <a:t>內容為逐字稿的整理與歸納；非逐字引用時以影片觀點轉述。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 改 code 一直改 A 壞 B？你缺的是這五個步驟: https://www.youtube.com/watch?v=CMs8YMU6_RM</a:t>
            </a:r>
          </a:p>
          <a:p xmlns:a="http://schemas.openxmlformats.org/drawingml/2006/main">
            <a:r>
              <a:t>- 用 Claude 和 Codex 自動化 Code Review: https://www.youtube.com/watch?v=xzrvAERmvRk</a:t>
            </a:r>
          </a:p>
          <a:p xmlns:a="http://schemas.openxmlformats.org/drawingml/2006/main">
            <a:r>
              <a:t>內容為逐字稿的整理與歸納；非逐字引用時以影片觀點轉述。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你不是不會寫 Prompt，是不會定義任務: https://www.youtube.com/watch?v=KNP9Mr1rUQY</a:t>
            </a:r>
          </a:p>
          <a:p xmlns:a="http://schemas.openxmlformats.org/drawingml/2006/main">
            <a:r>
              <a:t>- /grill-me：Matt Pocock 建立了什麼？: https://www.youtube.com/watch?v=aR97E7aKEgg</a:t>
            </a:r>
          </a:p>
          <a:p xmlns:a="http://schemas.openxmlformats.org/drawingml/2006/main">
            <a:r>
              <a:t>內容為逐字稿的整理與歸納；非逐字引用時以影片觀點轉述。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我讓 Fable 當腦，Sonnet 當手，省了一半 Token: https://www.youtube.com/watch?v=ZLM6Qy7pAHk</a:t>
            </a:r>
          </a:p>
          <a:p xmlns:a="http://schemas.openxmlformats.org/drawingml/2006/main">
            <a:r>
              <a:t>- 多工具工作流: https://www.youtube.com/watch?v=QHHTcYBEIEo</a:t>
            </a:r>
          </a:p>
          <a:p xmlns:a="http://schemas.openxmlformats.org/drawingml/2006/main">
            <a:r>
              <a:t>內容為逐字稿的整理與歸納；非逐字引用時以影片觀點轉述。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Loop Engineering：專家還在 Prompting 嗎？: https://www.youtube.com/watch?v=kGYFSDd-ZVY</a:t>
            </a:r>
          </a:p>
          <a:p xmlns:a="http://schemas.openxmlformats.org/drawingml/2006/main">
            <a:r>
              <a:t>- AI Agent 跑 27 小時：/goal 功能: https://www.youtube.com/watch?v=PpeCur6fEXc</a:t>
            </a:r>
          </a:p>
          <a:p xmlns:a="http://schemas.openxmlformats.org/drawingml/2006/main">
            <a:r>
              <a:t>內容為逐字稿的整理與歸納；非逐字引用時以影片觀點轉述。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Skill 實戰教學: https://www.youtube.com/watch?v=PuqX3Kv2ino</a:t>
            </a:r>
          </a:p>
          <a:p xmlns:a="http://schemas.openxmlformats.org/drawingml/2006/main">
            <a:r>
              <a:t>- Anthropic Skills：為什麼大家跟進？: https://www.youtube.com/watch?v=b8ZmokNWjw0</a:t>
            </a:r>
          </a:p>
          <a:p xmlns:a="http://schemas.openxmlformats.org/drawingml/2006/main">
            <a:r>
              <a:t>內容為逐字稿的整理與歸納；非逐字引用時以影片觀點轉述。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- 15 分鐘學完 CLAUDE.md：從入門到精通: https://www.youtube.com/watch?v=wj7mHCviMvs</a:t>
            </a:r>
          </a:p>
          <a:p xmlns:a="http://schemas.openxmlformats.org/drawingml/2006/main">
            <a:r>
              <a:t>內容為逐字稿的整理與歸納；非逐字引用時以影片觀點轉述。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Google AI Course Days 2+3：MCP、A2A、Skills: https://www.youtube.com/watch?v=XTCP1qoa3cc</a:t>
            </a:r>
          </a:p>
          <a:p xmlns:a="http://schemas.openxmlformats.org/drawingml/2006/main">
            <a:r>
              <a:t>- Anthropic Skills：為什麼大家跟進？: https://www.youtube.com/watch?v=b8ZmokNWjw0</a:t>
            </a:r>
          </a:p>
          <a:p xmlns:a="http://schemas.openxmlformats.org/drawingml/2006/main">
            <a:r>
              <a:t>內容為逐字稿的整理與歸納；非逐字引用時以影片觀點轉述。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Harness Engineering：100 萬行程式碼，0 行人寫: https://www.youtube.com/watch?v=ugKW_Dv37Bk</a:t>
            </a:r>
          </a:p>
          <a:p xmlns:a="http://schemas.openxmlformats.org/drawingml/2006/main">
            <a:r>
              <a:t>- Google AI 課程 Day 4+5：怎麼放心讓 AI 上正式環境？: https://www.youtube.com/watch?v=h7abDtqN9gs</a:t>
            </a:r>
          </a:p>
          <a:p xmlns:a="http://schemas.openxmlformats.org/drawingml/2006/main">
            <a:r>
              <a:t>內容為逐字稿的整理與歸納；非逐字引用時以影片觀點轉述。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Google AI 課程 Day 4+5：怎麼放心讓 AI 上正式環境？: https://www.youtube.com/watch?v=h7abDtqN9gs</a:t>
            </a:r>
          </a:p>
          <a:p xmlns:a="http://schemas.openxmlformats.org/drawingml/2006/main">
            <a:r>
              <a:t>- Harness Engineering：100 萬行程式碼，0 行人寫: https://www.youtube.com/watch?v=ugKW_Dv37Bk</a:t>
            </a:r>
          </a:p>
          <a:p xmlns:a="http://schemas.openxmlformats.org/drawingml/2006/main">
            <a:r>
              <a:t>內容為逐字稿的整理與歸納；非逐字引用時以影片觀點轉述。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多工具工作流: https://www.youtube.com/watch?v=QHHTcYBEIEo</a:t>
            </a:r>
          </a:p>
          <a:p xmlns:a="http://schemas.openxmlformats.org/drawingml/2006/main">
            <a:r>
              <a:t>- 我讓 Fable 當腦，Sonnet 當手，省了一半 Token: https://www.youtube.com/watch?v=ZLM6Qy7pAHk</a:t>
            </a:r>
          </a:p>
          <a:p xmlns:a="http://schemas.openxmlformats.org/drawingml/2006/main">
            <a:r>
              <a:t>內容為逐字稿的整理與歸納；非逐字引用時以影片觀點轉述。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給非技術人員的 GitHub 教學: https://www.youtube.com/watch?v=atqcAb7MFAM</a:t>
            </a:r>
          </a:p>
          <a:p xmlns:a="http://schemas.openxmlformats.org/drawingml/2006/main">
            <a:r>
              <a:t>- AI 改 code 一直改 A 壞 B？你缺的是這五個步驟: https://www.youtube.com/watch?v=CMs8YMU6_RM</a:t>
            </a:r>
          </a:p>
          <a:p xmlns:a="http://schemas.openxmlformats.org/drawingml/2006/main">
            <a:r>
              <a:t>內容為逐字稿的整理與歸納；非逐字引用時以影片觀點轉述。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用 Claude 和 Codex 自動化 Code Review: https://www.youtube.com/watch?v=xzrvAERmvRk</a:t>
            </a:r>
          </a:p>
          <a:p xmlns:a="http://schemas.openxmlformats.org/drawingml/2006/main">
            <a:r>
              <a:t>- AI 改 code 一直改 A 壞 B？你缺的是這五個步驟: https://www.youtube.com/watch?v=CMs8YMU6_RM</a:t>
            </a:r>
          </a:p>
          <a:p xmlns:a="http://schemas.openxmlformats.org/drawingml/2006/main">
            <a:r>
              <a:t>內容為逐字稿的整理與歸納；非逐字引用時以影片觀點轉述。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從 Claude Code 源代碼學習 Agent 框架: https://www.youtube.com/watch?v=-cnAz897A_0</a:t>
            </a:r>
          </a:p>
          <a:p xmlns:a="http://schemas.openxmlformats.org/drawingml/2006/main">
            <a:r>
              <a:t>- OpenClaw 的 Agent 原理及架構: https://www.youtube.com/watch?v=J82Drae0ZRE</a:t>
            </a:r>
          </a:p>
          <a:p xmlns:a="http://schemas.openxmlformats.org/drawingml/2006/main">
            <a:r>
              <a:t>- AI Agent 跑 27 小時：/goal 功能: https://www.youtube.com/watch?v=PpeCur6fEXc</a:t>
            </a:r>
          </a:p>
          <a:p xmlns:a="http://schemas.openxmlformats.org/drawingml/2006/main">
            <a:r>
              <a:t>內容為逐字稿的整理與歸納；非逐字引用時以影片觀點轉述。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 時代非技術者最重要的設計能力: https://www.youtube.com/watch?v=Yzpx4Xaigms</a:t>
            </a:r>
          </a:p>
          <a:p xmlns:a="http://schemas.openxmlformats.org/drawingml/2006/main">
            <a:r>
              <a:t>- 你不是不會寫 Prompt，是不會定義任務: https://www.youtube.com/watch?v=KNP9Mr1rUQY</a:t>
            </a:r>
          </a:p>
          <a:p xmlns:a="http://schemas.openxmlformats.org/drawingml/2006/main">
            <a:r>
              <a:t>- AI 時代工程師如何重新定位: https://www.youtube.com/watch?v=_RD3iFDhuzs</a:t>
            </a:r>
          </a:p>
          <a:p xmlns:a="http://schemas.openxmlformats.org/drawingml/2006/main">
            <a:r>
              <a:t>內容為逐字稿的整理與歸納；非逐字引用時以影片觀點轉述。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Google Vibe Coding／Agentic Engineering Day 1: https://www.youtube.com/watch?v=GzHfE50N8x4</a:t>
            </a:r>
          </a:p>
          <a:p xmlns:a="http://schemas.openxmlformats.org/drawingml/2006/main">
            <a:r>
              <a:t>- Loop Engineering：專家還在 Prompting 嗎？: https://www.youtube.com/watch?v=kGYFSDd-ZVY</a:t>
            </a:r>
          </a:p>
          <a:p xmlns:a="http://schemas.openxmlformats.org/drawingml/2006/main">
            <a:r>
              <a:t>- Skill 實戰教學: https://www.youtube.com/watch?v=PuqX3Kv2ino</a:t>
            </a:r>
          </a:p>
          <a:p xmlns:a="http://schemas.openxmlformats.org/drawingml/2006/main">
            <a:r>
              <a:t>- 用 Claude 和 Codex 自動化 Code Review: https://www.youtube.com/watch?v=xzrvAERmvRk</a:t>
            </a:r>
          </a:p>
          <a:p xmlns:a="http://schemas.openxmlformats.org/drawingml/2006/main">
            <a:r>
              <a:t>內容為逐字稿的整理與歸納；非逐字引用時以影片觀點轉述。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Anthropic 與 OpenAI：模型本身不夠: https://www.youtube.com/watch?v=MlhsoWmyEKE</a:t>
            </a:r>
          </a:p>
          <a:p xmlns:a="http://schemas.openxmlformats.org/drawingml/2006/main">
            <a:r>
              <a:t>- Google AI 課程 Day 4+5：怎麼放心讓 AI 上正式環境？: https://www.youtube.com/watch?v=h7abDtqN9gs</a:t>
            </a:r>
          </a:p>
          <a:p xmlns:a="http://schemas.openxmlformats.org/drawingml/2006/main">
            <a:r>
              <a:t>- 15 分鐘學完 CLAUDE.md：從入門到精通: https://www.youtube.com/watch?v=wj7mHCviMvs</a:t>
            </a:r>
          </a:p>
          <a:p xmlns:a="http://schemas.openxmlformats.org/drawingml/2006/main">
            <a:r>
              <a:t>內容為逐字稿的整理與歸納；非逐字引用時以影片觀點轉述。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d181d91a822485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710fcd303a74222" /><Relationship Type="http://schemas.openxmlformats.org/officeDocument/2006/relationships/slideLayout" Target="/ppt/slideLayouts/slideLayout1.xml" Id="R9131321849b748b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131321849b748b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4143167fa24d73" /><Relationship Type="http://schemas.openxmlformats.org/officeDocument/2006/relationships/notesSlide" Target="/ppt/notesSlides/notesSlide1.xml" Id="Rdf7a9c0a915b483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bd082ef0d745b1" /><Relationship Type="http://schemas.openxmlformats.org/officeDocument/2006/relationships/notesSlide" Target="/ppt/notesSlides/notesSlide2.xml" Id="R0a3d6b61d81141b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f7581094dc4745" /><Relationship Type="http://schemas.openxmlformats.org/officeDocument/2006/relationships/notesSlide" Target="/ppt/notesSlides/notesSlide3.xml" Id="R7f09650e1b734ca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cb4f2bffdd4bca" /><Relationship Type="http://schemas.openxmlformats.org/officeDocument/2006/relationships/notesSlide" Target="/ppt/notesSlides/notesSlide4.xml" Id="Ra235275b2a48484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7cf6c3df594550" /><Relationship Type="http://schemas.openxmlformats.org/officeDocument/2006/relationships/notesSlide" Target="/ppt/notesSlides/notesSlide5.xml" Id="Rcd7c09707846407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427d99d371455a" /><Relationship Type="http://schemas.openxmlformats.org/officeDocument/2006/relationships/notesSlide" Target="/ppt/notesSlides/notesSlide6.xml" Id="R6e167a5e69c240b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d0560a7e1d4178" /><Relationship Type="http://schemas.openxmlformats.org/officeDocument/2006/relationships/notesSlide" Target="/ppt/notesSlides/notesSlide7.xml" Id="R485aeb3adff74fc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4b818816f041b4" /><Relationship Type="http://schemas.openxmlformats.org/officeDocument/2006/relationships/notesSlide" Target="/ppt/notesSlides/notesSlide8.xml" Id="R45bb18cbdee542e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f61677db7f4896" /><Relationship Type="http://schemas.openxmlformats.org/officeDocument/2006/relationships/notesSlide" Target="/ppt/notesSlides/notesSlide9.xml" Id="Ra357ea3c07ef460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df13baf04a4234" /><Relationship Type="http://schemas.openxmlformats.org/officeDocument/2006/relationships/notesSlide" Target="/ppt/notesSlides/notesSlide10.xml" Id="Rcda13cab704643a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b4f62c010742c5" /><Relationship Type="http://schemas.openxmlformats.org/officeDocument/2006/relationships/notesSlide" Target="/ppt/notesSlides/notesSlide11.xml" Id="Rba2befe348e84c5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940f3921ab4ee9" /><Relationship Type="http://schemas.openxmlformats.org/officeDocument/2006/relationships/notesSlide" Target="/ppt/notesSlides/notesSlide12.xml" Id="R3dd4a72f51f84ac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09b226916a4a3b" /><Relationship Type="http://schemas.openxmlformats.org/officeDocument/2006/relationships/notesSlide" Target="/ppt/notesSlides/notesSlide13.xml" Id="Rc326711475334d1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23af3ed1674875" /><Relationship Type="http://schemas.openxmlformats.org/officeDocument/2006/relationships/notesSlide" Target="/ppt/notesSlides/notesSlide14.xml" Id="R30dae978e9c84d9a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78314a7aa5488c" /><Relationship Type="http://schemas.openxmlformats.org/officeDocument/2006/relationships/notesSlide" Target="/ppt/notesSlides/notesSlide15.xml" Id="R1c8af930103f4160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b36b5346614923" /><Relationship Type="http://schemas.openxmlformats.org/officeDocument/2006/relationships/notesSlide" Target="/ppt/notesSlides/notesSlide16.xml" Id="R2c8dfb07dbad484b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1933c8bddd4b20" /><Relationship Type="http://schemas.openxmlformats.org/officeDocument/2006/relationships/notesSlide" Target="/ppt/notesSlides/notesSlide17.xml" Id="Re948602b9b754693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d7d3f14f644b6c" /><Relationship Type="http://schemas.openxmlformats.org/officeDocument/2006/relationships/notesSlide" Target="/ppt/notesSlides/notesSlide18.xml" Id="Re25fada3a2424a26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855790a08e41e7" /><Relationship Type="http://schemas.openxmlformats.org/officeDocument/2006/relationships/notesSlide" Target="/ppt/notesSlides/notesSlide19.xml" Id="R9c2acfb09b0b482c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ff3cef10264b0e" /><Relationship Type="http://schemas.openxmlformats.org/officeDocument/2006/relationships/notesSlide" Target="/ppt/notesSlides/notesSlide20.xml" Id="Rab1922d3dbe3487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12C390-F6E9-4BA0-A45E-7B1845162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14300" cy="548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9A7C83-FC5E-4E7E-8668-CC1A11957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68580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主題一｜系統設計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853C23-69B7-4230-9101-E34B016C3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666875"/>
            <a:ext cx="9048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11827"/>
                </a:solidFill>
              </a:defRPr>
            </a:pPr>
            <a:r>
              <a:rPr sz="3900" b="1">
                <a:solidFill>
                  <a:srgbClr val="111827"/>
                </a:solidFill>
              </a:rPr>
              <a:t>AI 原生工作流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D6D645-E8A2-4D08-9F25-C8AEDE24A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524250"/>
            <a:ext cx="7429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5B6472"/>
                </a:solidFill>
              </a:defRPr>
            </a:pPr>
            <a:r>
              <a:rPr sz="1800">
                <a:solidFill>
                  <a:srgbClr val="5B6472"/>
                </a:solidFill>
              </a:rPr>
              <a:t>從 Prompt 到可重複、可驗證、可交付的工作系統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1ABF0C-4CB1-4BD0-B547-C3EA9DF58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095750"/>
            <a:ext cx="23622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179D97-DE27-4069-9F1B-69E06369A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4343400"/>
            <a:ext cx="1809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563EB"/>
                </a:solidFill>
              </a:defRPr>
            </a:pPr>
            <a:r>
              <a:rPr sz="1500" b="1">
                <a:solidFill>
                  <a:srgbClr val="2563EB"/>
                </a:solidFill>
              </a:rPr>
              <a:t>20 頁</a:t>
            </a:r>
          </a:p>
          <a:p xmlns:a="http://schemas.openxmlformats.org/drawingml/2006/main">
            <a:pPr algn="ctr">
              <a:defRPr sz="1500" b="1">
                <a:solidFill>
                  <a:srgbClr val="2563EB"/>
                </a:solidFill>
              </a:defRPr>
            </a:pPr>
            <a:r>
              <a:rPr sz="1500" b="1">
                <a:solidFill>
                  <a:srgbClr val="2563EB"/>
                </a:solidFill>
              </a:rPr>
              <a:t>依影片逐字稿整理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C81B58-1D17-4A3A-B679-408727861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90550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472"/>
                </a:solidFill>
              </a:defRPr>
            </a:pPr>
            <a:r>
              <a:rPr sz="1050">
                <a:solidFill>
                  <a:srgbClr val="5B6472"/>
                </a:solidFill>
              </a:rPr>
              <a:t>資料來源：Gary Talks Stuff 頻道｜內容為影片觀點整理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0B83CD-707C-482D-9670-9F68F8773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1C04C9-C818-462F-A732-2C1D00D81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6272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B6472"/>
                </a:solidFill>
              </a:defRPr>
            </a:pPr>
            <a:r>
              <a:rPr sz="900">
                <a:solidFill>
                  <a:srgbClr val="5B6472"/>
                </a:solidFill>
              </a:rPr>
              <a:t>Gary Talks Stuff｜逐字稿主題整理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CF680D-33D4-4333-8C23-C5319FDB6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62725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01 / 20</a:t>
            </a:r>
          </a:p>
        </p:txBody>
      </p:sp>
    </p:spTree>
    <p:extLst>
      <p:ext uri="{BB962C8B-B14F-4D97-AF65-F5344CB8AC3E}">
        <p14:creationId xmlns:p14="http://schemas.microsoft.com/office/powerpoint/2010/main" val="90444708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3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F8DB15-26EC-42B6-BF25-4AB945DAE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核心句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31890E-4B24-4149-98CA-77CE1AFF9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000250"/>
            <a:ext cx="9810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11827"/>
                </a:solidFill>
              </a:defRPr>
            </a:pPr>
            <a:r>
              <a:rPr sz="3225" b="1">
                <a:solidFill>
                  <a:srgbClr val="111827"/>
                </a:solidFill>
              </a:rPr>
              <a:t>「優勢會從選模型，轉向設計整套工作系統。」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13A722-2F05-48F5-99A5-54E405394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953000"/>
            <a:ext cx="857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B6472"/>
                </a:solidFill>
              </a:defRPr>
            </a:pPr>
            <a:r>
              <a:rPr sz="1350">
                <a:solidFill>
                  <a:srgbClr val="5B6472"/>
                </a:solidFill>
              </a:rPr>
              <a:t>跨影片歸納：模型路由、多工具、Skills、Harness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A6DBEC-1B43-4715-9D79-33919CD6E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AC847D-69AE-47A1-98F0-B67E4D918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6272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B6472"/>
                </a:solidFill>
              </a:defRPr>
            </a:pPr>
            <a:r>
              <a:rPr sz="900">
                <a:solidFill>
                  <a:srgbClr val="5B6472"/>
                </a:solidFill>
              </a:rPr>
              <a:t>Gary Talks Stuff｜逐字稿主題整理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3EEA4A-A424-4432-8B07-3EBE80B77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62725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02 / 20</a:t>
            </a:r>
          </a:p>
        </p:txBody>
      </p:sp>
    </p:spTree>
    <p:extLst>
      <p:ext uri="{BB962C8B-B14F-4D97-AF65-F5344CB8AC3E}">
        <p14:creationId xmlns:p14="http://schemas.microsoft.com/office/powerpoint/2010/main" val="112144560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D2C309-0448-41DC-B460-FD8CC0E38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Agent = 模型 + Harness，而不是聊天框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F580A4-462D-4C46-8635-728BFBA85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876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425571-765B-4AEF-B1D4-0512FD91E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563EB"/>
                </a:solidFill>
              </a:defRPr>
            </a:pPr>
            <a:r>
              <a:rPr sz="1800" b="1">
                <a:solidFill>
                  <a:srgbClr val="2563EB"/>
                </a:solidFill>
              </a:rPr>
              <a:t>模型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A1ADAD-6FAA-4947-91A2-D33EC236B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4762500" cy="3000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11827"/>
                </a:solidFill>
              </a:defRPr>
            </a:pPr>
            <a:r>
              <a:rPr sz="1575">
                <a:solidFill>
                  <a:srgbClr val="111827"/>
                </a:solidFill>
              </a:rPr>
              <a:t>負責推理、生成與判斷候選答案；不同模型適合不同風險、成本與速度。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747145-8587-40D8-B710-FE6F9FAC2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809750"/>
            <a:ext cx="5410200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B00662-9DE4-48FE-B095-ED67909CB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190750"/>
            <a:ext cx="457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563EB"/>
                </a:solidFill>
              </a:defRPr>
            </a:pPr>
            <a:r>
              <a:rPr sz="1800" b="1">
                <a:solidFill>
                  <a:srgbClr val="2563EB"/>
                </a:solidFill>
              </a:rPr>
              <a:t>Harness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D5CB8F-4880-4D09-9B7E-C27EB5C3C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857500"/>
            <a:ext cx="447675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11827"/>
                </a:solidFill>
              </a:defRPr>
            </a:pPr>
            <a:r>
              <a:rPr sz="1575">
                <a:solidFill>
                  <a:srgbClr val="111827"/>
                </a:solidFill>
              </a:rPr>
              <a:t>負責工具、上下文、權限、檔案、規格、評估與回饋，決定模型能否把事情做完。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517C04-A102-4D5B-947E-1E5AFB81C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3403CD-61FA-4911-9867-C8477DF1D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6272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B6472"/>
                </a:solidFill>
              </a:defRPr>
            </a:pPr>
            <a:r>
              <a:rPr sz="900">
                <a:solidFill>
                  <a:srgbClr val="5B6472"/>
                </a:solidFill>
              </a:rPr>
              <a:t>Gary Talks Stuff｜逐字稿主題整理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F2705F-B9F4-40B0-A308-0955C58CB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62725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03 / 20</a:t>
            </a:r>
          </a:p>
        </p:txBody>
      </p:sp>
    </p:spTree>
    <p:extLst>
      <p:ext uri="{BB962C8B-B14F-4D97-AF65-F5344CB8AC3E}">
        <p14:creationId xmlns:p14="http://schemas.microsoft.com/office/powerpoint/2010/main" val="12062051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51FB2B3-F44A-48A4-BC1B-77A9F39B3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一個可工作的 AI 系統，至少要有四層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C5267C-590B-44BD-A32A-B154CE982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876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0AA49B-617A-4382-AF01-E2B6964EF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190875"/>
            <a:ext cx="828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ED477D-7A1E-4534-8B2F-E4727B34B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285750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D5DE3D-154E-475F-8AF9-A8BE38D96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" y="2981325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12E033-2D6F-406F-A418-72D0AB20F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2533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模型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D86394-2487-47D0-AEC6-87E9CEE55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0"/>
            <a:ext cx="2381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5B6472"/>
                </a:solidFill>
              </a:defRPr>
            </a:pPr>
            <a:r>
              <a:rPr sz="1275">
                <a:solidFill>
                  <a:srgbClr val="5B6472"/>
                </a:solidFill>
              </a:rPr>
              <a:t>負責推理與產出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481895-D105-4B80-8D4F-CDA803458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85750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537590-1F76-42A9-89E2-098D3807A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2981325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F38452-24DA-46B0-BA2F-A96CE8BE3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714750"/>
            <a:ext cx="2533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工具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946D50-7AE9-4925-875C-5132EC91E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286250"/>
            <a:ext cx="2381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5B6472"/>
                </a:solidFill>
              </a:defRPr>
            </a:pPr>
            <a:r>
              <a:rPr sz="1275">
                <a:solidFill>
                  <a:srgbClr val="5B6472"/>
                </a:solidFill>
              </a:rPr>
              <a:t>讀寫、搜尋、執行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EF3D82-4FFC-4820-A234-AAF129FC9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285750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EA7679-6268-44D3-8B1E-D9F7D18C2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2981325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959621-AEC3-4D7F-B8D3-BF4E94A9D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714750"/>
            <a:ext cx="2533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上下文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BFACAD-4ED1-4809-B8B2-138467F75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286250"/>
            <a:ext cx="2381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5B6472"/>
                </a:solidFill>
              </a:defRPr>
            </a:pPr>
            <a:r>
              <a:rPr sz="1275">
                <a:solidFill>
                  <a:srgbClr val="5B6472"/>
                </a:solidFill>
              </a:rPr>
              <a:t>專案與領域記憶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2D26F1-9086-4FBE-B121-124264ED9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2675" y="285750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A48E865-D20D-4A5E-AB96-868FFAC00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6975" y="2981325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8DB65A1-E97F-4D66-BFCE-E6FC128C6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714750"/>
            <a:ext cx="2533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規格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BAABE8A-400C-4A2E-9862-27FE82477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286250"/>
            <a:ext cx="2381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5B6472"/>
                </a:solidFill>
              </a:defRPr>
            </a:pPr>
            <a:r>
              <a:rPr sz="1275">
                <a:solidFill>
                  <a:srgbClr val="5B6472"/>
                </a:solidFill>
              </a:rPr>
              <a:t>完成條件與評估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C805835-3F42-4B64-B07E-2F6FB35A3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F7D6751-6515-4FE4-955B-1A3004A07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6272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B6472"/>
                </a:solidFill>
              </a:defRPr>
            </a:pPr>
            <a:r>
              <a:rPr sz="900">
                <a:solidFill>
                  <a:srgbClr val="5B6472"/>
                </a:solidFill>
              </a:rPr>
              <a:t>Gary Talks Stuff｜逐字稿主題整理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7ABEE8D-C3B6-4D70-96C9-A7FE31587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62725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04 / 20</a:t>
            </a:r>
          </a:p>
        </p:txBody>
      </p:sp>
    </p:spTree>
    <p:extLst>
      <p:ext uri="{BB962C8B-B14F-4D97-AF65-F5344CB8AC3E}">
        <p14:creationId xmlns:p14="http://schemas.microsoft.com/office/powerpoint/2010/main" val="107142373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BD2E6A-180A-47A3-B195-9369165AA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為什麼 AI 改 A，常常會壞 B？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BBEF21-8D20-4BE8-9197-7E63BAD44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876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481EC3-570A-449E-B3ED-F6AE16313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5B6472"/>
                </a:solidFill>
              </a:defRPr>
            </a:pPr>
            <a:r>
              <a:rPr sz="1725">
                <a:solidFill>
                  <a:srgbClr val="5B6472"/>
                </a:solidFill>
              </a:rPr>
              <a:t>問題通常不在模型不夠聰明，而在它沒有看見系統的關係。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04653E-77C3-4C54-B16E-2660A7448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479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DE25E3-C1DF-41CC-9100-E63655D01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81250"/>
            <a:ext cx="9829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11827"/>
                </a:solidFill>
              </a:defRPr>
            </a:pPr>
            <a:r>
              <a:rPr sz="1725">
                <a:solidFill>
                  <a:srgbClr val="111827"/>
                </a:solidFill>
              </a:rPr>
              <a:t>只給局部檔案，沒有交代架構與相依關係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E2E5D6-9C40-40E0-A658-5D012F19C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861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67C2B2-E234-4B68-8752-AF5A9B10F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19450"/>
            <a:ext cx="9829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11827"/>
                </a:solidFill>
              </a:defRPr>
            </a:pPr>
            <a:r>
              <a:rPr sz="1725">
                <a:solidFill>
                  <a:srgbClr val="111827"/>
                </a:solidFill>
              </a:rPr>
              <a:t>沒有先定義完成條件、不可破壞的行為與測試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25F2A6-88EC-41AC-B14B-E875A46DF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243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76A4CB-EE18-4116-9D4B-F90B6A67B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57650"/>
            <a:ext cx="9829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11827"/>
                </a:solidFill>
              </a:defRPr>
            </a:pPr>
            <a:r>
              <a:rPr sz="1725">
                <a:solidFill>
                  <a:srgbClr val="111827"/>
                </a:solidFill>
              </a:rPr>
              <a:t>修改後缺少 review、測試與人工 checkpoint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86A73F-3D9A-4BDE-8951-54017CAFE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625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C54986-E137-417F-8307-3049E311A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95850"/>
            <a:ext cx="9829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11827"/>
                </a:solidFill>
              </a:defRPr>
            </a:pPr>
            <a:r>
              <a:rPr sz="1725">
                <a:solidFill>
                  <a:srgbClr val="111827"/>
                </a:solidFill>
              </a:rPr>
              <a:t>把一次成功的 Prompt 當成長期流程，卻沒有外部記憶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E19AA0-A151-4C35-B27D-B06799E89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E3CEF4-B57F-435D-92F4-7C12A91E1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6272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B6472"/>
                </a:solidFill>
              </a:defRPr>
            </a:pPr>
            <a:r>
              <a:rPr sz="900">
                <a:solidFill>
                  <a:srgbClr val="5B6472"/>
                </a:solidFill>
              </a:rPr>
              <a:t>Gary Talks Stuff｜逐字稿主題整理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ED656A-FBF4-4221-873B-08BFBA562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62725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05 / 20</a:t>
            </a:r>
          </a:p>
        </p:txBody>
      </p:sp>
    </p:spTree>
    <p:extLst>
      <p:ext uri="{BB962C8B-B14F-4D97-AF65-F5344CB8AC3E}">
        <p14:creationId xmlns:p14="http://schemas.microsoft.com/office/powerpoint/2010/main" val="110353099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29083E-440A-4086-8B94-D33828AFD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先定義任務，再請 AI 動手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839A4B-A1DE-49FF-B174-D7F2255FA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876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34DC22-5E4B-4CD4-B8B6-61364D59C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563EB"/>
                </a:solidFill>
              </a:defRPr>
            </a:pPr>
            <a:r>
              <a:rPr sz="1800" b="1">
                <a:solidFill>
                  <a:srgbClr val="2563EB"/>
                </a:solidFill>
              </a:rPr>
              <a:t>模糊指令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8B8421-C0DB-4533-93AC-090AD49CD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4762500" cy="3000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11827"/>
                </a:solidFill>
              </a:defRPr>
            </a:pPr>
            <a:r>
              <a:rPr sz="1575">
                <a:solidFill>
                  <a:srgbClr val="111827"/>
                </a:solidFill>
              </a:rPr>
              <a:t>「幫我做一個網站」讓 AI 自行猜測目標、範圍與成功標準，結果容易快速偏航。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DA9C62-8BC3-4207-A43D-F416224DF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809750"/>
            <a:ext cx="5410200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C7019B-CA48-4AA2-A7BB-4A6AC9DDF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190750"/>
            <a:ext cx="457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563EB"/>
                </a:solidFill>
              </a:defRPr>
            </a:pPr>
            <a:r>
              <a:rPr sz="1800" b="1">
                <a:solidFill>
                  <a:srgbClr val="2563EB"/>
                </a:solidFill>
              </a:rPr>
              <a:t>可執行任務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4CBF27-BD95-4A55-97F5-3CCAAFE83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857500"/>
            <a:ext cx="447675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11827"/>
                </a:solidFill>
              </a:defRPr>
            </a:pPr>
            <a:r>
              <a:rPr sz="1575">
                <a:solidFill>
                  <a:srgbClr val="111827"/>
                </a:solidFill>
              </a:rPr>
              <a:t>說明背景、輸入、限制、完成條件、驗證方式與失敗時應保留的部分，AI 才能穩定交付。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4B2960-E04F-4791-8B9A-8299AC247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B5ECEC-92FC-452B-8462-86EBF2302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6272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B6472"/>
                </a:solidFill>
              </a:defRPr>
            </a:pPr>
            <a:r>
              <a:rPr sz="900">
                <a:solidFill>
                  <a:srgbClr val="5B6472"/>
                </a:solidFill>
              </a:rPr>
              <a:t>Gary Talks Stuff｜逐字稿主題整理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2BDC53-BB7B-4A68-9B3F-3EE7BAF18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62725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06 / 20</a:t>
            </a:r>
          </a:p>
        </p:txBody>
      </p:sp>
    </p:spTree>
    <p:extLst>
      <p:ext uri="{BB962C8B-B14F-4D97-AF65-F5344CB8AC3E}">
        <p14:creationId xmlns:p14="http://schemas.microsoft.com/office/powerpoint/2010/main" val="187856080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C986747-8557-4232-809E-3A9352F0B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模型路由：讓不同模型各做擅長的事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0023E1-F1B2-4AE8-943C-3DB0F701C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876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7FC8E6-BCEF-4229-8DD8-4BEC3D3DD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190875"/>
            <a:ext cx="828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C8E63C-163E-457B-A830-21C24DB39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285750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08231C-D4EE-4A80-8265-E579301FA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" y="2981325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27AFB0-6E34-437B-B8F0-820823DE4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2533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規劃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FC5C1A-69EC-4222-BA9E-6DD450C96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0"/>
            <a:ext cx="2381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5B6472"/>
                </a:solidFill>
              </a:defRPr>
            </a:pPr>
            <a:r>
              <a:rPr sz="1275">
                <a:solidFill>
                  <a:srgbClr val="5B6472"/>
                </a:solidFill>
              </a:rPr>
              <a:t>昂貴模型負責拆題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73CD85-F979-47D3-9873-012FA98BE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85750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0FDA70-D20E-4D80-B243-89E8290D6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2981325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34D4AD-1B92-4BDC-B289-8C42A15A0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714750"/>
            <a:ext cx="2533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執行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F5C8A7-1863-420C-B75F-F5D03AA25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286250"/>
            <a:ext cx="2381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5B6472"/>
                </a:solidFill>
              </a:defRPr>
            </a:pPr>
            <a:r>
              <a:rPr sz="1275">
                <a:solidFill>
                  <a:srgbClr val="5B6472"/>
                </a:solidFill>
              </a:rPr>
              <a:t>快速模型大量處理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6AD813-B730-4A4C-94EE-BB31C80B9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285750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B724A1-CDD4-4AC1-B0D5-1C26A24D6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2981325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A339C3-EADC-4125-A456-40F73FC77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714750"/>
            <a:ext cx="2533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審查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E45834-1AAB-477E-A321-4336AC855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286250"/>
            <a:ext cx="2381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5B6472"/>
                </a:solidFill>
              </a:defRPr>
            </a:pPr>
            <a:r>
              <a:rPr sz="1275">
                <a:solidFill>
                  <a:srgbClr val="5B6472"/>
                </a:solidFill>
              </a:rPr>
              <a:t>高風險結果再檢查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348B9F-1B01-4AE8-BF20-98C38CFF1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2675" y="285750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E38BD7-168F-4CDE-A61E-C01925B2A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6975" y="2981325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2B4B629-37A8-46D3-8190-66AB1B3AD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714750"/>
            <a:ext cx="2533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迭代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CBE91B5-DF2D-4CEC-84B1-F4103783B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286250"/>
            <a:ext cx="2381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5B6472"/>
                </a:solidFill>
              </a:defRPr>
            </a:pPr>
            <a:r>
              <a:rPr sz="1275">
                <a:solidFill>
                  <a:srgbClr val="5B6472"/>
                </a:solidFill>
              </a:rPr>
              <a:t>把經驗寫回流程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380C74C-F781-471B-B0BB-F7E9FE8D7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C8D9E63-4C5A-46A7-B986-F78C9F8A7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6272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B6472"/>
                </a:solidFill>
              </a:defRPr>
            </a:pPr>
            <a:r>
              <a:rPr sz="900">
                <a:solidFill>
                  <a:srgbClr val="5B6472"/>
                </a:solidFill>
              </a:rPr>
              <a:t>Gary Talks Stuff｜逐字稿主題整理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409F008-FCF1-4AE5-91D4-24825B8B9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62725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07 / 20</a:t>
            </a:r>
          </a:p>
        </p:txBody>
      </p:sp>
    </p:spTree>
    <p:extLst>
      <p:ext uri="{BB962C8B-B14F-4D97-AF65-F5344CB8AC3E}">
        <p14:creationId xmlns:p14="http://schemas.microsoft.com/office/powerpoint/2010/main" val="94104708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E8DAAA-2E50-4581-849E-C250075E3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Loop Engineering：把一次問答變成完成迴圈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4DF039-0300-479B-A323-76F13B780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876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8ABCDF-C041-4927-9C3C-3521E7758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479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4E9B07-DF16-4539-880E-A5C909DBA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81250"/>
            <a:ext cx="9829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11827"/>
                </a:solidFill>
              </a:defRPr>
            </a:pPr>
            <a:r>
              <a:rPr sz="1725">
                <a:solidFill>
                  <a:srgbClr val="111827"/>
                </a:solidFill>
              </a:rPr>
              <a:t>先決定迴圈何時開始，以及什麼算完成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BE2F1B-68E7-4F6E-8A53-20FCFCDF0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861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16894C-0250-47E0-A719-E54BC99D2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19450"/>
            <a:ext cx="9829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11827"/>
                </a:solidFill>
              </a:defRPr>
            </a:pPr>
            <a:r>
              <a:rPr sz="1725">
                <a:solidFill>
                  <a:srgbClr val="111827"/>
                </a:solidFill>
              </a:rPr>
              <a:t>讓 AI 能讀取狀態、執行動作、檢查結果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E24384-9AE9-4E1F-9B09-0E95F7690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243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E7C873-F9CB-4B82-9BBA-87D0E162C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57650"/>
            <a:ext cx="9829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11827"/>
                </a:solidFill>
              </a:defRPr>
            </a:pPr>
            <a:r>
              <a:rPr sz="1725">
                <a:solidFill>
                  <a:srgbClr val="111827"/>
                </a:solidFill>
              </a:rPr>
              <a:t>把人類判斷放在需要取捨與承擔風險的位置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82302A-57F2-4E1C-A933-E703EE4DE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625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308840-C435-47FC-84A8-844716A87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95850"/>
            <a:ext cx="9829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11827"/>
                </a:solidFill>
              </a:defRPr>
            </a:pPr>
            <a:r>
              <a:rPr sz="1725">
                <a:solidFill>
                  <a:srgbClr val="111827"/>
                </a:solidFill>
              </a:rPr>
              <a:t>不是所有任務都要自動化；迴圈的價值在於可重複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0BB8C2-BB2A-40D4-A4F8-FCC3970DD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4E31D5-397C-4AED-87F5-14E5B4DE6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6272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B6472"/>
                </a:solidFill>
              </a:defRPr>
            </a:pPr>
            <a:r>
              <a:rPr sz="900">
                <a:solidFill>
                  <a:srgbClr val="5B6472"/>
                </a:solidFill>
              </a:rPr>
              <a:t>Gary Talks Stuff｜逐字稿主題整理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5155F0-E2FD-4483-BCBB-0564ADE98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62725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08 / 20</a:t>
            </a:r>
          </a:p>
        </p:txBody>
      </p:sp>
    </p:spTree>
    <p:extLst>
      <p:ext uri="{BB962C8B-B14F-4D97-AF65-F5344CB8AC3E}">
        <p14:creationId xmlns:p14="http://schemas.microsoft.com/office/powerpoint/2010/main" val="142465664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037186-B14D-4ADB-9514-0ABFA02C3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Skills 把方法變成團隊與 Agent 都能使用的介面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6ABCD1-E500-4B26-9039-71FE6E10F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876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6FAD73-A345-4E9E-9B9D-0A7D28D98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563EB"/>
                </a:solidFill>
              </a:defRPr>
            </a:pPr>
            <a:r>
              <a:rPr sz="1800" b="1">
                <a:solidFill>
                  <a:srgbClr val="2563EB"/>
                </a:solidFill>
              </a:rPr>
              <a:t>值得做成 Skill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C89D45-F3A2-4057-AB78-E06D5F0E5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4762500" cy="3000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11827"/>
                </a:solidFill>
              </a:defRPr>
            </a:pPr>
            <a:r>
              <a:rPr sz="1575">
                <a:solidFill>
                  <a:srgbClr val="111827"/>
                </a:solidFill>
              </a:rPr>
              <a:t>步驟穩定、會重複、需要固定輸出格式，或新成員經常重新摸索的工作。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E9D071-4736-4B2A-857F-D3F55D3C6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809750"/>
            <a:ext cx="5410200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2A11DF-0200-440C-9C1E-05E351E96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190750"/>
            <a:ext cx="457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563EB"/>
                </a:solidFill>
              </a:defRPr>
            </a:pPr>
            <a:r>
              <a:rPr sz="1800" b="1">
                <a:solidFill>
                  <a:srgbClr val="2563EB"/>
                </a:solidFill>
              </a:rPr>
              <a:t>Skill 不等於長 Prompt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49D017-D856-4E09-88D2-FEFBFB114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857500"/>
            <a:ext cx="447675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11827"/>
                </a:solidFill>
              </a:defRPr>
            </a:pPr>
            <a:r>
              <a:rPr sz="1575">
                <a:solidFill>
                  <a:srgbClr val="111827"/>
                </a:solidFill>
              </a:rPr>
              <a:t>它可以搭配 references、scripts 與驗收條件，並且要能維護、更新、刪除過時規則。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C2EB3F-2A24-4430-81E9-BB0DED674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4217C8-7CA8-4293-A28C-E305B326C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6272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B6472"/>
                </a:solidFill>
              </a:defRPr>
            </a:pPr>
            <a:r>
              <a:rPr sz="900">
                <a:solidFill>
                  <a:srgbClr val="5B6472"/>
                </a:solidFill>
              </a:rPr>
              <a:t>Gary Talks Stuff｜逐字稿主題整理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C5D3D9-731F-412F-93B3-4AA41FC6C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62725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09 / 20</a:t>
            </a:r>
          </a:p>
        </p:txBody>
      </p:sp>
    </p:spTree>
    <p:extLst>
      <p:ext uri="{BB962C8B-B14F-4D97-AF65-F5344CB8AC3E}">
        <p14:creationId xmlns:p14="http://schemas.microsoft.com/office/powerpoint/2010/main" val="182058112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89F0E0-7336-4F84-BFB9-23405FE75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CLAUDE.md／AGENTS.md：把專案記憶放到模型看得到的地方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9FDBE9-C69E-4D4D-83CE-6DF6BE5AC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876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7B159E-A7CD-4C55-8CE6-A734D3EFF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479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755F31-5674-446B-A724-0DEABA111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81250"/>
            <a:ext cx="9829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11827"/>
                </a:solidFill>
              </a:defRPr>
            </a:pPr>
            <a:r>
              <a:rPr sz="1725">
                <a:solidFill>
                  <a:srgbClr val="111827"/>
                </a:solidFill>
              </a:rPr>
              <a:t>寫清楚專案慣例、命名、不可碰的範圍與驗證方式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EAA2F9-FFF6-4C4D-BE9F-1FD8AB666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861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57FB7B-2D81-4227-BD56-1E01939E1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19450"/>
            <a:ext cx="9829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11827"/>
                </a:solidFill>
              </a:defRPr>
            </a:pPr>
            <a:r>
              <a:rPr sz="1725">
                <a:solidFill>
                  <a:srgbClr val="111827"/>
                </a:solidFill>
              </a:rPr>
              <a:t>讓規則跟著 repo 走，而不是只存在某個人的記憶裡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D0F4B4-43F4-4F98-8F94-05F423312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243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A36429-472C-43F7-8E8C-EB4BF96D4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57650"/>
            <a:ext cx="9829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11827"/>
                </a:solidFill>
              </a:defRPr>
            </a:pPr>
            <a:r>
              <a:rPr sz="1725">
                <a:solidFill>
                  <a:srgbClr val="111827"/>
                </a:solidFill>
              </a:rPr>
              <a:t>規則要會演化：新增前先搜尋衝突，定期清理過時內容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011A08-29D6-4151-9761-0943FC93A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625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089A7F-88BE-4360-A10F-525F7AF8E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95850"/>
            <a:ext cx="9829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11827"/>
                </a:solidFill>
              </a:defRPr>
            </a:pPr>
            <a:r>
              <a:rPr sz="1725">
                <a:solidFill>
                  <a:srgbClr val="111827"/>
                </a:solidFill>
              </a:rPr>
              <a:t>它們不是替代判斷，而是降低每次重新解釋的成本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5436B9-4317-4492-BBD6-6F80CD607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EA7EA8-AAE7-4608-BEAD-92DD715D4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6272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B6472"/>
                </a:solidFill>
              </a:defRPr>
            </a:pPr>
            <a:r>
              <a:rPr sz="900">
                <a:solidFill>
                  <a:srgbClr val="5B6472"/>
                </a:solidFill>
              </a:rPr>
              <a:t>Gary Talks Stuff｜逐字稿主題整理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00A970-45BC-47C2-977E-5D8610054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62725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10 / 20</a:t>
            </a:r>
          </a:p>
        </p:txBody>
      </p:sp>
    </p:spTree>
    <p:extLst>
      <p:ext uri="{BB962C8B-B14F-4D97-AF65-F5344CB8AC3E}">
        <p14:creationId xmlns:p14="http://schemas.microsoft.com/office/powerpoint/2010/main" val="16919178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B2A6E15-B777-477F-B609-425D91D6A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MCP、A2A、Skills：三種不同的連接方式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F6D6F7-6B32-4961-BCC6-2EAB9FFCB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876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57F675-EB28-47B0-B1BB-FE4AD4612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10820400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E57C3B-8766-474E-92D2-59D2AA602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95500"/>
            <a:ext cx="247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563EB"/>
                </a:solidFill>
              </a:defRPr>
            </a:pPr>
            <a:r>
              <a:rPr sz="1425" b="1">
                <a:solidFill>
                  <a:srgbClr val="2563EB"/>
                </a:solidFill>
              </a:rPr>
              <a:t>MCP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401426-B489-4712-B07B-99C0895FD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095500"/>
            <a:ext cx="742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11827"/>
                </a:solidFill>
              </a:defRPr>
            </a:pPr>
            <a:r>
              <a:rPr sz="1350">
                <a:solidFill>
                  <a:srgbClr val="111827"/>
                </a:solidFill>
              </a:rPr>
              <a:t>讓模型連到資料、工具與外部服務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C9D2E7-502A-40E5-9A45-D57C221DE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57475"/>
            <a:ext cx="10820400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9B8E88-D083-4950-951F-D55B1BA6B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00350"/>
            <a:ext cx="247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563EB"/>
                </a:solidFill>
              </a:defRPr>
            </a:pPr>
            <a:r>
              <a:rPr sz="1425" b="1">
                <a:solidFill>
                  <a:srgbClr val="2563EB"/>
                </a:solidFill>
              </a:rPr>
              <a:t>A2A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5520BF-DFAC-4B65-83A0-E16FD1AD2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800350"/>
            <a:ext cx="742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11827"/>
                </a:solidFill>
              </a:defRPr>
            </a:pPr>
            <a:r>
              <a:rPr sz="1350">
                <a:solidFill>
                  <a:srgbClr val="111827"/>
                </a:solidFill>
              </a:rPr>
              <a:t>讓不同 Agent 彼此協作、交換任務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099284-362C-4020-85C7-799331F55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62325"/>
            <a:ext cx="10820400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F39E9D-BA1A-4C16-8501-97AC5453C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05200"/>
            <a:ext cx="247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563EB"/>
                </a:solidFill>
              </a:defRPr>
            </a:pPr>
            <a:r>
              <a:rPr sz="1425" b="1">
                <a:solidFill>
                  <a:srgbClr val="2563EB"/>
                </a:solidFill>
              </a:rPr>
              <a:t>Skills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386315-1EDE-43FD-8A5E-181A986CA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505200"/>
            <a:ext cx="742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11827"/>
                </a:solidFill>
              </a:defRPr>
            </a:pPr>
            <a:r>
              <a:rPr sz="1350">
                <a:solidFill>
                  <a:srgbClr val="111827"/>
                </a:solidFill>
              </a:rPr>
              <a:t>把流程與專業做法封裝成可重複介面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5E0C97-0542-4FAC-B174-0DB1AFDA5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67175"/>
            <a:ext cx="10820400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89F532-3D05-40F9-A35F-A7CAA67BB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10050"/>
            <a:ext cx="247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563EB"/>
                </a:solidFill>
              </a:defRPr>
            </a:pPr>
            <a:r>
              <a:rPr sz="1425" b="1">
                <a:solidFill>
                  <a:srgbClr val="2563EB"/>
                </a:solidFill>
              </a:rPr>
              <a:t>Meta-Skill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7B07A8-EF32-41E1-8888-33F850799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210050"/>
            <a:ext cx="742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11827"/>
                </a:solidFill>
              </a:defRPr>
            </a:pPr>
            <a:r>
              <a:rPr sz="1350">
                <a:solidFill>
                  <a:srgbClr val="111827"/>
                </a:solidFill>
              </a:rPr>
              <a:t>讓流程本身能被持續改善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A5FAF3-5F6A-4182-A7DF-1D302A786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4E0C24-6B4F-4FCA-B1F9-1E72909A1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6272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B6472"/>
                </a:solidFill>
              </a:defRPr>
            </a:pPr>
            <a:r>
              <a:rPr sz="900">
                <a:solidFill>
                  <a:srgbClr val="5B6472"/>
                </a:solidFill>
              </a:rPr>
              <a:t>Gary Talks Stuff｜逐字稿主題整理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03A3F2E-3F0E-4F38-B441-D5176827D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62725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11 / 20</a:t>
            </a:r>
          </a:p>
        </p:txBody>
      </p:sp>
    </p:spTree>
    <p:extLst>
      <p:ext uri="{BB962C8B-B14F-4D97-AF65-F5344CB8AC3E}">
        <p14:creationId xmlns:p14="http://schemas.microsoft.com/office/powerpoint/2010/main" val="141049226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2EAAC80-6A13-4F91-A544-0A6EC2F0F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Harness Engineering：先改環境，再談大規模自動化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B5AC70-EB09-4561-A095-421E9891E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876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4B40BD-BD2A-4DFE-B403-09D53875E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190875"/>
            <a:ext cx="828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C99520-96FC-4295-BEAF-8CD221B1A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285750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D35B4C-2524-4806-A998-8A1C0AC6A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" y="2981325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1D3DE1-9D81-4FEE-9281-4A4BF8201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2533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明確規格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193633-2391-4A01-9E54-E68E58C2D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0"/>
            <a:ext cx="2381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5B6472"/>
                </a:solidFill>
              </a:defRPr>
            </a:pPr>
            <a:r>
              <a:rPr sz="1275">
                <a:solidFill>
                  <a:srgbClr val="5B6472"/>
                </a:solidFill>
              </a:rPr>
              <a:t>讓目標可驗證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DD997B-F525-482F-9B4E-C45C7745B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85750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24C7DD-AD83-41F9-BA04-51788B425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2981325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407EC5-0F54-4749-88BA-D1719F636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714750"/>
            <a:ext cx="2533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工具護欄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AB5BAF-C592-431C-950B-CA8A14671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286250"/>
            <a:ext cx="2381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5B6472"/>
                </a:solidFill>
              </a:defRPr>
            </a:pPr>
            <a:r>
              <a:rPr sz="1275">
                <a:solidFill>
                  <a:srgbClr val="5B6472"/>
                </a:solidFill>
              </a:rPr>
              <a:t>限制可做與不可做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4B6587-A8DF-4DCD-9DD1-58092E7CC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285750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A97BE6-4E8B-4EE2-AE91-9BA230FFC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2981325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C22C5F-0C69-46CF-8373-46C024E9C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714750"/>
            <a:ext cx="2533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自動評估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6064C1-5FBE-4CDC-ACD7-06C02E281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286250"/>
            <a:ext cx="2381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5B6472"/>
                </a:solidFill>
              </a:defRPr>
            </a:pPr>
            <a:r>
              <a:rPr sz="1275">
                <a:solidFill>
                  <a:srgbClr val="5B6472"/>
                </a:solidFill>
              </a:rPr>
              <a:t>持續檢查品質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A1FD56-E9AF-4EDA-9CE9-105249B25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2675" y="285750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76353E-1299-4E1F-86D2-D18DE08C3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6975" y="2981325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8FB56B0-23F6-4361-A119-B531046E6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714750"/>
            <a:ext cx="2533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人類覆核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1848E59-B2A8-499C-A06A-6A5F88FC1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286250"/>
            <a:ext cx="2381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5B6472"/>
                </a:solidFill>
              </a:defRPr>
            </a:pPr>
            <a:r>
              <a:rPr sz="1275">
                <a:solidFill>
                  <a:srgbClr val="5B6472"/>
                </a:solidFill>
              </a:rPr>
              <a:t>保留關鍵決策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AFCCBFB-673B-4428-A2A4-7A49D7143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1F7CF62-D2B2-4A3E-843D-77BB12F8A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6272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B6472"/>
                </a:solidFill>
              </a:defRPr>
            </a:pPr>
            <a:r>
              <a:rPr sz="900">
                <a:solidFill>
                  <a:srgbClr val="5B6472"/>
                </a:solidFill>
              </a:rPr>
              <a:t>Gary Talks Stuff｜逐字稿主題整理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E2E3E7E-0FA3-4EC6-9216-089500730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62725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12 / 20</a:t>
            </a:r>
          </a:p>
        </p:txBody>
      </p:sp>
    </p:spTree>
    <p:extLst>
      <p:ext uri="{BB962C8B-B14F-4D97-AF65-F5344CB8AC3E}">
        <p14:creationId xmlns:p14="http://schemas.microsoft.com/office/powerpoint/2010/main" val="110674156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1BF7F5-B4FB-47A0-B8BC-E89B1375D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讓 AI 上正式環境，關鍵是可控而不是盲信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9B3714-7D64-4A17-8858-A25153CFA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876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E2FA10-73D1-4FB0-8418-9561B60F9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479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5E1981-D256-46DA-8DC4-25F76DA45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81250"/>
            <a:ext cx="9829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11827"/>
                </a:solidFill>
              </a:defRPr>
            </a:pPr>
            <a:r>
              <a:rPr sz="1725">
                <a:solidFill>
                  <a:srgbClr val="111827"/>
                </a:solidFill>
              </a:rPr>
              <a:t>把部署權限、資料範圍與危險動作分開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84D823-D4C7-4C48-A2BA-0AA843575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861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7E690D-9CFD-4BA8-A685-7CD7ADBAC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19450"/>
            <a:ext cx="9829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11827"/>
                </a:solidFill>
              </a:defRPr>
            </a:pPr>
            <a:r>
              <a:rPr sz="1725">
                <a:solidFill>
                  <a:srgbClr val="111827"/>
                </a:solidFill>
              </a:rPr>
              <a:t>用 specs、evals 與測試把『應該怎樣』寫清楚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B4D406-688E-499D-919E-2831C6D75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243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9C06C2-9511-4C96-8597-DBEA26DD9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57650"/>
            <a:ext cx="9829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11827"/>
                </a:solidFill>
              </a:defRPr>
            </a:pPr>
            <a:r>
              <a:rPr sz="1725">
                <a:solidFill>
                  <a:srgbClr val="111827"/>
                </a:solidFill>
              </a:rPr>
              <a:t>高風險動作要有 checkpoint，不要讓速度掩蓋錯誤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1AEDE5-EC7D-4F92-BF15-EFBFCFD65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625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2DAA9C-ECE5-4945-91B4-BC3DFC738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95850"/>
            <a:ext cx="9829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11827"/>
                </a:solidFill>
              </a:defRPr>
            </a:pPr>
            <a:r>
              <a:rPr sz="1725">
                <a:solidFill>
                  <a:srgbClr val="111827"/>
                </a:solidFill>
              </a:rPr>
              <a:t>先建立可回復機制，才有資格擴大自動化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202182-7C2F-449A-A238-114A1BEA5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CDD962-2140-4C71-9979-B485CD2C3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6272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B6472"/>
                </a:solidFill>
              </a:defRPr>
            </a:pPr>
            <a:r>
              <a:rPr sz="900">
                <a:solidFill>
                  <a:srgbClr val="5B6472"/>
                </a:solidFill>
              </a:rPr>
              <a:t>Gary Talks Stuff｜逐字稿主題整理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0C0A97-CEAA-4ABB-A15F-95CC09979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62725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13 / 20</a:t>
            </a:r>
          </a:p>
        </p:txBody>
      </p:sp>
    </p:spTree>
    <p:extLst>
      <p:ext uri="{BB962C8B-B14F-4D97-AF65-F5344CB8AC3E}">
        <p14:creationId xmlns:p14="http://schemas.microsoft.com/office/powerpoint/2010/main" val="172667389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BC8BD1-D9D4-4373-B8E3-DC6E07A82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多工具工作流：不是追逐 FOMO，而是任務分工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3A40D6-1B12-4D8F-91ED-D87CA4CF7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876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086558-6305-4832-BB73-1083B6DFD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479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BE2793-85A7-46D6-9777-635F02F16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81250"/>
            <a:ext cx="9829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11827"/>
                </a:solidFill>
              </a:defRPr>
            </a:pPr>
            <a:r>
              <a:rPr sz="1725">
                <a:solidFill>
                  <a:srgbClr val="111827"/>
                </a:solidFill>
              </a:rPr>
              <a:t>規劃、搜尋、寫作、編碼、設計、審查不必由同一個工具包辦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4168EC-55F6-40C8-9BCF-644B592A8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861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451990-AC51-4015-8438-93E68BD47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19450"/>
            <a:ext cx="9829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11827"/>
                </a:solidFill>
              </a:defRPr>
            </a:pPr>
            <a:r>
              <a:rPr sz="1725">
                <a:solidFill>
                  <a:srgbClr val="111827"/>
                </a:solidFill>
              </a:rPr>
              <a:t>選工具時看任務特性、成本、速度與失誤代價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F172CD-7FE4-4458-AA35-6DA6C3F05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243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42F5C7-5A60-46C4-9139-A4ADC3E82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57650"/>
            <a:ext cx="9829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11827"/>
                </a:solidFill>
              </a:defRPr>
            </a:pPr>
            <a:r>
              <a:rPr sz="1725">
                <a:solidFill>
                  <a:srgbClr val="111827"/>
                </a:solidFill>
              </a:rPr>
              <a:t>把決策邏輯固定下來，才能累積成團隊能力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464C6E-E092-4344-8042-9715DFD77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625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5F28BC-F0EE-46ED-A518-212E510D3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95850"/>
            <a:ext cx="9829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11827"/>
                </a:solidFill>
              </a:defRPr>
            </a:pPr>
            <a:r>
              <a:rPr sz="1725">
                <a:solidFill>
                  <a:srgbClr val="111827"/>
                </a:solidFill>
              </a:rPr>
              <a:t>工具越多不代表系統越好；可理解、可維護才是標準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C44E99-50A0-4350-826B-F75BE99E9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56EC62-B9B4-40D6-8DA2-6901D99F4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6272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B6472"/>
                </a:solidFill>
              </a:defRPr>
            </a:pPr>
            <a:r>
              <a:rPr sz="900">
                <a:solidFill>
                  <a:srgbClr val="5B6472"/>
                </a:solidFill>
              </a:rPr>
              <a:t>Gary Talks Stuff｜逐字稿主題整理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373958-EE20-49C8-ACA3-14E9E4E9B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62725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14 / 20</a:t>
            </a:r>
          </a:p>
        </p:txBody>
      </p:sp>
    </p:spTree>
    <p:extLst>
      <p:ext uri="{BB962C8B-B14F-4D97-AF65-F5344CB8AC3E}">
        <p14:creationId xmlns:p14="http://schemas.microsoft.com/office/powerpoint/2010/main" val="153239448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E7381C-6FA8-47F9-9296-12BCC37A1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Git 是 AI 協作的安全網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D8F05B-095B-4A1D-9B6D-7C80165FA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876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654CE1-B655-4933-AE5D-5597A48AD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563EB"/>
                </a:solidFill>
              </a:defRPr>
            </a:pPr>
            <a:r>
              <a:rPr sz="1800" b="1">
                <a:solidFill>
                  <a:srgbClr val="2563EB"/>
                </a:solidFill>
              </a:rPr>
              <a:t>可追蹤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5BBA35-D59C-4EFF-9122-9F9C3BD36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4762500" cy="3000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11827"/>
                </a:solidFill>
              </a:defRPr>
            </a:pPr>
            <a:r>
              <a:rPr sz="1575">
                <a:solidFill>
                  <a:srgbClr val="111827"/>
                </a:solidFill>
              </a:rPr>
              <a:t>每次修改都有提交、差異與作者，能回頭理解 AI 做了什麼。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EEB610-27FC-4BEF-8527-41CD5342F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809750"/>
            <a:ext cx="5410200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A1B9A2-A9DA-4BE8-B0E2-1DDF1D6D2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190750"/>
            <a:ext cx="457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563EB"/>
                </a:solidFill>
              </a:defRPr>
            </a:pPr>
            <a:r>
              <a:rPr sz="1800" b="1">
                <a:solidFill>
                  <a:srgbClr val="2563EB"/>
                </a:solidFill>
              </a:rPr>
              <a:t>可回復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31E138-74DE-4B93-B5A7-85ACF9FC1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857500"/>
            <a:ext cx="447675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11827"/>
                </a:solidFill>
              </a:defRPr>
            </a:pPr>
            <a:r>
              <a:rPr sz="1575">
                <a:solidFill>
                  <a:srgbClr val="111827"/>
                </a:solidFill>
              </a:rPr>
              <a:t>分支、Pull Request 與版本紀錄，讓試錯不必變成不可逆的破壞。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AFD59F-E7EC-450F-A092-1310722D3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9B3D64-761A-4122-A950-405C6BC07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6272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B6472"/>
                </a:solidFill>
              </a:defRPr>
            </a:pPr>
            <a:r>
              <a:rPr sz="900">
                <a:solidFill>
                  <a:srgbClr val="5B6472"/>
                </a:solidFill>
              </a:rPr>
              <a:t>Gary Talks Stuff｜逐字稿主題整理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14C9BE-1F33-4D99-8C0B-588C40B04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62725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15 / 20</a:t>
            </a:r>
          </a:p>
        </p:txBody>
      </p:sp>
    </p:spTree>
    <p:extLst>
      <p:ext uri="{BB962C8B-B14F-4D97-AF65-F5344CB8AC3E}">
        <p14:creationId xmlns:p14="http://schemas.microsoft.com/office/powerpoint/2010/main" val="160947654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D9A661-9131-435C-8C1B-92A2E871A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Code Review 的重點，是把上下文帶回來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580FCA-F54E-4AE4-A94C-6FBB3DBF2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876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39A2C1-00C0-483C-AA82-F209ED2A5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479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4208E3-0C52-4DE3-8D81-106AF3B0C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81250"/>
            <a:ext cx="9829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11827"/>
                </a:solidFill>
              </a:defRPr>
            </a:pPr>
            <a:r>
              <a:rPr sz="1725">
                <a:solidFill>
                  <a:srgbClr val="111827"/>
                </a:solidFill>
              </a:rPr>
              <a:t>先確認修改是否符合需求，不只看程式能否執行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C71353-2FEF-4FD1-A17A-4E8A3F40A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861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4E1E32-6714-45EC-87E4-CE42C3055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19450"/>
            <a:ext cx="9829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11827"/>
                </a:solidFill>
              </a:defRPr>
            </a:pPr>
            <a:r>
              <a:rPr sz="1725">
                <a:solidFill>
                  <a:srgbClr val="111827"/>
                </a:solidFill>
              </a:rPr>
              <a:t>檢查相依模組、邊界條件、測試與使用者流程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E2BF4A-780B-4305-BC05-FA1D52479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243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5729F6-C420-4AB9-B790-E571BEFC2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57650"/>
            <a:ext cx="9829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11827"/>
                </a:solidFill>
              </a:defRPr>
            </a:pPr>
            <a:r>
              <a:rPr sz="1725">
                <a:solidFill>
                  <a:srgbClr val="111827"/>
                </a:solidFill>
              </a:rPr>
              <a:t>讓 Claude、Codex 分別扮演產出與審查角色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D4F23A-E00C-42E2-816C-15461CDC4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625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0120C4-FF5C-43E3-A4E1-6DDDA2FA9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95850"/>
            <a:ext cx="9829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11827"/>
                </a:solidFill>
              </a:defRPr>
            </a:pPr>
            <a:r>
              <a:rPr sz="1725">
                <a:solidFill>
                  <a:srgbClr val="111827"/>
                </a:solidFill>
              </a:rPr>
              <a:t>把反覆出現的審查規則整理成可重複流程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6B001B-0129-4D89-8EED-7FD12F378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1A1FF8-6459-46B6-828C-606EDEF10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6272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B6472"/>
                </a:solidFill>
              </a:defRPr>
            </a:pPr>
            <a:r>
              <a:rPr sz="900">
                <a:solidFill>
                  <a:srgbClr val="5B6472"/>
                </a:solidFill>
              </a:rPr>
              <a:t>Gary Talks Stuff｜逐字稿主題整理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948096-C6C3-4346-B860-44F26DDDC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62725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16 / 20</a:t>
            </a:r>
          </a:p>
        </p:txBody>
      </p:sp>
    </p:spTree>
    <p:extLst>
      <p:ext uri="{BB962C8B-B14F-4D97-AF65-F5344CB8AC3E}">
        <p14:creationId xmlns:p14="http://schemas.microsoft.com/office/powerpoint/2010/main" val="123883220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0FFBD5-8E9C-42CF-BD02-DC96F80EF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不同 Agent 框架，反覆出現相同骨架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93C7B2-AD2A-442E-A44E-0995624C0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876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2CB7AA-8AF8-42D1-BF6A-0228182B0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563EB"/>
                </a:solidFill>
              </a:defRPr>
            </a:pPr>
            <a:r>
              <a:rPr sz="1800" b="1">
                <a:solidFill>
                  <a:srgbClr val="2563EB"/>
                </a:solidFill>
              </a:rPr>
              <a:t>共同結構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AD4F58-7063-4BD3-B498-92FAD388C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4762500" cy="3000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11827"/>
                </a:solidFill>
              </a:defRPr>
            </a:pPr>
            <a:r>
              <a:rPr sz="1575">
                <a:solidFill>
                  <a:srgbClr val="111827"/>
                </a:solidFill>
              </a:rPr>
              <a:t>接收任務 → 讀取上下文 → 呼叫工具 → 觀察結果 → 迭代或結束。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983EB6-D530-457F-BEA1-203A44629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809750"/>
            <a:ext cx="5410200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1EDABD-7695-44D1-91B5-9874F8313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190750"/>
            <a:ext cx="457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563EB"/>
                </a:solidFill>
              </a:defRPr>
            </a:pPr>
            <a:r>
              <a:rPr sz="1800" b="1">
                <a:solidFill>
                  <a:srgbClr val="2563EB"/>
                </a:solidFill>
              </a:rPr>
              <a:t>真正差異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8B55C5-913B-4ED9-90D7-716CC6AA1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857500"/>
            <a:ext cx="447675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11827"/>
                </a:solidFill>
              </a:defRPr>
            </a:pPr>
            <a:r>
              <a:rPr sz="1575">
                <a:solidFill>
                  <a:srgbClr val="111827"/>
                </a:solidFill>
              </a:rPr>
              <a:t>工具權限、狀態保存、錯誤處理、評估方式與人類介入點，決定系統可靠度。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021710-868E-4482-96B3-B26C7F3E9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8350A3-9BB1-47B1-B24B-1BB68591D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6272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B6472"/>
                </a:solidFill>
              </a:defRPr>
            </a:pPr>
            <a:r>
              <a:rPr sz="900">
                <a:solidFill>
                  <a:srgbClr val="5B6472"/>
                </a:solidFill>
              </a:rPr>
              <a:t>Gary Talks Stuff｜逐字稿主題整理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BCBA5A-7E08-49CE-8751-11F7965ED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62725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17 / 20</a:t>
            </a:r>
          </a:p>
        </p:txBody>
      </p:sp>
    </p:spTree>
    <p:extLst>
      <p:ext uri="{BB962C8B-B14F-4D97-AF65-F5344CB8AC3E}">
        <p14:creationId xmlns:p14="http://schemas.microsoft.com/office/powerpoint/2010/main" val="143223492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3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A59CC6-BF9B-4129-A9CB-225E938B0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核心句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0C37A5-C849-406F-A739-40D2786FC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000250"/>
            <a:ext cx="9810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11827"/>
                </a:solidFill>
              </a:defRPr>
            </a:pPr>
            <a:r>
              <a:rPr sz="3225" b="1">
                <a:solidFill>
                  <a:srgbClr val="111827"/>
                </a:solidFill>
              </a:rPr>
              <a:t>「定義問題、做取捨、建立標準，才是 AI 時代最稀缺的能力。」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3282FB-08AD-4801-BEEF-55C7312CB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953000"/>
            <a:ext cx="857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B6472"/>
                </a:solidFill>
              </a:defRPr>
            </a:pPr>
            <a:r>
              <a:rPr sz="1350">
                <a:solidFill>
                  <a:srgbClr val="5B6472"/>
                </a:solidFill>
              </a:rPr>
              <a:t>跨影片歸納：設計品味、任務定義、風險判斷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9CDAEB-956E-40D4-9D79-3D430AA5F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474F17-8436-4474-BD36-2660E3E3A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6272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B6472"/>
                </a:solidFill>
              </a:defRPr>
            </a:pPr>
            <a:r>
              <a:rPr sz="900">
                <a:solidFill>
                  <a:srgbClr val="5B6472"/>
                </a:solidFill>
              </a:rPr>
              <a:t>Gary Talks Stuff｜逐字稿主題整理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E65109-5291-4A8A-90F1-5637D7D6C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62725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18 / 20</a:t>
            </a:r>
          </a:p>
        </p:txBody>
      </p:sp>
    </p:spTree>
    <p:extLst>
      <p:ext uri="{BB962C8B-B14F-4D97-AF65-F5344CB8AC3E}">
        <p14:creationId xmlns:p14="http://schemas.microsoft.com/office/powerpoint/2010/main" val="29015098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D744AC8-D114-4BBE-ADB0-BDBF1C19A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一套可落地的 AI-native 工作循環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AA11C4-9572-4785-A7D6-2A9AD31AA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876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042CEB-97B3-4D9D-9672-3A4B806ED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190875"/>
            <a:ext cx="828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C75929-8E37-469E-896B-29DF01E59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285750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B2FED3-EDDB-4505-9F0C-CB9967B34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" y="2981325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B42C95-4B50-4188-9297-AD98B7C10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2533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定義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901C32-A1E7-4E19-A59A-ED6FA4957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0"/>
            <a:ext cx="2381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5B6472"/>
                </a:solidFill>
              </a:defRPr>
            </a:pPr>
            <a:r>
              <a:rPr sz="1275">
                <a:solidFill>
                  <a:srgbClr val="5B6472"/>
                </a:solidFill>
              </a:rPr>
              <a:t>背景、限制、完成條件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079082-F148-42AC-9C9C-73A93C24D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85750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609A94-75BE-408B-A950-121FFCE87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2981325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16B034-3E6F-4D3E-91D4-915A73AAA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714750"/>
            <a:ext cx="2533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分工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909D5C-93EA-492A-8323-1F5633F80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286250"/>
            <a:ext cx="2381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5B6472"/>
                </a:solidFill>
              </a:defRPr>
            </a:pPr>
            <a:r>
              <a:rPr sz="1275">
                <a:solidFill>
                  <a:srgbClr val="5B6472"/>
                </a:solidFill>
              </a:rPr>
              <a:t>模型與工具路由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6C169F-9008-400A-A8DF-F8FCACB20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285750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C11054-FD4F-46FB-B646-49C6A8865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2981325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EA2CCD-206B-4908-923F-EC383FC4F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714750"/>
            <a:ext cx="2533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執行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9E4E71-4F7D-4B1E-987C-4E7E2AB1A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286250"/>
            <a:ext cx="2381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5B6472"/>
                </a:solidFill>
              </a:defRPr>
            </a:pPr>
            <a:r>
              <a:rPr sz="1275">
                <a:solidFill>
                  <a:srgbClr val="5B6472"/>
                </a:solidFill>
              </a:rPr>
              <a:t>保留狀態與證據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5BA91D-5B48-4CCE-B84F-ADD7FCF49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2675" y="285750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A0C1054-610C-48CB-A997-13DE172FA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6975" y="2981325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0BF8A85-FD39-4761-A8C0-5021B9BDB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714750"/>
            <a:ext cx="2533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驗收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DF6B280-C8DA-4D8E-92AC-B5C00E6B5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286250"/>
            <a:ext cx="2381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5B6472"/>
                </a:solidFill>
              </a:defRPr>
            </a:pPr>
            <a:r>
              <a:rPr sz="1275">
                <a:solidFill>
                  <a:srgbClr val="5B6472"/>
                </a:solidFill>
              </a:rPr>
              <a:t>測試、審查、回寫 Skill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FAD6E54-21E4-4E71-8EF0-4F43B7604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E2F2F5F-BA40-4C02-8328-B626B252B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6272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B6472"/>
                </a:solidFill>
              </a:defRPr>
            </a:pPr>
            <a:r>
              <a:rPr sz="900">
                <a:solidFill>
                  <a:srgbClr val="5B6472"/>
                </a:solidFill>
              </a:rPr>
              <a:t>Gary Talks Stuff｜逐字稿主題整理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1B6623A-E58D-457F-BD65-7C6BBAE85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62725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19 / 20</a:t>
            </a:r>
          </a:p>
        </p:txBody>
      </p:sp>
    </p:spTree>
    <p:extLst>
      <p:ext uri="{BB962C8B-B14F-4D97-AF65-F5344CB8AC3E}">
        <p14:creationId xmlns:p14="http://schemas.microsoft.com/office/powerpoint/2010/main" val="923839687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305945-B1CA-4737-ABE4-C54F0950D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14300" cy="548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135BCB-2664-43D6-A195-04075B443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428750"/>
            <a:ext cx="9048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11827"/>
                </a:solidFill>
              </a:defRPr>
            </a:pPr>
            <a:r>
              <a:rPr sz="3600" b="1">
                <a:solidFill>
                  <a:srgbClr val="111827"/>
                </a:solidFill>
              </a:rPr>
              <a:t>帶走三件事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79F64C-F5B9-4632-9324-D195C47B9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62250"/>
            <a:ext cx="7620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5B6472"/>
                </a:solidFill>
              </a:defRPr>
            </a:pPr>
            <a:r>
              <a:rPr sz="1800">
                <a:solidFill>
                  <a:srgbClr val="5B6472"/>
                </a:solidFill>
              </a:rPr>
              <a:t>AI-native 不是把人排除在外，而是把人的判斷放到更有槓桿的位置。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847A4B-1621-425E-8512-A8A3C2867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1148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DAAB6C-9287-4A2A-BE1B-2456452CC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048125"/>
            <a:ext cx="8382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先把任務說清楚，再選模型與工具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26EA4B-61F1-4952-AEFF-A75E158F2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7434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3413DA-D0A1-49CE-BA05-1DBD6D456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676775"/>
            <a:ext cx="8382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11827"/>
                </a:solidFill>
              </a:defRPr>
            </a:pPr>
            <a:r>
              <a:rPr sz="1800" b="0">
                <a:solidFill>
                  <a:srgbClr val="111827"/>
                </a:solidFill>
              </a:rPr>
              <a:t>把穩定流程寫成外部記憶與可驗收規格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C0D3BB-8E7F-423A-819E-C45F24AA0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3721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299A3A-7AD8-4113-BEEC-A97BB8A82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305425"/>
            <a:ext cx="8382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11827"/>
                </a:solidFill>
              </a:defRPr>
            </a:pPr>
            <a:r>
              <a:rPr sz="1800" b="0">
                <a:solidFill>
                  <a:srgbClr val="111827"/>
                </a:solidFill>
              </a:rPr>
              <a:t>每一次自動化，都要保留回復與人工覆核的路徑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DC7374-EC83-41D9-9469-97B7FE3B2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B17A1C-97CD-44A0-987C-EF31EF6C2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6272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B6472"/>
                </a:solidFill>
              </a:defRPr>
            </a:pPr>
            <a:r>
              <a:rPr sz="900">
                <a:solidFill>
                  <a:srgbClr val="5B6472"/>
                </a:solidFill>
              </a:rPr>
              <a:t>Gary Talks Stuff｜逐字稿主題整理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5CE9D4-815B-4C5A-84A1-8E7142827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62725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20 / 20</a:t>
            </a:r>
          </a:p>
        </p:txBody>
      </p:sp>
    </p:spTree>
    <p:extLst>
      <p:ext uri="{BB962C8B-B14F-4D97-AF65-F5344CB8AC3E}">
        <p14:creationId xmlns:p14="http://schemas.microsoft.com/office/powerpoint/2010/main" val="143071943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2026-08-09T07:25:22.6550000Z</dcterms:created>
  <dcterms:modified xsi:type="dcterms:W3CDTF">2026-08-09T07:25:22.6550000Z</dcterms:modified>
</coreProperties>
</file>