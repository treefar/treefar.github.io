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618f91f3c44caf" /><Relationship Type="http://schemas.openxmlformats.org/officeDocument/2006/relationships/extended-properties" Target="/docProps/app.xml" Id="R9e233f5fc25742bd" /><Relationship Type="http://schemas.openxmlformats.org/officeDocument/2006/relationships/officeDocument" Target="/ppt/presentation.xml" Id="Rff74ee4fe39042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f0230f35234d7f"/>
  </p:sldMasterIdLst>
  <p:notesMasterIdLst>
    <p:notesMasterId xmlns:r="http://schemas.openxmlformats.org/officeDocument/2006/relationships" r:id="Re9f675bf341d4fd4"/>
  </p:notesMasterIdLst>
  <p:sldIdLst>
    <p:sldId xmlns:r="http://schemas.openxmlformats.org/officeDocument/2006/relationships" id="256" r:id="Rf5aec83a464243b7"/>
    <p:sldId xmlns:r="http://schemas.openxmlformats.org/officeDocument/2006/relationships" id="257" r:id="R421f6e7fa8254286"/>
    <p:sldId xmlns:r="http://schemas.openxmlformats.org/officeDocument/2006/relationships" id="258" r:id="R82e04bd03fed46d8"/>
    <p:sldId xmlns:r="http://schemas.openxmlformats.org/officeDocument/2006/relationships" id="259" r:id="Ra03a18434b8342dd"/>
    <p:sldId xmlns:r="http://schemas.openxmlformats.org/officeDocument/2006/relationships" id="260" r:id="R7071c1d7db464a3c"/>
    <p:sldId xmlns:r="http://schemas.openxmlformats.org/officeDocument/2006/relationships" id="261" r:id="R63907979a4264bd6"/>
    <p:sldId xmlns:r="http://schemas.openxmlformats.org/officeDocument/2006/relationships" id="262" r:id="R6cab1659a463498d"/>
    <p:sldId xmlns:r="http://schemas.openxmlformats.org/officeDocument/2006/relationships" id="263" r:id="Rd49a856ea92544f7"/>
    <p:sldId xmlns:r="http://schemas.openxmlformats.org/officeDocument/2006/relationships" id="264" r:id="Reba957d193b34e97"/>
    <p:sldId xmlns:r="http://schemas.openxmlformats.org/officeDocument/2006/relationships" id="265" r:id="R44e4afd2dc194b61"/>
    <p:sldId xmlns:r="http://schemas.openxmlformats.org/officeDocument/2006/relationships" id="266" r:id="R61b4952cf82145a5"/>
    <p:sldId xmlns:r="http://schemas.openxmlformats.org/officeDocument/2006/relationships" id="267" r:id="Redb44a82fedc4f0d"/>
    <p:sldId xmlns:r="http://schemas.openxmlformats.org/officeDocument/2006/relationships" id="268" r:id="R28fa12178c924925"/>
    <p:sldId xmlns:r="http://schemas.openxmlformats.org/officeDocument/2006/relationships" id="269" r:id="R7b0930295451437d"/>
    <p:sldId xmlns:r="http://schemas.openxmlformats.org/officeDocument/2006/relationships" id="270" r:id="Reb6c6086dd094458"/>
    <p:sldId xmlns:r="http://schemas.openxmlformats.org/officeDocument/2006/relationships" id="271" r:id="R5fc53c7a6eb04b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68148dae514d48" /><Relationship Type="http://schemas.openxmlformats.org/officeDocument/2006/relationships/slideMaster" Target="/ppt/slideMasters/slideMaster1.xml" Id="R65f0230f35234d7f" /><Relationship Type="http://schemas.openxmlformats.org/officeDocument/2006/relationships/notesMaster" Target="/ppt/notesMasters/notesMaster1.xml" Id="Re9f675bf341d4fd4" /><Relationship Type="http://schemas.openxmlformats.org/officeDocument/2006/relationships/presProps" Target="/ppt/presProps.xml" Id="Rdad9659deb424909" /><Relationship Type="http://schemas.openxmlformats.org/officeDocument/2006/relationships/tableStyles" Target="/ppt/tableStyles.xml" Id="R07bab91205cd4a00" /><Relationship Type="http://schemas.openxmlformats.org/officeDocument/2006/relationships/slide" Target="/ppt/slides/slide1.xml" Id="Rf5aec83a464243b7" /><Relationship Type="http://schemas.openxmlformats.org/officeDocument/2006/relationships/slide" Target="/ppt/slides/slide2.xml" Id="R421f6e7fa8254286" /><Relationship Type="http://schemas.openxmlformats.org/officeDocument/2006/relationships/slide" Target="/ppt/slides/slide3.xml" Id="R82e04bd03fed46d8" /><Relationship Type="http://schemas.openxmlformats.org/officeDocument/2006/relationships/slide" Target="/ppt/slides/slide4.xml" Id="Ra03a18434b8342dd" /><Relationship Type="http://schemas.openxmlformats.org/officeDocument/2006/relationships/slide" Target="/ppt/slides/slide5.xml" Id="R7071c1d7db464a3c" /><Relationship Type="http://schemas.openxmlformats.org/officeDocument/2006/relationships/slide" Target="/ppt/slides/slide6.xml" Id="R63907979a4264bd6" /><Relationship Type="http://schemas.openxmlformats.org/officeDocument/2006/relationships/slide" Target="/ppt/slides/slide7.xml" Id="R6cab1659a463498d" /><Relationship Type="http://schemas.openxmlformats.org/officeDocument/2006/relationships/slide" Target="/ppt/slides/slide8.xml" Id="Rd49a856ea92544f7" /><Relationship Type="http://schemas.openxmlformats.org/officeDocument/2006/relationships/slide" Target="/ppt/slides/slide9.xml" Id="Reba957d193b34e97" /><Relationship Type="http://schemas.openxmlformats.org/officeDocument/2006/relationships/slide" Target="/ppt/slides/slide10.xml" Id="R44e4afd2dc194b61" /><Relationship Type="http://schemas.openxmlformats.org/officeDocument/2006/relationships/slide" Target="/ppt/slides/slide11.xml" Id="R61b4952cf82145a5" /><Relationship Type="http://schemas.openxmlformats.org/officeDocument/2006/relationships/slide" Target="/ppt/slides/slide12.xml" Id="Redb44a82fedc4f0d" /><Relationship Type="http://schemas.openxmlformats.org/officeDocument/2006/relationships/slide" Target="/ppt/slides/slide13.xml" Id="R28fa12178c924925" /><Relationship Type="http://schemas.openxmlformats.org/officeDocument/2006/relationships/slide" Target="/ppt/slides/slide14.xml" Id="R7b0930295451437d" /><Relationship Type="http://schemas.openxmlformats.org/officeDocument/2006/relationships/slide" Target="/ppt/slides/slide15.xml" Id="Reb6c6086dd094458" /><Relationship Type="http://schemas.openxmlformats.org/officeDocument/2006/relationships/slide" Target="/ppt/slides/slide16.xml" Id="R5fc53c7a6eb04b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57ea6907774b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125d4c2e764e35" /><Relationship Type="http://schemas.openxmlformats.org/officeDocument/2006/relationships/notesMaster" Target="/ppt/notesMasters/notesMaster1.xml" Id="R16b4589c33a049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8f4923e77a4b93" /><Relationship Type="http://schemas.openxmlformats.org/officeDocument/2006/relationships/notesMaster" Target="/ppt/notesMasters/notesMaster1.xml" Id="Re75b86a8a23b49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155cf0ec9f4e90" /><Relationship Type="http://schemas.openxmlformats.org/officeDocument/2006/relationships/notesMaster" Target="/ppt/notesMasters/notesMaster1.xml" Id="Red0f31d5ebb642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d8dc50089f479e" /><Relationship Type="http://schemas.openxmlformats.org/officeDocument/2006/relationships/notesMaster" Target="/ppt/notesMasters/notesMaster1.xml" Id="R059c5fd71e984e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a9579a1ddd44b2" /><Relationship Type="http://schemas.openxmlformats.org/officeDocument/2006/relationships/notesMaster" Target="/ppt/notesMasters/notesMaster1.xml" Id="R74690a8fb82042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73163e07dd48f1" /><Relationship Type="http://schemas.openxmlformats.org/officeDocument/2006/relationships/notesMaster" Target="/ppt/notesMasters/notesMaster1.xml" Id="R6401aef7c21242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096c81d2b94a71" /><Relationship Type="http://schemas.openxmlformats.org/officeDocument/2006/relationships/notesMaster" Target="/ppt/notesMasters/notesMaster1.xml" Id="Rd7bdb63769ac43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cefbe137024e46" /><Relationship Type="http://schemas.openxmlformats.org/officeDocument/2006/relationships/notesMaster" Target="/ppt/notesMasters/notesMaster1.xml" Id="R1f9c45e3b8ee4c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a500ded07540e7" /><Relationship Type="http://schemas.openxmlformats.org/officeDocument/2006/relationships/notesMaster" Target="/ppt/notesMasters/notesMaster1.xml" Id="Rb6a445a665b44c1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b808e79da604b27" /><Relationship Type="http://schemas.openxmlformats.org/officeDocument/2006/relationships/notesMaster" Target="/ppt/notesMasters/notesMaster1.xml" Id="R08042c2b64244f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ee1f98574a4a5e" /><Relationship Type="http://schemas.openxmlformats.org/officeDocument/2006/relationships/notesMaster" Target="/ppt/notesMasters/notesMaster1.xml" Id="Rab790c7c67154da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ce0bf081b3c474a" /><Relationship Type="http://schemas.openxmlformats.org/officeDocument/2006/relationships/notesMaster" Target="/ppt/notesMasters/notesMaster1.xml" Id="R9c01aed002f1408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a050a96e7464294" /><Relationship Type="http://schemas.openxmlformats.org/officeDocument/2006/relationships/notesMaster" Target="/ppt/notesMasters/notesMaster1.xml" Id="R9f5429c9739e43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46bdc5787e64748" /><Relationship Type="http://schemas.openxmlformats.org/officeDocument/2006/relationships/notesMaster" Target="/ppt/notesMasters/notesMaster1.xml" Id="R58e17a9c04a1488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b4bee01c0284f4a" /><Relationship Type="http://schemas.openxmlformats.org/officeDocument/2006/relationships/notesMaster" Target="/ppt/notesMasters/notesMaster1.xml" Id="R1c696a92b01a49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e505f538b0451a" /><Relationship Type="http://schemas.openxmlformats.org/officeDocument/2006/relationships/notesMaster" Target="/ppt/notesMasters/notesMaster1.xml" Id="Rfa7d162ca3cb49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Gary Talks Stuff 頻道：https://www.youtube.com/@garytalksstuff/videos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AI-native worker 的四個能力層級: https://www.youtube.com/watch?v=hsR4PFFH-wk</a:t>
            </a:r>
          </a:p>
          <a:p xmlns:a="http://schemas.openxmlformats.org/drawingml/2006/main">
            <a:r>
              <a:t>- AI 時代工程師如何重新定位: https://www.youtube.com/watch?v=_RD3iFDhuzs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Vibe Coding／Agentic Engineering Day 1: https://www.youtube.com/watch?v=GzHfE50N8x4</a:t>
            </a:r>
          </a:p>
          <a:p xmlns:a="http://schemas.openxmlformats.org/drawingml/2006/main">
            <a:r>
              <a:t>- Stanford AI 系統課程：從 LLM 到 Agentic Workflow: https://www.youtube.com/watch?v=eKW9ITaltWw</a:t>
            </a:r>
          </a:p>
          <a:p xmlns:a="http://schemas.openxmlformats.org/drawingml/2006/main">
            <a:r>
              <a:t>- Google AI Course Days 2+3：MCP、A2A、Skills: https://www.youtube.com/watch?v=XTCP1qoa3cc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New Features：Record &amp; Replay、Quick Search、Fork: https://www.youtube.com/watch?v=pJR6I9_06e4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New Features：Record &amp; Replay、Quick Search、Fork: https://www.youtube.com/watch?v=pJR6I9_06e4</a:t>
            </a:r>
          </a:p>
          <a:p xmlns:a="http://schemas.openxmlformats.org/drawingml/2006/main">
            <a:r>
              <a:t>- 你不是不會寫 Prompt，是不會定義任務: https://www.youtube.com/watch?v=KNP9Mr1rUQY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從 Claude Code 源代碼學習 Agent 框架: https://www.youtube.com/watch?v=-cnAz897A_0</a:t>
            </a:r>
          </a:p>
          <a:p xmlns:a="http://schemas.openxmlformats.org/drawingml/2006/main">
            <a:r>
              <a:t>- AI 改 code 一直改 A 壞 B？你缺的是這五個步驟: https://www.youtube.com/watch?v=CMs8YMU6_RM</a:t>
            </a:r>
          </a:p>
          <a:p xmlns:a="http://schemas.openxmlformats.org/drawingml/2006/main">
            <a:r>
              <a:t>- 用 Claude 和 Codex 自動化 Code Review: https://www.youtube.com/watch?v=xzrvAERmvRk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給非技術人員的 GitHub 教學: https://www.youtube.com/watch?v=atqcAb7MFAM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Vibe Coding／Agentic Engineering Day 1: https://www.youtube.com/watch?v=GzHfE50N8x4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AI Course Days 2+3：MCP、A2A、Skills: https://www.youtube.com/watch?v=XTCP1qoa3cc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AI 課程 Day 4+5：怎麼放心讓 AI 上正式環境？: https://www.youtube.com/watch?v=h7abDtqN9gs</a:t>
            </a:r>
          </a:p>
          <a:p xmlns:a="http://schemas.openxmlformats.org/drawingml/2006/main">
            <a:r>
              <a:t>- Harness Engineering：100 萬行程式碼，0 行人寫: https://www.youtube.com/watch?v=ugKW_Dv37Bk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Stanford AI 系統課程：從 LLM 到 Agentic Workflow: https://www.youtube.com/watch?v=eKW9ITaltWw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Prompt Engineering for Beginners: https://www.youtube.com/watch?v=TiQOnrbVje0</a:t>
            </a:r>
          </a:p>
          <a:p xmlns:a="http://schemas.openxmlformats.org/drawingml/2006/main">
            <a:r>
              <a:t>- 你不是不會寫 Prompt，是不會定義任務: https://www.youtube.com/watch?v=KNP9Mr1rUQY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Skill 實戰教學: https://www.youtube.com/watch?v=PuqX3Kv2ino</a:t>
            </a:r>
          </a:p>
          <a:p xmlns:a="http://schemas.openxmlformats.org/drawingml/2006/main">
            <a:r>
              <a:t>- Anthropic Skills：為什麼大家跟進？: https://www.youtube.com/watch?v=b8ZmokNWjw0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Agent 跑 27 小時：/goal 功能: https://www.youtube.com/watch?v=PpeCur6fEXc</a:t>
            </a:r>
          </a:p>
          <a:p xmlns:a="http://schemas.openxmlformats.org/drawingml/2006/main">
            <a:r>
              <a:t>- Claude Dynamic Workflow：一次啟動數百個 Agent: https://www.youtube.com/watch?v=4fpZhuJuIls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時代怎麼創業？Anthropic Playbook: https://www.youtube.com/watch?v=PxPWaP7mXFM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Codex New Features：Record &amp; Replay、Quick Search、Fork: https://www.youtube.com/watch?v=pJR6I9_06e4</a:t>
            </a:r>
          </a:p>
          <a:p xmlns:a="http://schemas.openxmlformats.org/drawingml/2006/main">
            <a:r>
              <a:t>- Skill 實戰教學: https://www.youtube.com/watch?v=PuqX3Kv2ino</a:t>
            </a:r>
          </a:p>
          <a:p xmlns:a="http://schemas.openxmlformats.org/drawingml/2006/main">
            <a:r>
              <a:t>- 給非技術人員的 GitHub 教學: https://www.youtube.com/watch?v=atqcAb7MFAM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9f1653441143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d29edb66364c3f" /><Relationship Type="http://schemas.openxmlformats.org/officeDocument/2006/relationships/slideLayout" Target="/ppt/slideLayouts/slideLayout1.xml" Id="Rcd9c08a93d3743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9c08a93d3743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99cd90d7e4bcb" /><Relationship Type="http://schemas.openxmlformats.org/officeDocument/2006/relationships/notesSlide" Target="/ppt/notesSlides/notesSlide1.xml" Id="Rceb7a6b4e3a648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045dda2c7d4930" /><Relationship Type="http://schemas.openxmlformats.org/officeDocument/2006/relationships/notesSlide" Target="/ppt/notesSlides/notesSlide2.xml" Id="R676f451ea93f40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f5d74a2d242d9" /><Relationship Type="http://schemas.openxmlformats.org/officeDocument/2006/relationships/notesSlide" Target="/ppt/notesSlides/notesSlide3.xml" Id="R2d31ac4115ee40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aa0ebc1d54695" /><Relationship Type="http://schemas.openxmlformats.org/officeDocument/2006/relationships/notesSlide" Target="/ppt/notesSlides/notesSlide4.xml" Id="R261b67916e7740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a9d3a22a94563" /><Relationship Type="http://schemas.openxmlformats.org/officeDocument/2006/relationships/notesSlide" Target="/ppt/notesSlides/notesSlide5.xml" Id="Reae641fd348c4a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657f596d54972" /><Relationship Type="http://schemas.openxmlformats.org/officeDocument/2006/relationships/notesSlide" Target="/ppt/notesSlides/notesSlide6.xml" Id="Rbbc53fa81d9449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162a2f5c44e7c" /><Relationship Type="http://schemas.openxmlformats.org/officeDocument/2006/relationships/notesSlide" Target="/ppt/notesSlides/notesSlide7.xml" Id="R563bbf19bf4942f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dbc8c23ea4108" /><Relationship Type="http://schemas.openxmlformats.org/officeDocument/2006/relationships/notesSlide" Target="/ppt/notesSlides/notesSlide8.xml" Id="R3d1bb7e7fa5b4f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72855484f4fbe" /><Relationship Type="http://schemas.openxmlformats.org/officeDocument/2006/relationships/notesSlide" Target="/ppt/notesSlides/notesSlide9.xml" Id="Rd5e51c59cc774b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80909a60344b8" /><Relationship Type="http://schemas.openxmlformats.org/officeDocument/2006/relationships/notesSlide" Target="/ppt/notesSlides/notesSlide10.xml" Id="R0f2b890f68a541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7be3fd7b54c55" /><Relationship Type="http://schemas.openxmlformats.org/officeDocument/2006/relationships/notesSlide" Target="/ppt/notesSlides/notesSlide11.xml" Id="R5f44c2b349bc41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1738fef1e477d" /><Relationship Type="http://schemas.openxmlformats.org/officeDocument/2006/relationships/notesSlide" Target="/ppt/notesSlides/notesSlide12.xml" Id="R4329d71a1c9a41e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8cf4931dc45c6" /><Relationship Type="http://schemas.openxmlformats.org/officeDocument/2006/relationships/notesSlide" Target="/ppt/notesSlides/notesSlide13.xml" Id="Rb7236328206346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40567bc2e4425" /><Relationship Type="http://schemas.openxmlformats.org/officeDocument/2006/relationships/notesSlide" Target="/ppt/notesSlides/notesSlide14.xml" Id="R91269b3377e949c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892c8c5d84a1f" /><Relationship Type="http://schemas.openxmlformats.org/officeDocument/2006/relationships/notesSlide" Target="/ppt/notesSlides/notesSlide15.xml" Id="Rc82e9d959d0c45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40d21a68fc4ce9" /><Relationship Type="http://schemas.openxmlformats.org/officeDocument/2006/relationships/notesSlide" Target="/ppt/notesSlides/notesSlide16.xml" Id="Rb08ddb3f73344c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54B21-96A5-4510-AD53-62DD74B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C4AE9-7389-495D-9659-B40FC2A2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主題二｜從示範到交付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75D32-C8A0-4AC6-BDD6-59464683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904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AI 工具與實作路線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3269E2-3A40-4DAB-A347-A5A71720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把 Codex、Claude、Google AI 與 Agent 工具串成可用的學習路徑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B7A5D-6727-41A5-8ABD-D1682B39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FDCB29-7550-46F5-A538-56D5195D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434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91B2"/>
                </a:solidFill>
              </a:defRPr>
            </a:pPr>
            <a:r>
              <a:rPr sz="1500" b="1">
                <a:solidFill>
                  <a:srgbClr val="0891B2"/>
                </a:solidFill>
              </a:rPr>
              <a:t>16 頁</a:t>
            </a:r>
          </a:p>
          <a:p xmlns:a="http://schemas.openxmlformats.org/drawingml/2006/main">
            <a:pPr algn="ctr">
              <a:defRPr sz="1500" b="1">
                <a:solidFill>
                  <a:srgbClr val="0891B2"/>
                </a:solidFill>
              </a:defRPr>
            </a:pPr>
            <a:r>
              <a:rPr sz="1500" b="1">
                <a:solidFill>
                  <a:srgbClr val="0891B2"/>
                </a:solidFill>
              </a:rPr>
              <a:t>依影片逐字稿整理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47676-B63E-4BDE-BD63-34F9B3939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資料來源：Gary Talks Stuff 頻道｜內容為影片觀點整理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8ECF0F-4B96-49EF-907A-E0E500419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99A51-1EDB-43D8-B11E-1853C152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EEF0D-0EF8-4154-9FB8-7E44008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01 / 16</a:t>
            </a:r>
          </a:p>
        </p:txBody>
      </p:sp>
    </p:spTree>
    <p:extLst>
      <p:ext uri="{BB962C8B-B14F-4D97-AF65-F5344CB8AC3E}">
        <p14:creationId xmlns:p14="http://schemas.microsoft.com/office/powerpoint/2010/main" val="9734004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17701-C7A9-44DC-A0E4-7435783D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核心句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611E4F-F59A-435F-8818-3781491C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「高手不是問得更多，而是讓 AI 直接產出可驗收的成品。」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9E9A7-E4A6-4860-ABA2-7E6D3CA2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AI-native worker 能力層級的共同主張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2BF6C-B3EB-4D20-B3C7-22D1C250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329EE-77D7-4467-B92E-E1F38201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E91EAC-0ED0-44D3-B6BE-22181A3C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02 / 16</a:t>
            </a:r>
          </a:p>
        </p:txBody>
      </p:sp>
    </p:spTree>
    <p:extLst>
      <p:ext uri="{BB962C8B-B14F-4D97-AF65-F5344CB8AC3E}">
        <p14:creationId xmlns:p14="http://schemas.microsoft.com/office/powerpoint/2010/main" val="18272995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28F02-B748-42A4-87A9-7D767E0A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一條由淺入深的學習路線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30C7B6-9B69-43BA-B3E1-DCB2B6A8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AA90C3-63CE-4607-BB8E-F43A9967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A40597-A499-42D9-9E73-0B080AB72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起步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5F5E9E-4A04-421D-936D-9DD7FD13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理解模型、上下文與 Prompt 的基本互動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1E390-7333-4516-9A9D-FFC1FDC2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56D34-4DCB-4A91-9E78-A88E501A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E46CA2-ADFE-48FA-B7F0-2388F891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使用 Codex／Claude 等 Agent 工具完成小任務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A923E-C740-40C5-9668-9FE125E1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C45AE-4E06-494D-9489-15050180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工程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0C996-27A6-45BD-A020-DFC9671B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加入 Git、測試、Review 與專案規則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F18842-DFF2-4855-9177-1E9E6A64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E7EA0-9FA9-4670-9687-5DF37569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系統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B56D8-F6A3-4382-9444-A7DAF13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用 MCP、A2A、Skills 與 Harness 擴大工作流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B2156-5774-47EF-90F0-BBF2D398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6D561-1A23-4C16-9136-69103BDC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C55F12-4D47-4D00-B79C-4A6B7AF4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03 / 16</a:t>
            </a:r>
          </a:p>
        </p:txBody>
      </p:sp>
    </p:spTree>
    <p:extLst>
      <p:ext uri="{BB962C8B-B14F-4D97-AF65-F5344CB8AC3E}">
        <p14:creationId xmlns:p14="http://schemas.microsoft.com/office/powerpoint/2010/main" val="1882042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677CD-37E6-416D-A525-0F97642B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Codex 的重點，不只是一個更快的聊天框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C7024-9E5E-4A78-9FD2-53FCFFAC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2571AA-BB17-4CFE-A328-EEC5B53D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A40F9-5A94-488E-83D8-81491B948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Record &amp; Replay：把示範過的操作變成可重複流程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73BA6-D435-4F36-B1DC-A4B87117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B4D7E7-E1DA-48DE-8808-E115F1E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Quick Search：快速找回過去的對話與決策脈絡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14BD7-3369-4B40-9E0D-CB85C62E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EDDC2C-6AC7-443B-AC5B-DA86D406F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Fork：從既有任務分支出新的嘗試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74797-B2D1-4DAC-AE64-AA8FFC1F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253D3-D7FD-41D4-9283-AAAB2EFD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Mobile Remote Control：把工作狀態延伸到遠端操作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FEBC0-C012-4100-AEC1-E65D7746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1AD3F-2E37-4461-A12C-A05E7FEB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E825D-4DF5-47CC-97F3-1A882BDA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04 / 16</a:t>
            </a:r>
          </a:p>
        </p:txBody>
      </p:sp>
    </p:spTree>
    <p:extLst>
      <p:ext uri="{BB962C8B-B14F-4D97-AF65-F5344CB8AC3E}">
        <p14:creationId xmlns:p14="http://schemas.microsoft.com/office/powerpoint/2010/main" val="540943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BABA7-9D1F-46EC-844D-BBD3E702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用示範取代冗長 Prompt，但仍要說清楚標準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FADB7-B4EE-4D18-AD96-FF144D62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3D947-1322-4781-B03B-57B607EC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示範的優勢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AA5A1-2E6D-43F6-B9DA-CD4B2804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AI 可以看到操作順序、輸入格式與期待結果，降低抽象描述的成本。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D8A6A-6988-49AA-9D62-3DD1CF52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3811CD-24DD-4C05-8E77-18998D3B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不能省略的部分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E56C0D-BE94-44A4-B8B5-7D8964B2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仍要交代例外、不可碰範圍、完成條件與驗證方式；示範不是免責條款。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63A07D-52BE-459B-A5C3-D4E85E26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CB6D5-7231-4C8B-B1CF-48E27108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806BED-9811-4C25-AD02-F6045806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05 / 16</a:t>
            </a:r>
          </a:p>
        </p:txBody>
      </p:sp>
    </p:spTree>
    <p:extLst>
      <p:ext uri="{BB962C8B-B14F-4D97-AF65-F5344CB8AC3E}">
        <p14:creationId xmlns:p14="http://schemas.microsoft.com/office/powerpoint/2010/main" val="6194216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DE6450-9606-403A-BEAA-04D6C0AF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Claude Code 的基本工作節奏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62E68C-50D5-40C8-A37F-79AC4F2B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C4B84-EE61-44DE-A21D-AC0973E7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6B199-E209-4E44-978B-C3930692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BDBF1-5B9C-4F2E-BA56-F9E06C99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B5E74-240E-4242-8882-5E7B4D60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讀專案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ADC90-67B7-4E8D-A9EB-F39B79F1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先看結構與規則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C4A1D-3203-47F0-A388-8C66A71F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02020-5075-43AE-BFEE-A1D07D3C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E944E-146C-455B-A713-D93868CC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定任務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FF90A2-C129-4D17-9A43-A94C540A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縮小範圍與驗收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CB1CA4-40DF-4E55-890F-C99A14CB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FCF3E-CB56-43BB-A42B-3B7EC122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323985-70A6-42A9-93A6-344450F3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改動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6D4AC-93FE-4581-86CD-47862585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小步驟留下差異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9D208-B91B-433B-873C-14D4D8A4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492C0-7939-49E7-8ABD-B770FC7B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B6D47C-0FBD-44B1-8C2D-ADADC0DF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檢查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F36B4-437F-458A-8252-90523F65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測試、Review、回復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8FA235-3A4C-4CCB-8A23-5978D1FC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487008-5912-4533-87D1-AB5B3268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687C01-E45E-48BF-900C-694F33BB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06 / 16</a:t>
            </a:r>
          </a:p>
        </p:txBody>
      </p:sp>
    </p:spTree>
    <p:extLst>
      <p:ext uri="{BB962C8B-B14F-4D97-AF65-F5344CB8AC3E}">
        <p14:creationId xmlns:p14="http://schemas.microsoft.com/office/powerpoint/2010/main" val="9263291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B791C2-722A-4AD2-8425-C7886547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非技術使用者也該懂的 GitHub 基礎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DCF4D-BF33-4432-8BBC-75402E69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63D9D-34E3-4727-9E41-320C335E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74D352-B63D-44AE-8967-2F1B0406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Commit：保存一次可理解的變更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3F7A9-85DD-4462-9199-CFA1072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4B1F0-E32F-4705-870C-5D9C51AB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Branch：把試驗與穩定版本分開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754CC-8D57-4853-8ED5-17E540C3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3792FA-DCBA-4A0D-904E-9F4EB334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Pull Request：讓修改經過檢查再合併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BFD88-F452-4AA9-A7CB-036162D7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D75F5-B713-485D-AAFB-8C1EEE04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Issue 與 README：留下問題、背景與使用方式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45A73-1CE2-4D8C-ABA3-0D3D392AC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56895-9CC8-4B64-9384-B03974AC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4547F-3D02-43FB-BE41-E8216EC2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07 / 16</a:t>
            </a:r>
          </a:p>
        </p:txBody>
      </p:sp>
    </p:spTree>
    <p:extLst>
      <p:ext uri="{BB962C8B-B14F-4D97-AF65-F5344CB8AC3E}">
        <p14:creationId xmlns:p14="http://schemas.microsoft.com/office/powerpoint/2010/main" val="10008576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62E24A-1009-410F-B1FE-541275FB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Google AI 課程 Day 1：從 Vibe Coding 走向 Agentic Engineering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3C565-5CDF-43B4-9CC5-5B3D88E4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DCE8B-AD30-43E1-83FF-F0900A05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Vibe Coding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87DD9E-8FC0-44FF-AFB6-85738BDE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以自然語言快速做出原型，重點是縮短想法到結果的距離。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F9C49-8063-44C5-BA1C-C2A1ECB1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01702-2DAC-4383-A75E-2C51474B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Agentic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877D6-3BC7-42E2-AF32-17830EFE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開始管理上下文、工具、規格、測試、權限與長時間任務，讓原型能走向可維護系統。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CAC21-6327-4B55-96D8-CE347598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1D1B9-8358-42D0-BABC-265A2429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DF8D4-B6D4-4ACB-AF63-618333B5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08 / 16</a:t>
            </a:r>
          </a:p>
        </p:txBody>
      </p:sp>
    </p:spTree>
    <p:extLst>
      <p:ext uri="{BB962C8B-B14F-4D97-AF65-F5344CB8AC3E}">
        <p14:creationId xmlns:p14="http://schemas.microsoft.com/office/powerpoint/2010/main" val="12458494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5F332-64D7-42F2-9650-98F559AF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Google AI Course Days 2+3 的三個連接層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619B6-AED1-46A6-80EE-4286C07D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E1984-B3F5-4A39-A9F2-E2279EC6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921D2-36D4-4E47-850C-5881FC05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MCP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591B4-CD3C-4FA7-A77B-D9961C6A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把 Agent 接上私有資料與外部工具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30BC6-3CCD-4A68-AF6B-58C55D19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C630B-F699-48FA-94C6-F98117EA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A2A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67326-7CBF-4218-B4A5-340ED2C9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讓多個 Agent 互相傳遞任務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8498C9-CC37-48C1-A129-F7BCA41E3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15773-85FE-430D-A393-6FBBE2C7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Skills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65CCE-1E18-47EA-AE5E-25CFF7EA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把流程與專業知識封裝起來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ECFA7-37AB-42A2-93CD-F783EDC23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80DA1-71B6-41C4-8663-6B91E4A8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Meta-Skill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79ADF9-A3B9-4163-8904-7D2A42F2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讓流程持續迭代與改善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201D4-DCCA-492D-90E9-7625B09F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96A4A-5EB3-4E2B-B1B9-C68E586C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333180-38CE-46F5-BF7B-0F32B4FD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09 / 16</a:t>
            </a:r>
          </a:p>
        </p:txBody>
      </p:sp>
    </p:spTree>
    <p:extLst>
      <p:ext uri="{BB962C8B-B14F-4D97-AF65-F5344CB8AC3E}">
        <p14:creationId xmlns:p14="http://schemas.microsoft.com/office/powerpoint/2010/main" val="13513367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06F6F2-8618-4CAC-AD2C-F82637B0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正式環境的安全條件，不是最後才補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28F23-6938-4718-868D-A5AD2666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928CA-C9F6-408E-8CC6-CC75FCD6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DC917-C5E7-4CB5-B510-2DBC19C8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A6FDA-2423-41E9-AAA3-A361DA97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5415E-9B58-4B40-9D7C-F7B425C78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規格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77443A-8B79-4E86-A4FB-EFDEC347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先說明應該怎樣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4F093-A26E-49B7-99EE-3D405090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3E3C1E-69D8-484B-ACD6-D7CB0F93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D028A1-6A04-4D79-AB9E-322BDDEE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護欄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642181-7913-4457-95F5-F3E1A1D3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限制危險動作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30E1C-AC51-4A4F-992C-CE555145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96327-48CB-4BDA-8732-6683F9D1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A80498-C522-414F-9321-61B91E64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評估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A9B71-1511-478F-A34C-6983D711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用案例持續驗證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E1A88D-67B7-48ED-A72B-D6E287A1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57973-49ED-42E3-8D31-5BAF6965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F0700-98CE-4516-9912-5E959ABF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部署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F9872-2E99-4284-A243-922152C5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逐步放大範圍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6E306F-33DB-45E0-8138-DD8C6BC66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BC75B-22D0-4989-BCCB-FD2AA7D7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CB2A48-9FA7-4CB5-95D8-26C690C1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10 / 16</a:t>
            </a:r>
          </a:p>
        </p:txBody>
      </p:sp>
    </p:spTree>
    <p:extLst>
      <p:ext uri="{BB962C8B-B14F-4D97-AF65-F5344CB8AC3E}">
        <p14:creationId xmlns:p14="http://schemas.microsoft.com/office/powerpoint/2010/main" val="11617676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5CCE60-A3A1-4D63-929B-84948B54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從 LLM 到 Agentic Workflow，學習順序要跟著系統複雜度走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0B86B-2A14-4B29-A061-FDEF41F4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63A96-F28A-4F2F-BF46-50AE8FC5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897BC-3CB9-4E2D-9239-5E32922B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先理解模型能做什麼、不能做什麼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30D424-F46B-46E8-9A9D-E0D7ABA0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A462C-13F8-426F-92DF-6EB275ED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再掌握 Prompt、RAG、Fine-tune 與工具呼叫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F2E9F-85B4-4C62-886C-F5ED7A1F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DB6890-EE7C-4616-8D78-C4C8AB1C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接著學習 Agent、Workflow、Multi-Agent 與評估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3BFDD-090A-4CE6-8A52-418B9F0A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D7E54-EDA4-4971-BB3E-EFD27AC9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最後才處理企業導入、權限、成本與治理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D121A-8DD7-4C7E-B490-E0E4E6E7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6A173-6508-4D9F-96DE-273CB6AB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68460-5E47-40BC-8452-59A3F14F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11 / 16</a:t>
            </a:r>
          </a:p>
        </p:txBody>
      </p:sp>
    </p:spTree>
    <p:extLst>
      <p:ext uri="{BB962C8B-B14F-4D97-AF65-F5344CB8AC3E}">
        <p14:creationId xmlns:p14="http://schemas.microsoft.com/office/powerpoint/2010/main" val="15335804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164CA2-47FD-4595-A051-428600E4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Prompt Engineering 的六個框架，核心仍是任務清楚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71F9C-F4B0-4470-A809-16CB96B7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E6D41-2C8D-425C-A324-0B72A1E4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5CA99-E827-43E8-9C75-7D66974EA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說明角色、目標、背景與限制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89384-492F-49C4-9F80-4E3980D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36753-2413-4BF5-908C-F6EF46B3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用範例固定輸入與輸出格式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84691-8FBE-43BD-8059-C013FCB5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12DA5-2943-4C6E-93D0-7DC5E44C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把複雜任務拆成可檢查的小步驟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305EAB-A95D-49CC-951F-4E3EC7E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46E0D-43EB-41A4-BAB9-4DFE847E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讓 AI 自我檢查，但保留人類最終驗收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15A62-5A06-4DD1-8FDF-92A53B8E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485BB-80BB-4772-BFD3-0C1D35BFE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552E2-2101-428E-B0A5-73DC891D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12 / 16</a:t>
            </a:r>
          </a:p>
        </p:txBody>
      </p:sp>
    </p:spTree>
    <p:extLst>
      <p:ext uri="{BB962C8B-B14F-4D97-AF65-F5344CB8AC3E}">
        <p14:creationId xmlns:p14="http://schemas.microsoft.com/office/powerpoint/2010/main" val="17304496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7AD3A7-A30E-44A5-9659-DF84761B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Skills 實作的三個判斷題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8FB9EB-EDA4-4117-80F8-B6D3C24B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008AE-E4B6-406A-885C-A51802CE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何時值得做？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9A41A-F39F-4254-8EA9-F1381FF2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同一流程反覆出現、步驟相對穩定，或錯誤成本高到不該每次重猜。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7BBBE7-7F58-4BEB-8F6B-A7F255CA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0EAE57-5985-4551-92BE-EC430BC9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怎麼維護？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677B8E-A7D4-4F43-A4DE-78FA5BD4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把背景資料、腳本、驗收條件與版本演化分開，定期清理失效規則。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40CD4-B7F8-49A4-9657-265AFB8C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C290F-742B-474B-A0CC-2DC1D0C4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C9977-69C2-4C8F-8867-2A18320D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13 / 16</a:t>
            </a:r>
          </a:p>
        </p:txBody>
      </p:sp>
    </p:spTree>
    <p:extLst>
      <p:ext uri="{BB962C8B-B14F-4D97-AF65-F5344CB8AC3E}">
        <p14:creationId xmlns:p14="http://schemas.microsoft.com/office/powerpoint/2010/main" val="7293035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337E46-0C9C-4019-A9E1-C824F0D1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長時間 Agent 任務，需要一個清楚的目標邊界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1A275A-5F5C-43F3-B3A6-6E12C7DA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E4375-1B4B-4662-9FA3-F2FACE47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55F66-9919-471D-BAD4-649842E9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/goal 類功能的價值，是把終點與目前狀態寫清楚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84892-12CF-4E4B-9F4E-A25E100F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E1478-4780-4A4D-A295-49EFD2C1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長任務要能回報進度，不能只在最後才知道失敗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09AF67-63D9-4A1A-906D-C663637B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8DCC63-D968-4767-AC90-0E3A029E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任務越長，越需要 checkpoint、記憶與回復路徑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13820-BA23-4A31-A8FE-5F12C0E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2A77E-0130-4E5E-8F98-CF33B452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能跑 27 小時不代表值得跑 27 小時；目標仍要有商業或工作價值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A9C2E6-F095-4717-9316-BF214C63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BAA1FC-AEBA-4F5D-9FEC-CC070645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5A077-6190-4E3D-AB5A-52D2F6FE6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14 / 16</a:t>
            </a:r>
          </a:p>
        </p:txBody>
      </p:sp>
    </p:spTree>
    <p:extLst>
      <p:ext uri="{BB962C8B-B14F-4D97-AF65-F5344CB8AC3E}">
        <p14:creationId xmlns:p14="http://schemas.microsoft.com/office/powerpoint/2010/main" val="159156483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F9A7F-D14E-456A-831E-1445AB4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 創業的核心，不只是做出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31C6BC-B849-4279-9339-7E8C8F40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AF1B0D-9857-40D7-934E-84F3F2E9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產品層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B73F7-C7B3-47FC-8FD9-ED01F7F83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把模型、工具與資料包成使用者能持續採用的工作流程。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B42AF-7EB4-444F-8277-C738EA7E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2AE50-21E9-4DE8-BDD9-B10B50C6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營運層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EB4D6-7E63-49F1-8DE4-C02F8CA4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建立 SOP、評估、支援與治理，讓一次成功不會依賴某個人的手感。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DD35E4-C8D3-4CA1-9A25-449585F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F419B0-3779-4B73-91E0-6699A684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CC8A8-D8D1-4210-A856-7994D968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15 / 16</a:t>
            </a:r>
          </a:p>
        </p:txBody>
      </p:sp>
    </p:spTree>
    <p:extLst>
      <p:ext uri="{BB962C8B-B14F-4D97-AF65-F5344CB8AC3E}">
        <p14:creationId xmlns:p14="http://schemas.microsoft.com/office/powerpoint/2010/main" val="6714502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98A059-63F0-4455-A438-27F89EA6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AF12A-5CE2-4A64-9341-04732914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選一個小流程，開始累積系統能力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CBDF1-100D-48E0-BD2F-2EE6C9FB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先讓一件重複工作變得可記錄、可驗收、可回放，再逐步擴大。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D9CC5-1E96-4E51-A8D8-4348AC89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F1C96-537C-4BF6-B60F-69A1DEA7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今天：挑一個 30 分鐘內可完成的任務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2F186-A0A6-4C02-869E-E4A0B688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56374-9514-4CC9-B9E9-094B1CA0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本週：加上 Git、驗收條件與可回復版本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10615E-C166-493A-BCD0-BA1ABF03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C65A8-00EF-4C8E-9F4B-8332BA0A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下一步：把穩定做法封裝成 Skill 或 Agent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A8205-C442-4424-BE1A-FCAEB7A6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01E53-4460-4395-BDF3-76289D33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3267B-6D9B-4D28-8349-C96E6C1A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16 / 16</a:t>
            </a:r>
          </a:p>
        </p:txBody>
      </p:sp>
    </p:spTree>
    <p:extLst>
      <p:ext uri="{BB962C8B-B14F-4D97-AF65-F5344CB8AC3E}">
        <p14:creationId xmlns:p14="http://schemas.microsoft.com/office/powerpoint/2010/main" val="3244697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2026-08-09T07:25:24.4060000Z</dcterms:created>
  <dcterms:modified xsi:type="dcterms:W3CDTF">2026-08-09T07:25:24.4060000Z</dcterms:modified>
</coreProperties>
</file>