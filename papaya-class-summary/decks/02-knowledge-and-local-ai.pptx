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1358b927a734f05" /><Relationship Type="http://schemas.openxmlformats.org/officeDocument/2006/relationships/extended-properties" Target="/docProps/app.xml" Id="R063a1b1309ef4b64" /><Relationship Type="http://schemas.openxmlformats.org/officeDocument/2006/relationships/officeDocument" Target="/ppt/presentation.xml" Id="Rba0e3e464c294c3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270e88e2564164"/>
  </p:sldMasterIdLst>
  <p:notesMasterIdLst>
    <p:notesMasterId xmlns:r="http://schemas.openxmlformats.org/officeDocument/2006/relationships" r:id="Raf1e76b05a1f47d3"/>
  </p:notesMasterIdLst>
  <p:sldIdLst>
    <p:sldId xmlns:r="http://schemas.openxmlformats.org/officeDocument/2006/relationships" id="256" r:id="R1ca829e635bb4228"/>
    <p:sldId xmlns:r="http://schemas.openxmlformats.org/officeDocument/2006/relationships" id="257" r:id="Rd8154cf154af48d2"/>
    <p:sldId xmlns:r="http://schemas.openxmlformats.org/officeDocument/2006/relationships" id="258" r:id="R61370cc0c1a74898"/>
    <p:sldId xmlns:r="http://schemas.openxmlformats.org/officeDocument/2006/relationships" id="259" r:id="R58c1f3e744cf4838"/>
    <p:sldId xmlns:r="http://schemas.openxmlformats.org/officeDocument/2006/relationships" id="260" r:id="R3d2815cf9b314e3e"/>
    <p:sldId xmlns:r="http://schemas.openxmlformats.org/officeDocument/2006/relationships" id="261" r:id="Re4f6e3e3cd3941da"/>
    <p:sldId xmlns:r="http://schemas.openxmlformats.org/officeDocument/2006/relationships" id="262" r:id="R3a3ddb4f532a49d9"/>
    <p:sldId xmlns:r="http://schemas.openxmlformats.org/officeDocument/2006/relationships" id="263" r:id="Rb52c5f99adfd4e76"/>
    <p:sldId xmlns:r="http://schemas.openxmlformats.org/officeDocument/2006/relationships" id="264" r:id="R5b7ee79a391a4226"/>
    <p:sldId xmlns:r="http://schemas.openxmlformats.org/officeDocument/2006/relationships" id="265" r:id="R1550f211f6e0430e"/>
    <p:sldId xmlns:r="http://schemas.openxmlformats.org/officeDocument/2006/relationships" id="266" r:id="R855e657952d54724"/>
    <p:sldId xmlns:r="http://schemas.openxmlformats.org/officeDocument/2006/relationships" id="267" r:id="Rc9b90f8752f847d7"/>
    <p:sldId xmlns:r="http://schemas.openxmlformats.org/officeDocument/2006/relationships" id="268" r:id="R75b4a2461fe14539"/>
    <p:sldId xmlns:r="http://schemas.openxmlformats.org/officeDocument/2006/relationships" id="269" r:id="R788e0443f29c47e6"/>
    <p:sldId xmlns:r="http://schemas.openxmlformats.org/officeDocument/2006/relationships" id="270" r:id="R6a3e56757ad3496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7362a4ef4d40c9" /><Relationship Type="http://schemas.openxmlformats.org/officeDocument/2006/relationships/slideMaster" Target="/ppt/slideMasters/slideMaster1.xml" Id="R74270e88e2564164" /><Relationship Type="http://schemas.openxmlformats.org/officeDocument/2006/relationships/notesMaster" Target="/ppt/notesMasters/notesMaster1.xml" Id="Raf1e76b05a1f47d3" /><Relationship Type="http://schemas.openxmlformats.org/officeDocument/2006/relationships/presProps" Target="/ppt/presProps.xml" Id="R83e0fbcbf25b4d6e" /><Relationship Type="http://schemas.openxmlformats.org/officeDocument/2006/relationships/tableStyles" Target="/ppt/tableStyles.xml" Id="Rc4b887769edc43ce" /><Relationship Type="http://schemas.openxmlformats.org/officeDocument/2006/relationships/slide" Target="/ppt/slides/slide1.xml" Id="R1ca829e635bb4228" /><Relationship Type="http://schemas.openxmlformats.org/officeDocument/2006/relationships/slide" Target="/ppt/slides/slide2.xml" Id="Rd8154cf154af48d2" /><Relationship Type="http://schemas.openxmlformats.org/officeDocument/2006/relationships/slide" Target="/ppt/slides/slide3.xml" Id="R61370cc0c1a74898" /><Relationship Type="http://schemas.openxmlformats.org/officeDocument/2006/relationships/slide" Target="/ppt/slides/slide4.xml" Id="R58c1f3e744cf4838" /><Relationship Type="http://schemas.openxmlformats.org/officeDocument/2006/relationships/slide" Target="/ppt/slides/slide5.xml" Id="R3d2815cf9b314e3e" /><Relationship Type="http://schemas.openxmlformats.org/officeDocument/2006/relationships/slide" Target="/ppt/slides/slide6.xml" Id="Re4f6e3e3cd3941da" /><Relationship Type="http://schemas.openxmlformats.org/officeDocument/2006/relationships/slide" Target="/ppt/slides/slide7.xml" Id="R3a3ddb4f532a49d9" /><Relationship Type="http://schemas.openxmlformats.org/officeDocument/2006/relationships/slide" Target="/ppt/slides/slide8.xml" Id="Rb52c5f99adfd4e76" /><Relationship Type="http://schemas.openxmlformats.org/officeDocument/2006/relationships/slide" Target="/ppt/slides/slide9.xml" Id="R5b7ee79a391a4226" /><Relationship Type="http://schemas.openxmlformats.org/officeDocument/2006/relationships/slide" Target="/ppt/slides/slide10.xml" Id="R1550f211f6e0430e" /><Relationship Type="http://schemas.openxmlformats.org/officeDocument/2006/relationships/slide" Target="/ppt/slides/slide11.xml" Id="R855e657952d54724" /><Relationship Type="http://schemas.openxmlformats.org/officeDocument/2006/relationships/slide" Target="/ppt/slides/slide12.xml" Id="Rc9b90f8752f847d7" /><Relationship Type="http://schemas.openxmlformats.org/officeDocument/2006/relationships/slide" Target="/ppt/slides/slide13.xml" Id="R75b4a2461fe14539" /><Relationship Type="http://schemas.openxmlformats.org/officeDocument/2006/relationships/slide" Target="/ppt/slides/slide14.xml" Id="R788e0443f29c47e6" /><Relationship Type="http://schemas.openxmlformats.org/officeDocument/2006/relationships/slide" Target="/ppt/slides/slide15.xml" Id="R6a3e56757ad3496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878d755f16244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0b7717a56b74828" /><Relationship Type="http://schemas.openxmlformats.org/officeDocument/2006/relationships/notesMaster" Target="/ppt/notesMasters/notesMaster1.xml" Id="R9428c7151b2c4d3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e2bd69bf92442e" /><Relationship Type="http://schemas.openxmlformats.org/officeDocument/2006/relationships/notesMaster" Target="/ppt/notesMasters/notesMaster1.xml" Id="Re2259350bca540f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f95483135b44341" /><Relationship Type="http://schemas.openxmlformats.org/officeDocument/2006/relationships/notesMaster" Target="/ppt/notesMasters/notesMaster1.xml" Id="R49023321a8ef47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9383e927a60455d" /><Relationship Type="http://schemas.openxmlformats.org/officeDocument/2006/relationships/notesMaster" Target="/ppt/notesMasters/notesMaster1.xml" Id="Rcc27f45c0b254da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f5d0da244fe4a0f" /><Relationship Type="http://schemas.openxmlformats.org/officeDocument/2006/relationships/notesMaster" Target="/ppt/notesMasters/notesMaster1.xml" Id="R2c25b2cca61a4b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f857f3786342a4" /><Relationship Type="http://schemas.openxmlformats.org/officeDocument/2006/relationships/notesMaster" Target="/ppt/notesMasters/notesMaster1.xml" Id="Rb2844e6c90f3406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04cf4f6cae4b6d" /><Relationship Type="http://schemas.openxmlformats.org/officeDocument/2006/relationships/notesMaster" Target="/ppt/notesMasters/notesMaster1.xml" Id="Rfe9f245272514c1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f8e05b9d7946bc" /><Relationship Type="http://schemas.openxmlformats.org/officeDocument/2006/relationships/notesMaster" Target="/ppt/notesMasters/notesMaster1.xml" Id="Ra7b997fee7ac41c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07ed572b21d45c3" /><Relationship Type="http://schemas.openxmlformats.org/officeDocument/2006/relationships/notesMaster" Target="/ppt/notesMasters/notesMaster1.xml" Id="R955dbbc28acd49f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afb6f4399420a" /><Relationship Type="http://schemas.openxmlformats.org/officeDocument/2006/relationships/notesMaster" Target="/ppt/notesMasters/notesMaster1.xml" Id="R1e9d0cc48b95477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bacd8c174343bf" /><Relationship Type="http://schemas.openxmlformats.org/officeDocument/2006/relationships/notesMaster" Target="/ppt/notesMasters/notesMaster1.xml" Id="Rbb48cd37baf049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e1fa24d499344c6" /><Relationship Type="http://schemas.openxmlformats.org/officeDocument/2006/relationships/notesMaster" Target="/ppt/notesMasters/notesMaster1.xml" Id="R7d7d877ae145478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0b3b18be55b4992" /><Relationship Type="http://schemas.openxmlformats.org/officeDocument/2006/relationships/notesMaster" Target="/ppt/notesMasters/notesMaster1.xml" Id="R9aade2edbfd840d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6855f1d269549f9" /><Relationship Type="http://schemas.openxmlformats.org/officeDocument/2006/relationships/notesMaster" Target="/ppt/notesMasters/notesMaster1.xml" Id="R62767c616e2840f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e4b0dfe3dff4659" /><Relationship Type="http://schemas.openxmlformats.org/officeDocument/2006/relationships/notesMaster" Target="/ppt/notesMasters/notesMaster1.xml" Id="R6c0a7336114140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Obsidian 與 LLM Wiki 第二大腦: https://www.youtube.com/watch?v=ZC8AI_jFWnU</a:t>
            </a:r>
          </a:p>
          <a:p xmlns:a="http://schemas.openxmlformats.org/drawingml/2006/main">
            <a:r>
              <a:t>- Gemma 4 與 LM Studio 本機 AI: https://www.youtube.com/watch?v=r5M0W66xcGc</a:t>
            </a:r>
          </a:p>
          <a:p xmlns:a="http://schemas.openxmlformats.org/drawingml/2006/main">
            <a:r>
              <a:t>內容依頻道逐字稿整理；工具版本、價格與功能可能變動，使用前請回查官方資訊。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fe8e1cff37e492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6543a9b7dd24ca1" /><Relationship Type="http://schemas.openxmlformats.org/officeDocument/2006/relationships/slideLayout" Target="/ppt/slideLayouts/slideLayout1.xml" Id="R2174196ef2fb43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74196ef2fb43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74e52088e74e0d" /><Relationship Type="http://schemas.openxmlformats.org/officeDocument/2006/relationships/notesSlide" Target="/ppt/notesSlides/notesSlide1.xml" Id="Rce655e2e374443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b221d19bb94f0e" /><Relationship Type="http://schemas.openxmlformats.org/officeDocument/2006/relationships/notesSlide" Target="/ppt/notesSlides/notesSlide2.xml" Id="Ra6922aa02720412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e3fd5e9e774125" /><Relationship Type="http://schemas.openxmlformats.org/officeDocument/2006/relationships/notesSlide" Target="/ppt/notesSlides/notesSlide3.xml" Id="Rc1db01e17a8e4f2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dfa3a469a4255" /><Relationship Type="http://schemas.openxmlformats.org/officeDocument/2006/relationships/notesSlide" Target="/ppt/notesSlides/notesSlide4.xml" Id="R18088b5f6b5247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3444bcface4bfb" /><Relationship Type="http://schemas.openxmlformats.org/officeDocument/2006/relationships/notesSlide" Target="/ppt/notesSlides/notesSlide5.xml" Id="Rc66b506641eb41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70850e4bd4a0d" /><Relationship Type="http://schemas.openxmlformats.org/officeDocument/2006/relationships/notesSlide" Target="/ppt/notesSlides/notesSlide6.xml" Id="R140fd27aae514f5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953e7ee62b47a4" /><Relationship Type="http://schemas.openxmlformats.org/officeDocument/2006/relationships/notesSlide" Target="/ppt/notesSlides/notesSlide7.xml" Id="R82fb145a41ba433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eaf940b56d445d" /><Relationship Type="http://schemas.openxmlformats.org/officeDocument/2006/relationships/notesSlide" Target="/ppt/notesSlides/notesSlide8.xml" Id="R1a09d238771f4bd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f596c4b1f44055" /><Relationship Type="http://schemas.openxmlformats.org/officeDocument/2006/relationships/notesSlide" Target="/ppt/notesSlides/notesSlide9.xml" Id="Rcd5af198ee4a45f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8ccbb7aa24fec" /><Relationship Type="http://schemas.openxmlformats.org/officeDocument/2006/relationships/notesSlide" Target="/ppt/notesSlides/notesSlide10.xml" Id="Rfdd8182c80944d3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6ef142034e4585" /><Relationship Type="http://schemas.openxmlformats.org/officeDocument/2006/relationships/notesSlide" Target="/ppt/notesSlides/notesSlide11.xml" Id="R6c04b5760465447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61431408144a22" /><Relationship Type="http://schemas.openxmlformats.org/officeDocument/2006/relationships/notesSlide" Target="/ppt/notesSlides/notesSlide12.xml" Id="R6d7be7e5736640b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5dcee259fa4077" /><Relationship Type="http://schemas.openxmlformats.org/officeDocument/2006/relationships/notesSlide" Target="/ppt/notesSlides/notesSlide13.xml" Id="R8c4995bea710406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4b939a81a44e25" /><Relationship Type="http://schemas.openxmlformats.org/officeDocument/2006/relationships/notesSlide" Target="/ppt/notesSlides/notesSlide14.xml" Id="R749395eeade0432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73542a4bfa4da8" /><Relationship Type="http://schemas.openxmlformats.org/officeDocument/2006/relationships/notesSlide" Target="/ppt/notesSlides/notesSlide15.xml" Id="R2ebb81d3ecde40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CAD113-3739-4C0F-8B57-075D84C83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16012D-8FDB-468D-B7C3-A1923F8AD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858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PAPAYA CLASS｜主題二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F74438-658D-4850-9B31-32A478CAC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66875"/>
            <a:ext cx="8572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111827"/>
                </a:solidFill>
              </a:defRPr>
            </a:pPr>
            <a:r>
              <a:rPr sz="3900" b="1">
                <a:solidFill>
                  <a:srgbClr val="111827"/>
                </a:solidFill>
              </a:rPr>
              <a:t>個人知識庫與本機 AI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4D2EC7-680C-4537-8750-98D27225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2425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從 Obsidian 的連結筆記，到 Gemma 4 與 LM Studio 的離線工作站。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288A2-8804-4770-955D-7411646B2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095750"/>
            <a:ext cx="2362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36A529-5DF1-46A8-9732-7ABD2CDD3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314825"/>
            <a:ext cx="1809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891B2"/>
                </a:solidFill>
              </a:defRPr>
            </a:pPr>
            <a:r>
              <a:rPr sz="1650" b="1">
                <a:solidFill>
                  <a:srgbClr val="0891B2"/>
                </a:solidFill>
              </a:rPr>
              <a:t>15 頁</a:t>
            </a:r>
          </a:p>
          <a:p xmlns:a="http://schemas.openxmlformats.org/drawingml/2006/main">
            <a:pPr algn="ctr">
              <a:defRPr sz="1650" b="1">
                <a:solidFill>
                  <a:srgbClr val="0891B2"/>
                </a:solidFill>
              </a:defRPr>
            </a:pPr>
            <a:r>
              <a:rPr sz="1650" b="1">
                <a:solidFill>
                  <a:srgbClr val="0891B2"/>
                </a:solidFill>
              </a:rPr>
              <a:t>4 個主題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B4485-C2FD-4502-A70C-8E879E9A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905500"/>
            <a:ext cx="762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B6472"/>
                </a:solidFill>
              </a:defRPr>
            </a:pPr>
            <a:r>
              <a:rPr sz="1050">
                <a:solidFill>
                  <a:srgbClr val="5B6472"/>
                </a:solidFill>
              </a:rPr>
              <a:t>依 9 支影片整理｜含 3 支會員專屬內容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03B9E1-AF90-45A4-8109-DBACB3E4D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C033A-1FF2-4DC9-9CC7-41C6A3729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968B7-684C-44FB-A08E-C60FBDDA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01 / 15</a:t>
            </a:r>
          </a:p>
        </p:txBody>
      </p:sp>
    </p:spTree>
    <p:extLst>
      <p:ext uri="{BB962C8B-B14F-4D97-AF65-F5344CB8AC3E}">
        <p14:creationId xmlns:p14="http://schemas.microsoft.com/office/powerpoint/2010/main" val="37576546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C401A3-7A69-448F-95D3-4B0D379F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7FBE13-9D49-465C-A2D7-02CA4BE98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91B2"/>
                </a:solidFill>
              </a:defRPr>
            </a:pPr>
            <a:r>
              <a:rPr sz="4350" b="1">
                <a:solidFill>
                  <a:srgbClr val="0891B2"/>
                </a:solidFill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7EA83-446A-4D10-98B7-4FA6243D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第二大腦不是資料夾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658115-1917-49A3-B740-7B821F22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知識庫的價值，在於讓資訊能被連結、搜尋、回溯，並持續成為下一次工作的上下文。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B54F9-8945-434B-99DF-F57CDD816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4FE7A6-F320-4360-A7A6-BAC797056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9DFDA-D225-4602-B09C-0E8437E27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02 / 15</a:t>
            </a:r>
          </a:p>
        </p:txBody>
      </p:sp>
    </p:spTree>
    <p:extLst>
      <p:ext uri="{BB962C8B-B14F-4D97-AF65-F5344CB8AC3E}">
        <p14:creationId xmlns:p14="http://schemas.microsoft.com/office/powerpoint/2010/main" val="6514126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213547-0BA8-4AA5-AF15-2F6D6A696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Obsidian 的基本單位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F30DC3-52C2-412D-BB74-3511745F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D05C7F-08ED-48E5-BE3D-560BE2ECD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筆記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81A40-F138-49F6-A09D-377C6621E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用 Markdown 寫下想法、資料與觀察；格式輕量，檔案也容易攜帶。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01C6DE-F849-4B29-B5AE-F01847DB2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64E3A3-DD0F-4797-AFE2-BA5EE7E6D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連結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BB34CA-5644-464B-ADF3-DA1D83B4F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用雙向連結、標籤、屬性與圖譜，把人物、事件與概念放回脈絡。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38D32E-75A0-4835-AC94-75F6889F5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9B2B1E-9AEA-4C50-A161-78F088A1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EA9382-2108-4FB4-8F0F-9D8D4E77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03 / 15</a:t>
            </a:r>
          </a:p>
        </p:txBody>
      </p:sp>
    </p:spTree>
    <p:extLst>
      <p:ext uri="{BB962C8B-B14F-4D97-AF65-F5344CB8AC3E}">
        <p14:creationId xmlns:p14="http://schemas.microsoft.com/office/powerpoint/2010/main" val="17342593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54BA1E3-386A-4AD8-9BA3-CCA3D2EA4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從一則資料變成可用知識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C0F1F4-C08B-4E50-BF13-9898A831E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746A36-4B16-4BAC-B109-1DA14FF55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D7CF3-4853-46E3-872D-2338B06D6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D1E16E-0906-4A56-A3C5-D3E7E4A06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6BC6F-4B05-4C2B-969F-56F793E95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擷取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C883B4-4C6B-4115-A69E-0EC19070C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把來源轉成一則筆記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D95068-9706-4C82-A181-40AF4309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AD969A-D2F6-47B7-808A-5923904C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36D060-85E3-49A1-BE5A-CD710D767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整理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90BBD5-018F-4DAC-B801-73C2F8C2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補上分類與屬性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EAC319-D0E2-4A1B-B379-E7D04C04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CB0DD6-F579-4167-8899-043B5B544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A834F0-1908-4504-8058-3E211F640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連結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99A61C-F1DF-42D3-95A2-4B7A4C83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接到相關概念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A39D07-6917-489F-9890-FA3A1879E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595BE3-9DBF-4837-9240-9C24E62C3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3C9302-0702-4A9F-BF37-4D4CB16AC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回用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2855B5-9E79-47E0-9267-D2E91907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在新任務中引用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1CCD99-34B4-4A61-A799-2F101E40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0C17F20-5A1D-4E28-A051-31155DD9E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F891A0-750B-48A2-ACA7-FD3244902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04 / 15</a:t>
            </a:r>
          </a:p>
        </p:txBody>
      </p:sp>
    </p:spTree>
    <p:extLst>
      <p:ext uri="{BB962C8B-B14F-4D97-AF65-F5344CB8AC3E}">
        <p14:creationId xmlns:p14="http://schemas.microsoft.com/office/powerpoint/2010/main" val="8799861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2601BC-59AF-4B91-AD53-2F21116ED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LLM Wiki 的核心想法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769B0-7D1C-4868-A53B-4D026557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7E57F9-C3F6-4DA6-BD98-12967C059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B6472"/>
                </a:solidFill>
              </a:defRPr>
            </a:pPr>
            <a:r>
              <a:rPr sz="1650">
                <a:solidFill>
                  <a:srgbClr val="5B6472"/>
                </a:solidFill>
              </a:rPr>
              <a:t>讓 AI 協助維護知識，而不只是一次性產生摘要。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020EEC-1721-483C-8AF5-DB54B867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983F0-967D-4679-8412-C60853596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把資料放進有結構的筆記空間。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9A9777-348F-4296-84E3-88595C4FD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10E089-1715-4F56-B127-62DD2DAC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讓 AI 讀取、更新與建立關聯。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CFB0C-F93F-4E89-9896-AF79EAC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7939E8-224A-4B22-87A4-15A928370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保留原始來源，避免摘要失去上下文。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3E58A-F121-420C-AE4E-C173BCF98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09C39C-AF08-40E8-A086-E04B7BD14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定期清理重複、過時與互相矛盾的內容。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2B8EA3-319D-47A3-966F-FF39BC81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833CFB-C534-4874-BA31-2EF37B91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DFF37A-E2DC-40D9-9148-F3C71A76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05 / 15</a:t>
            </a:r>
          </a:p>
        </p:txBody>
      </p:sp>
    </p:spTree>
    <p:extLst>
      <p:ext uri="{BB962C8B-B14F-4D97-AF65-F5344CB8AC3E}">
        <p14:creationId xmlns:p14="http://schemas.microsoft.com/office/powerpoint/2010/main" val="12543255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5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04E4D2-2C29-4843-9BBE-F0EEB73DA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891B2"/>
                </a:solidFill>
              </a:defRPr>
            </a:pPr>
            <a:r>
              <a:rPr sz="1200" b="1">
                <a:solidFill>
                  <a:srgbClr val="0891B2"/>
                </a:solidFill>
              </a:rPr>
              <a:t>一個可帶走的判斷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DCE473-B792-47DF-B8B4-169717DFC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000250"/>
            <a:ext cx="9810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11827"/>
                </a:solidFill>
              </a:defRPr>
            </a:pPr>
            <a:r>
              <a:rPr sz="3225" b="1">
                <a:solidFill>
                  <a:srgbClr val="111827"/>
                </a:solidFill>
              </a:rPr>
              <a:t>「好的知識庫，會讓下一個問題更容易被問對。」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EF4D4-BAD5-4D1D-99F3-9C98C2C1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B6472"/>
                </a:solidFill>
              </a:defRPr>
            </a:pPr>
            <a:r>
              <a:rPr sz="1350">
                <a:solidFill>
                  <a:srgbClr val="5B6472"/>
                </a:solidFill>
              </a:rPr>
              <a:t>Obsidian 與 LLM Wiki 影片整理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04C926-3228-4D0F-B9D1-0A4F87A4F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347621-66B6-4846-9E31-9C60927C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36211F-C3E0-4E7F-9BAF-BA9D65E0D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06 / 15</a:t>
            </a:r>
          </a:p>
        </p:txBody>
      </p:sp>
    </p:spTree>
    <p:extLst>
      <p:ext uri="{BB962C8B-B14F-4D97-AF65-F5344CB8AC3E}">
        <p14:creationId xmlns:p14="http://schemas.microsoft.com/office/powerpoint/2010/main" val="17892055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2D2310-2F46-45CC-940A-68519BC4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542CAF-0F48-434B-95A4-F33B3C27D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238250"/>
            <a:ext cx="1714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91B2"/>
                </a:solidFill>
              </a:defRPr>
            </a:pPr>
            <a:r>
              <a:rPr sz="4350" b="1">
                <a:solidFill>
                  <a:srgbClr val="0891B2"/>
                </a:solidFill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8BC54F-E7B3-4BA2-871F-F895908C9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81250"/>
            <a:ext cx="8763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11827"/>
                </a:solidFill>
              </a:defRPr>
            </a:pPr>
            <a:r>
              <a:rPr sz="3150" b="1">
                <a:solidFill>
                  <a:srgbClr val="111827"/>
                </a:solidFill>
              </a:rPr>
              <a:t>本機 AI：把模型帶到自己的電腦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B02C85-DEC3-42FB-B9C6-734EAD49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23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5B6472"/>
                </a:solidFill>
              </a:defRPr>
            </a:pPr>
            <a:r>
              <a:rPr sz="1725">
                <a:solidFill>
                  <a:srgbClr val="5B6472"/>
                </a:solidFill>
              </a:rPr>
              <a:t>Gemma 4 與 LM Studio 影片從硬體、模型大小與操作介面切入，展示離線 AI 的入門路線。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7AA0A-2C5D-4272-8E63-33E35AF28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744AB5-40A4-4996-B862-5C82CFB4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8D3F2E-2F07-4813-9008-E312DACB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07 / 15</a:t>
            </a:r>
          </a:p>
        </p:txBody>
      </p:sp>
    </p:spTree>
    <p:extLst>
      <p:ext uri="{BB962C8B-B14F-4D97-AF65-F5344CB8AC3E}">
        <p14:creationId xmlns:p14="http://schemas.microsoft.com/office/powerpoint/2010/main" val="47598962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CA7BD-30A3-4F0E-8089-71C44176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選本機模型時先看四件事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99207-ED2A-4E66-B1A6-E78DE96C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D30B0D-418F-405E-872C-78B0F0D18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24587-3E02-44D6-82D9-402693B6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955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硬體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AEA31E-406A-4039-84DE-1640FE0A8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記憶體與顯示卡容量決定能順暢執行的模型大小。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53F1B9-59D7-4706-A14C-A2F57EB9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57D35-2756-4B20-9369-E5D18469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003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參數量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E393C5-7B6C-4E34-9E73-FDE4EC62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8003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模型越大通常能力越強，但速度與資源需求也會提高。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B0552-5F3F-4381-994D-9EE9DAB00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F86CE7-09CE-42D2-9CD5-BE90DF88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052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能力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73AB3-9968-4D9E-8FC6-21408737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5052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確認是否支援視覺、工具呼叫、推理等任務。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9F4ED2-836E-40C4-9FD5-9E6CA6B9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67175"/>
            <a:ext cx="108204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31B4A6-DAF7-495C-9B05-3FA5D665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891B2"/>
                </a:solidFill>
              </a:defRPr>
            </a:pPr>
            <a:r>
              <a:rPr sz="1425" b="1">
                <a:solidFill>
                  <a:srgbClr val="0891B2"/>
                </a:solidFill>
              </a:rPr>
              <a:t>用途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519495-05F6-459F-9C84-489A95CF6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10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827"/>
                </a:solidFill>
              </a:defRPr>
            </a:pPr>
            <a:r>
              <a:rPr sz="1350">
                <a:solidFill>
                  <a:srgbClr val="111827"/>
                </a:solidFill>
              </a:rPr>
              <a:t>聊天、摘要、寫作、程式與多模態需求各有取捨。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3B4B99-6F42-42C2-84CF-12140C18A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B02FC2-EE7B-4907-B558-883123BC8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A59D5-83AF-4CED-9CE0-B30400249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08 / 15</a:t>
            </a:r>
          </a:p>
        </p:txBody>
      </p:sp>
    </p:spTree>
    <p:extLst>
      <p:ext uri="{BB962C8B-B14F-4D97-AF65-F5344CB8AC3E}">
        <p14:creationId xmlns:p14="http://schemas.microsoft.com/office/powerpoint/2010/main" val="9388296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3FECB97-3415-4DEF-A945-1F2F78C99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Ollama 與 LM Studio：影片中的定位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7DD5EA-649D-4268-B2E8-75E5F1B2E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217885-B58B-427A-A745-FEB6B6F71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Ollama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96E45C-C8D6-496B-9CA4-302BD12F3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偏向命令列與開發者工作流，適合要串 API 或整合工具的人。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8EFEA-7A84-4638-8D56-17320153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D0349B-84A5-4306-8A24-5A2F719A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LM Studio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BAADE2-5BAA-4789-805E-377BFEFB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圖形介面較友善，適合先下載模型、管理模型並直接聊天測試。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A8E4D-F8B6-4EF4-8D84-8AC6C7E9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CDC9F2-E839-4354-8443-B4ABCD9FA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29A823-AF44-4831-B299-7C6E9302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09 / 15</a:t>
            </a:r>
          </a:p>
        </p:txBody>
      </p:sp>
    </p:spTree>
    <p:extLst>
      <p:ext uri="{BB962C8B-B14F-4D97-AF65-F5344CB8AC3E}">
        <p14:creationId xmlns:p14="http://schemas.microsoft.com/office/powerpoint/2010/main" val="17207791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D7FD9A-770F-40E0-983E-80C168C0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本機 AI 的三個優勢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B5F56A-E9B3-4B9F-A319-0C0C8EA41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7A7562-EACB-40A0-AB79-D5EE61EC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383D05-0101-447F-B282-E1EE4F84A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資料可留在自己的電腦，適合敏感或不便上傳的內容。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49E5FE-FD3E-4271-9812-A27DE11B6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5B261-8953-4C06-9561-2641ACFCF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沒有每次呼叫雲端 API 的費用，適合大量試驗。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893E2C-B6D9-47D0-A812-E92F099A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399952-182E-4AFC-8AA5-DCE67DBEC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網路不穩時仍能完成部分工作。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CCF826-45BA-4EC9-A4F5-78D1BEB05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228FBC-E354-4886-B01B-0F53DE78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可以把模型當成自己的開發環境，而不是只使用網站。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AC1677-6480-49F3-9C90-82304437E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F51BDE-10E8-4C21-BC90-64D0C2852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FA07A7-026D-42C0-98A0-C6721C31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10 / 15</a:t>
            </a:r>
          </a:p>
        </p:txBody>
      </p:sp>
    </p:spTree>
    <p:extLst>
      <p:ext uri="{BB962C8B-B14F-4D97-AF65-F5344CB8AC3E}">
        <p14:creationId xmlns:p14="http://schemas.microsoft.com/office/powerpoint/2010/main" val="167928253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772802-E2F9-428F-9A53-D50A51BD6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本機 AI 也有明確限制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91DD2-9F84-4EAA-90B5-B0B98C49B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4CC220-2934-44E5-A115-4488D70D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3F0B4F-E9B2-4868-A6E6-831D9596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硬體不足時，模型速度與上下文長度會受影響。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8A96FF-8CE9-4634-9E2D-1186EE95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4618D4-6FD7-4F89-A1C1-3F02F910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模型檔案可能很大，下載與儲存需要規劃。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043AE1-ABF3-4698-95F5-52100AE5B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66A66B-BEE0-4DDD-AC74-5033B711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本機模型的答案仍可能錯誤，不能把離線當成正確。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A6678F-FAC9-4BC1-86CB-C60B370C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5EA2A-A8BA-4E22-B7AF-6B7D484ED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更新、相容性與工具整合需要自己維護。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CC2266-5C05-423F-B095-1161604A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B8CDC8-7DF7-456D-AD24-7420A18CE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FD0398-1205-40C6-A228-8F9B9ED8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11 / 15</a:t>
            </a:r>
          </a:p>
        </p:txBody>
      </p:sp>
    </p:spTree>
    <p:extLst>
      <p:ext uri="{BB962C8B-B14F-4D97-AF65-F5344CB8AC3E}">
        <p14:creationId xmlns:p14="http://schemas.microsoft.com/office/powerpoint/2010/main" val="773892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F97477-AF34-4492-A971-4010E3088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建立自己的本機 AI 測試台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509E84-A260-4A1C-9945-850489EC3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11AF17-CBD8-48C8-9B06-127D4B57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190875"/>
            <a:ext cx="828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BCF60E-9003-47AE-8E1E-5EF56CB49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59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968802-79DE-444D-A0BB-A78087CC0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02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DEB07-3FAD-4A14-8539-4C1A65D9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盤點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3DB06F-F235-4553-BE92-75539FB4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確認記憶體與儲存空間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812329-ED10-4F4A-B954-BE21A958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5243F2-C219-4524-9335-BAC47F3FC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5801F68-75DD-492A-B7C7-A45BEDACA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下載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CA7F40-E00A-4F8C-A991-6E3BD80E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先選小模型測試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CE1F79-B08F-4136-87CA-1D1D714C5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2456FB-0B46-4644-91F0-5BCDAA7F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E76357-8BC4-4625-9BF0-0301FBC1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比較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EFE48C-D0A7-41D1-84F1-61AC77502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用同一組任務評估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B770B1D-63B9-4AF3-B2B0-740C38DF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285750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6AE102-15E7-465B-9365-FFBE6317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2981325"/>
            <a:ext cx="304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91897C-FD92-4C47-AAE3-022F7B5B9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714750"/>
            <a:ext cx="2533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整合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E1B0BA-4F24-435F-8C07-2D7B0A36F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86250"/>
            <a:ext cx="2381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B6472"/>
                </a:solidFill>
              </a:defRPr>
            </a:pPr>
            <a:r>
              <a:rPr sz="1275">
                <a:solidFill>
                  <a:srgbClr val="5B6472"/>
                </a:solidFill>
              </a:rPr>
              <a:t>再接筆記或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F22CA5-9062-4F5D-A403-283A02C6B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33526C-FF5E-4DB4-A8F0-6BFECF7FE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E7D5DE-C4EB-42BB-92B3-AC4C75AB0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12 / 15</a:t>
            </a:r>
          </a:p>
        </p:txBody>
      </p:sp>
    </p:spTree>
    <p:extLst>
      <p:ext uri="{BB962C8B-B14F-4D97-AF65-F5344CB8AC3E}">
        <p14:creationId xmlns:p14="http://schemas.microsoft.com/office/powerpoint/2010/main" val="17967705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6E4312-7A17-4913-89C0-F55960892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知識庫與本機 AI 可以互補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205542-78C8-47CD-9706-61C00D99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28935C-25A2-4D0E-8793-86CD2A69F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知識庫提供脈絡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3B180D-3C8C-4D37-89A4-FA1E1E02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762500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把課程、研究、專案與個人偏好整理成可追溯的資料。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F9344A-2002-4B40-AB72-8DEEAF1D2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09750"/>
            <a:ext cx="54102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69FB1-19D4-4168-B2B6-8827A5586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891B2"/>
                </a:solidFill>
              </a:defRPr>
            </a:pPr>
            <a:r>
              <a:rPr sz="1800" b="1">
                <a:solidFill>
                  <a:srgbClr val="0891B2"/>
                </a:solidFill>
              </a:rPr>
              <a:t>模型提供操作力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7681AD-847B-4BCC-BF58-C30C505A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447675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11827"/>
                </a:solidFill>
              </a:defRPr>
            </a:pPr>
            <a:r>
              <a:rPr sz="1575">
                <a:solidFill>
                  <a:srgbClr val="111827"/>
                </a:solidFill>
              </a:rPr>
              <a:t>協助搜尋、歸納、改寫與提出下一步，但要保留來源與人工判斷。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5B4619-C6EA-43B1-9764-1558B8742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A916D-9BE1-4E2E-909C-0C03C259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43A64E-2B13-4CFF-8FEE-E08B755A3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13 / 15</a:t>
            </a:r>
          </a:p>
        </p:txBody>
      </p:sp>
    </p:spTree>
    <p:extLst>
      <p:ext uri="{BB962C8B-B14F-4D97-AF65-F5344CB8AC3E}">
        <p14:creationId xmlns:p14="http://schemas.microsoft.com/office/powerpoint/2010/main" val="8268462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DC410C-CD3B-49E4-AFDF-CE4B9FDE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一個可持續的知識工作習慣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0233A5-A278-47F2-A89B-0749BC78C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04925"/>
            <a:ext cx="8763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7A69E6-2E66-481B-8903-9E43284A0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9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A8133A-BE01-41DC-B5CD-CB634EF0F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每次輸入資料時順手記錄來源與日期。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526262-C2AA-4B85-A484-52496DA3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480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178DC-34BE-46C3-89CB-612F9E0D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718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每週把零散筆記連到一個主題頁。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F835A5-72FE-486D-A4A1-E1FB67B12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862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61BD37-CD2B-485D-974E-EEE3503C1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100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對 AI 摘要保留原文連結與不確定處。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F4F588-1473-4699-9D6F-822BD325D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146DF8-A9B7-4215-AC6A-946F1ADA2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848225"/>
            <a:ext cx="9829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111827"/>
                </a:solidFill>
              </a:defRPr>
            </a:pPr>
            <a:r>
              <a:rPr sz="1725">
                <a:solidFill>
                  <a:srgbClr val="111827"/>
                </a:solidFill>
              </a:rPr>
              <a:t>每月刪除或標記過時資訊。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2AED6D-3810-42A0-A9DA-FD6CEFDFB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69F15-9ABF-4356-ADA0-B70CEECE5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A535D-388F-4017-BCF8-55078B200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14 / 15</a:t>
            </a:r>
          </a:p>
        </p:txBody>
      </p:sp>
    </p:spTree>
    <p:extLst>
      <p:ext uri="{BB962C8B-B14F-4D97-AF65-F5344CB8AC3E}">
        <p14:creationId xmlns:p14="http://schemas.microsoft.com/office/powerpoint/2010/main" val="142894690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ABBE12-C55F-4F8E-8D92-FFC8E108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14300" cy="548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38360-4CD0-4F00-AC3E-EA0B791F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428750"/>
            <a:ext cx="9048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11827"/>
                </a:solidFill>
              </a:defRPr>
            </a:pPr>
            <a:r>
              <a:rPr sz="3600" b="1">
                <a:solidFill>
                  <a:srgbClr val="111827"/>
                </a:solidFill>
              </a:rPr>
              <a:t>下一步：先建立一個小而真的知識庫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CCC6D0-79FA-4396-970A-D9A74C65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5B6472"/>
                </a:solidFill>
              </a:defRPr>
            </a:pPr>
            <a:r>
              <a:rPr sz="1800">
                <a:solidFill>
                  <a:srgbClr val="5B6472"/>
                </a:solidFill>
              </a:rPr>
              <a:t>選一個正在進行的課程或專案，讓筆記與模型一起服務實際問題。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F2DCD9-2B45-4CC2-B27F-62253E90E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148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C6BE32-9BB7-45D1-9965-445C8A082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481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111827"/>
                </a:solidFill>
              </a:defRPr>
            </a:pPr>
            <a:r>
              <a:rPr sz="1800" b="1">
                <a:solidFill>
                  <a:srgbClr val="111827"/>
                </a:solidFill>
              </a:rPr>
              <a:t>先建 3 個分類與 10 則來源筆記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BF60C-8709-4A94-8F12-0CDA89C3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6EBF5B-39BF-4487-82FD-156B7D4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7677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用同一組問題比較雲端與本機模型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C8AE45-E6C7-46F4-9FA7-271103FDA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7210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91B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E933F8-011F-4680-8D64-4BBF8D69B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305425"/>
            <a:ext cx="8382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留下可回查的來源與評估結果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0ACD4F-1316-4B61-A0F1-88750B0A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442C17-D713-4C92-89B0-6EF7C1D07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62725"/>
            <a:ext cx="5715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472"/>
                </a:solidFill>
              </a:defRPr>
            </a:pPr>
            <a:r>
              <a:rPr sz="900">
                <a:solidFill>
                  <a:srgbClr val="5B6472"/>
                </a:solidFill>
              </a:rPr>
              <a:t>PAPAYA 電腦教室｜近三個月主題整理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C0AC9F-86B9-430A-BA1A-D5E4AD38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562725"/>
            <a:ext cx="933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0891B2"/>
                </a:solidFill>
              </a:defRPr>
            </a:pPr>
            <a:r>
              <a:rPr sz="900" b="1">
                <a:solidFill>
                  <a:srgbClr val="0891B2"/>
                </a:solidFill>
              </a:rPr>
              <a:t>15 / 15</a:t>
            </a:r>
          </a:p>
        </p:txBody>
      </p:sp>
    </p:spTree>
    <p:extLst>
      <p:ext uri="{BB962C8B-B14F-4D97-AF65-F5344CB8AC3E}">
        <p14:creationId xmlns:p14="http://schemas.microsoft.com/office/powerpoint/2010/main" val="8445587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2026-08-09T07:57:50.6230000Z</dcterms:created>
  <dcterms:modified xsi:type="dcterms:W3CDTF">2026-08-09T07:57:50.6230000Z</dcterms:modified>
</coreProperties>
</file>